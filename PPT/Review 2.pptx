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8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title and frame this as Review 2, not an implementation demonstration.</a:t>
            </a:r>
          </a:p>
          <a:p>
            <a:r>
              <a:t>State that the presentation evaluates the literature, synthesizes evidence, and identifies a justified project direction.</a:t>
            </a:r>
          </a:p>
          <a:p>
            <a:r>
              <a:t>Point out the industry context: food delivery platforms must coordinate orders, riders, and routes in real time.</a:t>
            </a:r>
          </a:p>
          <a:p>
            <a:r>
              <a:t>Introduce the team and supervisor placeholder without inventing a name.</a:t>
            </a:r>
          </a:p>
          <a:p>
            <a:r>
              <a:t>Transition: begin with why this operational problem maps naturally to DSA.</a:t>
            </a:r>
          </a:p>
          <a:p>
            <a:endParaRPr/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an order does not only need a route; it needs a feasible rider, a capacity-aware allocation, and an ETA.</a:t>
            </a:r>
          </a:p>
          <a:p>
            <a:r>
              <a:t>Walk through the workflow left to right, linking each operational decision to a DSA representation.</a:t>
            </a:r>
          </a:p>
          <a:p>
            <a:r>
              <a:t>Emphasize that graphs model roads, while matching and assignment select who serves an order.</a:t>
            </a:r>
          </a:p>
          <a:p>
            <a:r>
              <a:t>Explain that TSP and approximations matter once riders serve multiple stops, where exact search is costly.</a:t>
            </a:r>
          </a:p>
          <a:p>
            <a:r>
              <a:t>Transition: the next slide tests how route-optimization literature addresses these decisions.</a:t>
            </a:r>
          </a:p>
          <a:p>
            <a:endParaRPr/>
          </a:p>
          <a:p>
            <a:r>
              <a:t>[Sources]</a:t>
            </a:r>
          </a:p>
          <a:p>
            <a:r>
              <a:t>[1] Dijkstra (1959); [2] Dantzig &amp; Ramser (1959); [3] Steever et al. (2019).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literature as a progression: graph shortest paths, fleet routing, then dynamic food-delivery applications.</a:t>
            </a:r>
          </a:p>
          <a:p>
            <a:r>
              <a:t>For [1], explain that Dijkstra supplies the point-to-point route primitive for a weighted road graph.</a:t>
            </a:r>
          </a:p>
          <a:p>
            <a:r>
              <a:t>For [2], explain that minimizing fleet mileage formalizes the broader vehicle-routing objective.</a:t>
            </a:r>
          </a:p>
          <a:p>
            <a:r>
              <a:t>For [3] and [4], stress that realistic last-mile contexts add dynamic decisions and require heuristic methods.</a:t>
            </a:r>
          </a:p>
          <a:p>
            <a:r>
              <a:t>Interpret the last column carefully: a paper limitation is not yet a project gap; we synthesize that later.</a:t>
            </a:r>
          </a:p>
          <a:p>
            <a:r>
              <a:t>Transition: route quality alone does not decide which rider should receive each order.</a:t>
            </a:r>
          </a:p>
          <a:p>
            <a:endParaRPr/>
          </a:p>
          <a:p>
            <a:r>
              <a:t>[Sources]</a:t>
            </a:r>
          </a:p>
          <a:p>
            <a:r>
              <a:t>[1] Dijkstra (1959). [2] Dantzig &amp; Ramser (1959). [3] Steever et al. (2019). [4] Reyes, Savelsbergh &amp; Toriello (2018).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this slide as the allocation counterpart to route optimization.</a:t>
            </a:r>
          </a:p>
          <a:p>
            <a:r>
              <a:t>Explain [5] as the clean minimum-cost rider–order assignment model, once each pair has a cost.</a:t>
            </a:r>
          </a:p>
          <a:p>
            <a:r>
              <a:t>Explain [6] as the capacity layer: a network can represent riders, order demand, and feasible allocation.</a:t>
            </a:r>
          </a:p>
          <a:p>
            <a:r>
              <a:t>Use [7] to justify approximations when capacities and many tasks make exact allocation harder.</a:t>
            </a:r>
          </a:p>
          <a:p>
            <a:r>
              <a:t>Use [8] cautiously: it is evidence from a closely related real-time trip–vehicle setting, not a claim about food delivery.</a:t>
            </a:r>
          </a:p>
          <a:p>
            <a:r>
              <a:t>Transition: now compare what these streams collectively solve and what they leave apart.</a:t>
            </a:r>
          </a:p>
          <a:p>
            <a:endParaRPr/>
          </a:p>
          <a:p>
            <a:r>
              <a:t>[Sources]</a:t>
            </a:r>
          </a:p>
          <a:p>
            <a:r>
              <a:t>[5] Kuhn (1955). [6] Ford &amp; Fulkerson (1956). [7] Shmoys &amp; Tardos (1993). [8] Alonso-Mora et al. (2017).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Distinguish summary from analysis: this table compares what each literature stream is good at and what it leaves outside scope.</a:t>
            </a:r>
          </a:p>
          <a:p>
            <a:r>
              <a:t>State that route studies give spatial efficiency, while assignment studies give cost and capacity control.</a:t>
            </a:r>
          </a:p>
          <a:p>
            <a:r>
              <a:t>Compared with isolated routing, dynamic vehicle assignment comes closer to integration, but it remains complex and domain-specific.</a:t>
            </a:r>
          </a:p>
          <a:p>
            <a:r>
              <a:t>The synthesis is an inference across the reviewed works: integration is desirable, but must be computationally manageable.</a:t>
            </a:r>
          </a:p>
          <a:p>
            <a:r>
              <a:t>Clarify that the ETA point is a design implication—route information is necessary but not sufficient.</a:t>
            </a:r>
          </a:p>
          <a:p>
            <a:r>
              <a:t>Transition: convert these observed limitations into explicit, evidence-linked research gaps.</a:t>
            </a:r>
          </a:p>
          <a:p>
            <a:endParaRPr/>
          </a:p>
          <a:p>
            <a:r>
              <a:t>[Sources]</a:t>
            </a:r>
          </a:p>
          <a:p>
            <a:r>
              <a:t>[1]–[8] as listed on Slide 8. Synthesis is an inference from the comparison of reviewed works, especially [3], [4], [7], and [8].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evidence chain: existing research, observed limitation, research gap, and proposed direction.</a:t>
            </a:r>
          </a:p>
          <a:p>
            <a:r>
              <a:t>For Gap 1, [3] and [4] show strong dynamic routing but do not make rider-order allocation the integrated core.</a:t>
            </a:r>
          </a:p>
          <a:p>
            <a:r>
              <a:t>For Gap 2, classical assignment and flow models are useful but abstract from live road-graph travel time and ETA.</a:t>
            </a:r>
          </a:p>
          <a:p>
            <a:r>
              <a:t>For Gap 3, the use of heuristics and approximation in [3], [7], and [8] indicates practical pressure toward scalable decision methods.</a:t>
            </a:r>
          </a:p>
          <a:p>
            <a:r>
              <a:t>Be precise: these are bounded project gaps for an educational DSA framework, not a claim that no integrated commercial system exists.</a:t>
            </a:r>
          </a:p>
          <a:p>
            <a:r>
              <a:t>Transition: present the intended algorithmic framework that responds to these gaps.</a:t>
            </a:r>
          </a:p>
          <a:p>
            <a:endParaRPr/>
          </a:p>
          <a:p>
            <a:r>
              <a:t>[Sources]</a:t>
            </a:r>
          </a:p>
          <a:p>
            <a:r>
              <a:t>[3] Steever et al. (2019). [4] Reyes et al. (2018). [5] Kuhn (1955). [6] Ford &amp; Fulkerson (1956). [7] Shmoys &amp; Tardos (1993). [8] Alonso-Mora et al. (2017).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“proposed” and “planned” throughout this slide; do not imply that the system is already implemented.</a:t>
            </a:r>
          </a:p>
          <a:p>
            <a:r>
              <a:t>Read the flow as a sequence of decisions: feasibility, cost minimization, capacity, routing, then ETA.</a:t>
            </a:r>
          </a:p>
          <a:p>
            <a:r>
              <a:t>Explain that bipartite matching filters eligible rider–order pairs, while assignment chooses a low-cost combination.</a:t>
            </a:r>
          </a:p>
          <a:p>
            <a:r>
              <a:t>Network flow is intended to enforce allocation capacity before generating routes.</a:t>
            </a:r>
          </a:p>
          <a:p>
            <a:r>
              <a:t>For larger multi-stop cases, approximation methods aim to preserve practical responsiveness; randomized choice is only a fairness tie-breaker.</a:t>
            </a:r>
          </a:p>
          <a:p>
            <a:r>
              <a:t>Close with the stated contribution: a single educational DSA framework tied directly to the literature gaps.</a:t>
            </a:r>
          </a:p>
          <a:p>
            <a:endParaRPr/>
          </a:p>
          <a:p>
            <a:r>
              <a:t>[Sources]</a:t>
            </a:r>
          </a:p>
          <a:p>
            <a:r>
              <a:t>Algorithmic grounding: [1] Dijkstra (1959); [5] Kuhn (1955); [6] Ford &amp; Fulkerson (1956); [7] Shmoys &amp; Tardos (1993). Proposed methodology is the project team’s intended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demonstrate that every numbered citation in the literature, analysis, and gap slides is traceable.</a:t>
            </a:r>
          </a:p>
          <a:p>
            <a:r>
              <a:t>Point out the balance: foundational algorithms support the DSA mapping, while recent delivery and dynamic-assignment works motivate the application context.</a:t>
            </a:r>
          </a:p>
          <a:p>
            <a:r>
              <a:t>If asked about scope, clarify that [8] is a related dynamic trip–vehicle assignment study and is presented as transferable evidence, not as food-delivery-specific evidence.</a:t>
            </a:r>
          </a:p>
          <a:p>
            <a:r>
              <a:t>Reinforce that the project proposal is derived from the cross-paper synthesis, not from a fabricated performance claim.</a:t>
            </a:r>
          </a:p>
          <a:p>
            <a:r>
              <a:t>Conclude the Review 2 story: evidence → synthesis → gaps → proposed DSA framework.</a:t>
            </a:r>
          </a:p>
          <a:p>
            <a:endParaRPr/>
          </a:p>
          <a:p>
            <a:r>
              <a:t>[Sources]</a:t>
            </a:r>
          </a:p>
          <a:p>
            <a:r>
              <a:t>[1] E. W. Dijkstra, “A note on two problems in connexion with graphs,” Numerische Mathematik, vol. 1, pp. 269–271, 1959. doi: 10.1007/BF01386390.</a:t>
            </a:r>
          </a:p>
          <a:p>
            <a:r>
              <a:t>[2] G. B. Dantzig and J. H. Ramser, “The truck dispatching problem,” Management Science, vol. 6, no. 1, pp. 80–91, 1959. doi: 10.1287/mnsc.6.1.80.</a:t>
            </a:r>
          </a:p>
          <a:p>
            <a:r>
              <a:t>[3] Z. Steever, M. Karwan, and C. Murray, “Dynamic courier routing for a food delivery service,” Computers &amp; Operations Research, vol. 107, pp. 173–188, 2019. doi: 10.1016/j.cor.2019.03.008.</a:t>
            </a:r>
          </a:p>
          <a:p>
            <a:r>
              <a:t>[4] D. Reyes, M. Savelsbergh, and A. Toriello, “Vehicle routing with roaming delivery locations,” Transportation Research Part C: Emerging Technologies, vol. 91, pp. 148–162, 2018. doi: 10.1016/j.trc.2018.03.015.</a:t>
            </a:r>
          </a:p>
          <a:p>
            <a:r>
              <a:t>[5] H. W. Kuhn, “The Hungarian method for the assignment problem,” Naval Research Logistics Quarterly, vol. 2, no. 1–2, pp. 83–97, 1955. doi: 10.1002/nav.3800020109.</a:t>
            </a:r>
          </a:p>
          <a:p>
            <a:r>
              <a:t>[6] L. R. Ford Jr. and D. R. Fulkerson, “Maximal flow through a network,” Canadian Journal of Mathematics, vol. 8, pp. 399–404, 1956. doi: 10.4153/CJM-1956-030-1.</a:t>
            </a:r>
          </a:p>
          <a:p>
            <a:r>
              <a:t>[7] D. B. Shmoys and É. Tardos, “An approximation algorithm for the generalized assignment problem,” Mathematical Programming, vol. 62, pp. 461–474, 1993. doi: 10.1007/BF01585178.</a:t>
            </a:r>
          </a:p>
          <a:p>
            <a:r>
              <a:t>[8] J. Alonso-Mora, S. Samaranayake, A. Wallar, E. Frazzoli, and D. Rus, “On-demand high-capacity ride-sharing via dynamic trip-vehicle assignment,” Proceedings of the National Academy of Sciences, vol. 114, no. 3, pp. 462–467, 2017. doi: 10.1073/pnas.1611675114.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120B778-89CE-4BE5-8F93-BCA95B97A5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19600" cy="68580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3E3CF-57BE-4553-8FF5-752632C7F53E}"/>
              </a:ext>
            </a:extLst>
          </p:cNvPr>
          <p:cNvSpPr>
            <a:spLocks noGrp="1"/>
          </p:cNvSpPr>
          <p:nvPr/>
        </p:nvSpPr>
        <p:spPr>
          <a:xfrm>
            <a:off x="4419600" y="0"/>
            <a:ext cx="152400" cy="6858000"/>
          </a:xfrm>
          <a:prstGeom prst="rect">
            <a:avLst/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957CB0-FBE9-40F0-9394-A65A85A259F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DATA STRUCTURES AND ALGORITHMS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E9C006-8EC8-4B66-A6CB-9ACF8A7F4DAB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3381375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Food Delivery</a:t>
            </a:r>
          </a:p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Route Optimization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E7C28B-30FE-4B23-9B15-011776EF8BF8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CE9FF"/>
                </a:solidFill>
              </a:defRPr>
            </a:pPr>
            <a:r>
              <a:rPr sz="1650" b="0">
                <a:solidFill>
                  <a:srgbClr val="DCE9FF"/>
                </a:solidFill>
              </a:rPr>
              <a:t>Review 2 – Literature Review and Gap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306455-4853-4ECC-9742-D290EE31A338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Industry: Food Delivery – Swiggy / Zomato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083043-BC7E-4DC5-807C-66E250D4DB59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DCE9FF"/>
                </a:solidFill>
              </a:defRPr>
            </a:pPr>
            <a:r>
              <a:rPr sz="1200" b="0">
                <a:solidFill>
                  <a:srgbClr val="DCE9FF"/>
                </a:solidFill>
              </a:rPr>
              <a:t>Supervisor: __________________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C1D8E0-E816-4CF2-B5AB-7921F8FA231D}"/>
              </a:ext>
            </a:extLst>
          </p:cNvPr>
          <p:cNvSpPr>
            <a:spLocks noGrp="1"/>
          </p:cNvSpPr>
          <p:nvPr/>
        </p:nvSpPr>
        <p:spPr>
          <a:xfrm>
            <a:off x="5105400" y="7239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REVIEW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20B075-EF33-4F50-A4BC-E9042095A631}"/>
              </a:ext>
            </a:extLst>
          </p:cNvPr>
          <p:cNvSpPr>
            <a:spLocks noGrp="1"/>
          </p:cNvSpPr>
          <p:nvPr/>
        </p:nvSpPr>
        <p:spPr>
          <a:xfrm>
            <a:off x="5105400" y="1104900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Team Members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5457FA-F406-46E3-8AFC-089CD92775DA}"/>
              </a:ext>
            </a:extLst>
          </p:cNvPr>
          <p:cNvSpPr>
            <a:spLocks noGrp="1"/>
          </p:cNvSpPr>
          <p:nvPr/>
        </p:nvSpPr>
        <p:spPr>
          <a:xfrm>
            <a:off x="5105400" y="1790700"/>
            <a:ext cx="58293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1D614F-E31F-45B1-BFFF-3E77ECFBA1E3}"/>
              </a:ext>
            </a:extLst>
          </p:cNvPr>
          <p:cNvSpPr>
            <a:spLocks noGrp="1"/>
          </p:cNvSpPr>
          <p:nvPr/>
        </p:nvSpPr>
        <p:spPr>
          <a:xfrm>
            <a:off x="5105400" y="17907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7F8F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7C4456-FBFE-4FF1-B6FF-9991AA479064}"/>
              </a:ext>
            </a:extLst>
          </p:cNvPr>
          <p:cNvSpPr>
            <a:spLocks noGrp="1"/>
          </p:cNvSpPr>
          <p:nvPr/>
        </p:nvSpPr>
        <p:spPr>
          <a:xfrm>
            <a:off x="5257800" y="1933575"/>
            <a:ext cx="209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FA320E-4CC1-4FB6-8D81-5C65DD0ED64A}"/>
              </a:ext>
            </a:extLst>
          </p:cNvPr>
          <p:cNvSpPr>
            <a:spLocks noGrp="1"/>
          </p:cNvSpPr>
          <p:nvPr/>
        </p:nvSpPr>
        <p:spPr>
          <a:xfrm>
            <a:off x="5829300" y="19050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Harshith Reddy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1839D3-B609-48AA-B5D5-496AF3B005A5}"/>
              </a:ext>
            </a:extLst>
          </p:cNvPr>
          <p:cNvSpPr>
            <a:spLocks noGrp="1"/>
          </p:cNvSpPr>
          <p:nvPr/>
        </p:nvSpPr>
        <p:spPr>
          <a:xfrm>
            <a:off x="8763000" y="19145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2510030029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469C6AF-CE61-4C97-9B31-EFECA0E06EAE}"/>
              </a:ext>
            </a:extLst>
          </p:cNvPr>
          <p:cNvSpPr>
            <a:spLocks noGrp="1"/>
          </p:cNvSpPr>
          <p:nvPr/>
        </p:nvSpPr>
        <p:spPr>
          <a:xfrm>
            <a:off x="5105400" y="2495550"/>
            <a:ext cx="58293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F0CF9E-E4B0-412A-8B87-23A52913331E}"/>
              </a:ext>
            </a:extLst>
          </p:cNvPr>
          <p:cNvSpPr>
            <a:spLocks noGrp="1"/>
          </p:cNvSpPr>
          <p:nvPr/>
        </p:nvSpPr>
        <p:spPr>
          <a:xfrm>
            <a:off x="5105400" y="24955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7F8FC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285E0D-3DFD-4317-A893-5D9236E8B585}"/>
              </a:ext>
            </a:extLst>
          </p:cNvPr>
          <p:cNvSpPr>
            <a:spLocks noGrp="1"/>
          </p:cNvSpPr>
          <p:nvPr/>
        </p:nvSpPr>
        <p:spPr>
          <a:xfrm>
            <a:off x="5257800" y="2638425"/>
            <a:ext cx="209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A03BF1-4949-4003-A7E5-C2D5F2788547}"/>
              </a:ext>
            </a:extLst>
          </p:cNvPr>
          <p:cNvSpPr>
            <a:spLocks noGrp="1"/>
          </p:cNvSpPr>
          <p:nvPr/>
        </p:nvSpPr>
        <p:spPr>
          <a:xfrm>
            <a:off x="5829300" y="2609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D Siddhartha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94AE14-EF47-47AC-9ED3-C559D47F1D5D}"/>
              </a:ext>
            </a:extLst>
          </p:cNvPr>
          <p:cNvSpPr>
            <a:spLocks noGrp="1"/>
          </p:cNvSpPr>
          <p:nvPr/>
        </p:nvSpPr>
        <p:spPr>
          <a:xfrm>
            <a:off x="8763000" y="26193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2510030423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44F2E4-790B-42CB-B850-5630BDDEBFD2}"/>
              </a:ext>
            </a:extLst>
          </p:cNvPr>
          <p:cNvSpPr>
            <a:spLocks noGrp="1"/>
          </p:cNvSpPr>
          <p:nvPr/>
        </p:nvSpPr>
        <p:spPr>
          <a:xfrm>
            <a:off x="5105400" y="3200400"/>
            <a:ext cx="58293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4058B51-D550-4CB7-A90C-E70AE12055E9}"/>
              </a:ext>
            </a:extLst>
          </p:cNvPr>
          <p:cNvSpPr>
            <a:spLocks noGrp="1"/>
          </p:cNvSpPr>
          <p:nvPr/>
        </p:nvSpPr>
        <p:spPr>
          <a:xfrm>
            <a:off x="5105400" y="32004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7F8FC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826C4A-029D-4BA7-B1C1-F3ED1CC67052}"/>
              </a:ext>
            </a:extLst>
          </p:cNvPr>
          <p:cNvSpPr>
            <a:spLocks noGrp="1"/>
          </p:cNvSpPr>
          <p:nvPr/>
        </p:nvSpPr>
        <p:spPr>
          <a:xfrm>
            <a:off x="5257800" y="3343275"/>
            <a:ext cx="209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66F13E-DB75-406E-A821-0EFAF4455EF6}"/>
              </a:ext>
            </a:extLst>
          </p:cNvPr>
          <p:cNvSpPr>
            <a:spLocks noGrp="1"/>
          </p:cNvSpPr>
          <p:nvPr/>
        </p:nvSpPr>
        <p:spPr>
          <a:xfrm>
            <a:off x="5829300" y="3314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Anirudh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FCE6D1-D045-4E5E-B55B-E80E82869E5F}"/>
              </a:ext>
            </a:extLst>
          </p:cNvPr>
          <p:cNvSpPr>
            <a:spLocks noGrp="1"/>
          </p:cNvSpPr>
          <p:nvPr/>
        </p:nvSpPr>
        <p:spPr>
          <a:xfrm>
            <a:off x="8763000" y="33242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2510030418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C770499-B719-4688-9E32-DDE28561510C}"/>
              </a:ext>
            </a:extLst>
          </p:cNvPr>
          <p:cNvSpPr>
            <a:spLocks noGrp="1"/>
          </p:cNvSpPr>
          <p:nvPr/>
        </p:nvSpPr>
        <p:spPr>
          <a:xfrm>
            <a:off x="5105400" y="3905250"/>
            <a:ext cx="58293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65D8BC2-18A3-4523-A04F-0ABCCE6386BC}"/>
              </a:ext>
            </a:extLst>
          </p:cNvPr>
          <p:cNvSpPr>
            <a:spLocks noGrp="1"/>
          </p:cNvSpPr>
          <p:nvPr/>
        </p:nvSpPr>
        <p:spPr>
          <a:xfrm>
            <a:off x="5105400" y="39052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7F8FC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5B2506-B1DC-4CB9-9666-D16E4DA200E9}"/>
              </a:ext>
            </a:extLst>
          </p:cNvPr>
          <p:cNvSpPr>
            <a:spLocks noGrp="1"/>
          </p:cNvSpPr>
          <p:nvPr/>
        </p:nvSpPr>
        <p:spPr>
          <a:xfrm>
            <a:off x="5257800" y="4048125"/>
            <a:ext cx="209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FEB92C-BF79-4030-AE3A-38971856AEC5}"/>
              </a:ext>
            </a:extLst>
          </p:cNvPr>
          <p:cNvSpPr>
            <a:spLocks noGrp="1"/>
          </p:cNvSpPr>
          <p:nvPr/>
        </p:nvSpPr>
        <p:spPr>
          <a:xfrm>
            <a:off x="5829300" y="40195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Ganesh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4EFCC9-00D9-4F2E-92F1-D747789B9257}"/>
              </a:ext>
            </a:extLst>
          </p:cNvPr>
          <p:cNvSpPr>
            <a:spLocks noGrp="1"/>
          </p:cNvSpPr>
          <p:nvPr/>
        </p:nvSpPr>
        <p:spPr>
          <a:xfrm>
            <a:off x="8763000" y="40290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2510030111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2754919-C8C5-48CE-BEA7-278CD5299018}"/>
              </a:ext>
            </a:extLst>
          </p:cNvPr>
          <p:cNvSpPr>
            <a:spLocks noGrp="1"/>
          </p:cNvSpPr>
          <p:nvPr/>
        </p:nvSpPr>
        <p:spPr>
          <a:xfrm>
            <a:off x="5105400" y="4610100"/>
            <a:ext cx="58293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B004C09-5381-486F-9CBF-C8C7C319DCF1}"/>
              </a:ext>
            </a:extLst>
          </p:cNvPr>
          <p:cNvSpPr>
            <a:spLocks noGrp="1"/>
          </p:cNvSpPr>
          <p:nvPr/>
        </p:nvSpPr>
        <p:spPr>
          <a:xfrm>
            <a:off x="5105400" y="46101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7F8FC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5C75DB-FB95-4613-9045-41DE55620396}"/>
              </a:ext>
            </a:extLst>
          </p:cNvPr>
          <p:cNvSpPr>
            <a:spLocks noGrp="1"/>
          </p:cNvSpPr>
          <p:nvPr/>
        </p:nvSpPr>
        <p:spPr>
          <a:xfrm>
            <a:off x="5257800" y="4752975"/>
            <a:ext cx="209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A4D8DA-E709-4E5D-9D83-B1CDFA1F101E}"/>
              </a:ext>
            </a:extLst>
          </p:cNvPr>
          <p:cNvSpPr>
            <a:spLocks noGrp="1"/>
          </p:cNvSpPr>
          <p:nvPr/>
        </p:nvSpPr>
        <p:spPr>
          <a:xfrm>
            <a:off x="5829300" y="47244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Bharath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258387-0E9B-4C3A-8F1F-A3700E1CF824}"/>
              </a:ext>
            </a:extLst>
          </p:cNvPr>
          <p:cNvSpPr>
            <a:spLocks noGrp="1"/>
          </p:cNvSpPr>
          <p:nvPr/>
        </p:nvSpPr>
        <p:spPr>
          <a:xfrm>
            <a:off x="8763000" y="47339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2510030114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3784AA-137F-4DD8-8C3E-F6C7B3C53BE5}"/>
              </a:ext>
            </a:extLst>
          </p:cNvPr>
          <p:cNvSpPr>
            <a:spLocks noGrp="1"/>
          </p:cNvSpPr>
          <p:nvPr/>
        </p:nvSpPr>
        <p:spPr>
          <a:xfrm>
            <a:off x="5105400" y="5676900"/>
            <a:ext cx="5476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26277"/>
                </a:solidFill>
              </a:defRPr>
            </a:pPr>
            <a:r>
              <a:rPr sz="1125" b="0">
                <a:solidFill>
                  <a:srgbClr val="526277"/>
                </a:solidFill>
              </a:rPr>
              <a:t>Academic presentation • Literature-driven gap analysis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BFE68C-ADED-4B1A-88A5-C495C996C0D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277"/>
                </a:solidFill>
              </a:defRPr>
            </a:pPr>
            <a:r>
              <a:rPr sz="900" b="0">
                <a:solidFill>
                  <a:srgbClr val="526277"/>
                </a:solidFill>
              </a:rPr>
              <a:t>Food Delivery Route Optimization  •  Review 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EC6553-DABC-4609-ABEE-4518C9F753F5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277"/>
                </a:solidFill>
              </a:defRPr>
            </a:pPr>
            <a:r>
              <a:rPr sz="900" b="1">
                <a:solidFill>
                  <a:srgbClr val="52627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894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7942163-0158-4045-85EB-6B1C2AC1A5C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PROJECT FRAMING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BC016-DDAD-4931-ACA9-C4834D2D302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2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Food delivery is a dynamic optimization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C26E56-20CE-45BF-8D83-DE6116B3E86F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The project title is grounded in routing, assignment, capacity, and time-aware decisions.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D58C2E-96FA-46BE-A0F2-FB733C635DCA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1A2554-FD72-4C54-9308-FD15AA2D0D27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Operational challenge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46CFA3-DDF7-46FF-9C00-124FA94F272A}"/>
              </a:ext>
            </a:extLst>
          </p:cNvPr>
          <p:cNvSpPr>
            <a:spLocks noGrp="1"/>
          </p:cNvSpPr>
          <p:nvPr/>
        </p:nvSpPr>
        <p:spPr>
          <a:xfrm>
            <a:off x="685800" y="2162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2EF26E-FE6C-46C7-9D8E-4C4B2E606CA7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High-volume incoming orders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B771A6-37F8-4D62-BD17-8DFF960D3F17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B159A-6293-409E-A264-7780298303E3}"/>
              </a:ext>
            </a:extLst>
          </p:cNvPr>
          <p:cNvSpPr>
            <a:spLocks noGrp="1"/>
          </p:cNvSpPr>
          <p:nvPr/>
        </p:nvSpPr>
        <p:spPr>
          <a:xfrm>
            <a:off x="857250" y="2505075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Limited riders at different locations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D000A9-CFC3-4E79-B8AD-1C0E29447615}"/>
              </a:ext>
            </a:extLst>
          </p:cNvPr>
          <p:cNvSpPr>
            <a:spLocks noGrp="1"/>
          </p:cNvSpPr>
          <p:nvPr/>
        </p:nvSpPr>
        <p:spPr>
          <a:xfrm>
            <a:off x="685800" y="2981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9DE62-DF21-4D3E-9137-BB324B8D7402}"/>
              </a:ext>
            </a:extLst>
          </p:cNvPr>
          <p:cNvSpPr>
            <a:spLocks noGrp="1"/>
          </p:cNvSpPr>
          <p:nvPr/>
        </p:nvSpPr>
        <p:spPr>
          <a:xfrm>
            <a:off x="857250" y="291465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Multiple restaurant → customer routes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5BB2FB-6D7F-4325-9BDA-AADFDBEDCC38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1E438A-4299-42C0-91B4-27A2B4B1E487}"/>
              </a:ext>
            </a:extLst>
          </p:cNvPr>
          <p:cNvSpPr>
            <a:spLocks noGrp="1"/>
          </p:cNvSpPr>
          <p:nvPr/>
        </p:nvSpPr>
        <p:spPr>
          <a:xfrm>
            <a:off x="857250" y="3324225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Workload, capacity &amp; service-time constraints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0D39AE-7F83-47B3-9ED6-F326DA8C8B00}"/>
              </a:ext>
            </a:extLst>
          </p:cNvPr>
          <p:cNvSpPr>
            <a:spLocks noGrp="1"/>
          </p:cNvSpPr>
          <p:nvPr/>
        </p:nvSpPr>
        <p:spPr>
          <a:xfrm>
            <a:off x="6858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C91BA8-89C8-4D12-8EF3-DA5C3712590E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Fast delivery and reliable ETA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CC4D0D-C860-4F38-88B4-E5A56D7EECB5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Order-to-delivery workflow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BD4901-2DB3-4F9A-959B-1ECA1DD8444A}"/>
              </a:ext>
            </a:extLst>
          </p:cNvPr>
          <p:cNvSpPr>
            <a:spLocks noGrp="1"/>
          </p:cNvSpPr>
          <p:nvPr/>
        </p:nvSpPr>
        <p:spPr>
          <a:xfrm>
            <a:off x="4762500" y="211455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EAF0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B34B59E-EFA5-4AB8-9B6E-20D866078944}"/>
              </a:ext>
            </a:extLst>
          </p:cNvPr>
          <p:cNvSpPr>
            <a:spLocks noGrp="1"/>
          </p:cNvSpPr>
          <p:nvPr/>
        </p:nvSpPr>
        <p:spPr>
          <a:xfrm>
            <a:off x="4762500" y="2114550"/>
            <a:ext cx="66675" cy="59055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C645AC-3E86-41C0-AEF4-D85817B5851D}"/>
              </a:ext>
            </a:extLst>
          </p:cNvPr>
          <p:cNvSpPr>
            <a:spLocks noGrp="1"/>
          </p:cNvSpPr>
          <p:nvPr/>
        </p:nvSpPr>
        <p:spPr>
          <a:xfrm>
            <a:off x="4933950" y="2238375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Customer</a:t>
            </a:r>
          </a:p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order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697D3F-7214-4F7A-A6D0-AF5A9A906566}"/>
              </a:ext>
            </a:extLst>
          </p:cNvPr>
          <p:cNvSpPr>
            <a:spLocks noGrp="1"/>
          </p:cNvSpPr>
          <p:nvPr/>
        </p:nvSpPr>
        <p:spPr>
          <a:xfrm>
            <a:off x="6343650" y="22860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052816-C569-436A-8B39-E0344EC0F6AC}"/>
              </a:ext>
            </a:extLst>
          </p:cNvPr>
          <p:cNvSpPr>
            <a:spLocks noGrp="1"/>
          </p:cNvSpPr>
          <p:nvPr/>
        </p:nvSpPr>
        <p:spPr>
          <a:xfrm>
            <a:off x="6858000" y="211455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EAF0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E8A96E-8928-44A9-BE6E-CCA364F35F41}"/>
              </a:ext>
            </a:extLst>
          </p:cNvPr>
          <p:cNvSpPr>
            <a:spLocks noGrp="1"/>
          </p:cNvSpPr>
          <p:nvPr/>
        </p:nvSpPr>
        <p:spPr>
          <a:xfrm>
            <a:off x="6858000" y="2114550"/>
            <a:ext cx="66675" cy="59055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4D772C-EA05-4E63-ABC8-39FA44F392D9}"/>
              </a:ext>
            </a:extLst>
          </p:cNvPr>
          <p:cNvSpPr>
            <a:spLocks noGrp="1"/>
          </p:cNvSpPr>
          <p:nvPr/>
        </p:nvSpPr>
        <p:spPr>
          <a:xfrm>
            <a:off x="7029450" y="2238375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Restaurant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211621-C742-4769-884F-26F93A8F027B}"/>
              </a:ext>
            </a:extLst>
          </p:cNvPr>
          <p:cNvSpPr>
            <a:spLocks noGrp="1"/>
          </p:cNvSpPr>
          <p:nvPr/>
        </p:nvSpPr>
        <p:spPr>
          <a:xfrm>
            <a:off x="8439150" y="22860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BE7D27E-5A64-41FC-942C-664580E403B9}"/>
              </a:ext>
            </a:extLst>
          </p:cNvPr>
          <p:cNvSpPr>
            <a:spLocks noGrp="1"/>
          </p:cNvSpPr>
          <p:nvPr/>
        </p:nvSpPr>
        <p:spPr>
          <a:xfrm>
            <a:off x="8953500" y="211455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EAF0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E5FA5-4688-4C39-89E3-E654C80E0593}"/>
              </a:ext>
            </a:extLst>
          </p:cNvPr>
          <p:cNvSpPr>
            <a:spLocks noGrp="1"/>
          </p:cNvSpPr>
          <p:nvPr/>
        </p:nvSpPr>
        <p:spPr>
          <a:xfrm>
            <a:off x="8953500" y="2114550"/>
            <a:ext cx="66675" cy="59055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5035CD-C564-48B3-9AAF-AA60F379E82F}"/>
              </a:ext>
            </a:extLst>
          </p:cNvPr>
          <p:cNvSpPr>
            <a:spLocks noGrp="1"/>
          </p:cNvSpPr>
          <p:nvPr/>
        </p:nvSpPr>
        <p:spPr>
          <a:xfrm>
            <a:off x="9124950" y="2238375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Rider</a:t>
            </a:r>
          </a:p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assignment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E3AA7C-4C5E-45A2-850E-FDDB92F948FC}"/>
              </a:ext>
            </a:extLst>
          </p:cNvPr>
          <p:cNvSpPr>
            <a:spLocks noGrp="1"/>
          </p:cNvSpPr>
          <p:nvPr/>
        </p:nvSpPr>
        <p:spPr>
          <a:xfrm>
            <a:off x="7486650" y="2752725"/>
            <a:ext cx="266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↓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84787AE-46AA-449B-B604-BC02F09DF0EE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EAF0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8DC5211-E2C6-4D4C-A201-0B4BBBFF1A47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66675" cy="59055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BBB9B7-7ECA-499B-9803-1E4193971B9A}"/>
              </a:ext>
            </a:extLst>
          </p:cNvPr>
          <p:cNvSpPr>
            <a:spLocks noGrp="1"/>
          </p:cNvSpPr>
          <p:nvPr/>
        </p:nvSpPr>
        <p:spPr>
          <a:xfrm>
            <a:off x="4933950" y="3362325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Route</a:t>
            </a:r>
          </a:p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optimization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40AAE9-852A-4381-A8B1-E7C3B16FBF77}"/>
              </a:ext>
            </a:extLst>
          </p:cNvPr>
          <p:cNvSpPr>
            <a:spLocks noGrp="1"/>
          </p:cNvSpPr>
          <p:nvPr/>
        </p:nvSpPr>
        <p:spPr>
          <a:xfrm>
            <a:off x="6343650" y="34099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6E96D06-AD90-40AB-AA47-7E99A7FA84B0}"/>
              </a:ext>
            </a:extLst>
          </p:cNvPr>
          <p:cNvSpPr>
            <a:spLocks noGrp="1"/>
          </p:cNvSpPr>
          <p:nvPr/>
        </p:nvSpPr>
        <p:spPr>
          <a:xfrm>
            <a:off x="6858000" y="323850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EAF0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BB548C4-DBFC-4687-8ED7-68C03F28B6B9}"/>
              </a:ext>
            </a:extLst>
          </p:cNvPr>
          <p:cNvSpPr>
            <a:spLocks noGrp="1"/>
          </p:cNvSpPr>
          <p:nvPr/>
        </p:nvSpPr>
        <p:spPr>
          <a:xfrm>
            <a:off x="6858000" y="3238500"/>
            <a:ext cx="66675" cy="59055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825A78-4F65-4C40-A4E5-084F5FC19C8F}"/>
              </a:ext>
            </a:extLst>
          </p:cNvPr>
          <p:cNvSpPr>
            <a:spLocks noGrp="1"/>
          </p:cNvSpPr>
          <p:nvPr/>
        </p:nvSpPr>
        <p:spPr>
          <a:xfrm>
            <a:off x="7029450" y="3362325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ETA</a:t>
            </a:r>
          </a:p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prediction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6D1DCB-5634-4C05-A7EF-45108D0604A1}"/>
              </a:ext>
            </a:extLst>
          </p:cNvPr>
          <p:cNvSpPr>
            <a:spLocks noGrp="1"/>
          </p:cNvSpPr>
          <p:nvPr/>
        </p:nvSpPr>
        <p:spPr>
          <a:xfrm>
            <a:off x="8439150" y="34099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C4F57C3-9288-4A1D-B67C-31B4AF155B30}"/>
              </a:ext>
            </a:extLst>
          </p:cNvPr>
          <p:cNvSpPr>
            <a:spLocks noGrp="1"/>
          </p:cNvSpPr>
          <p:nvPr/>
        </p:nvSpPr>
        <p:spPr>
          <a:xfrm>
            <a:off x="8953500" y="323850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FFF4E5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3120402-E8B4-4387-A602-66CD2044C894}"/>
              </a:ext>
            </a:extLst>
          </p:cNvPr>
          <p:cNvSpPr>
            <a:spLocks noGrp="1"/>
          </p:cNvSpPr>
          <p:nvPr/>
        </p:nvSpPr>
        <p:spPr>
          <a:xfrm>
            <a:off x="8953500" y="3238500"/>
            <a:ext cx="66675" cy="590550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4741CF-0A39-4F76-B12B-85F8D0C61DFA}"/>
              </a:ext>
            </a:extLst>
          </p:cNvPr>
          <p:cNvSpPr>
            <a:spLocks noGrp="1"/>
          </p:cNvSpPr>
          <p:nvPr/>
        </p:nvSpPr>
        <p:spPr>
          <a:xfrm>
            <a:off x="9124950" y="3362325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Customer</a:t>
            </a:r>
          </a:p>
          <a:p>
            <a:pPr algn="ctr">
              <a:defRPr sz="1125" b="1">
                <a:solidFill>
                  <a:srgbClr val="172B4D"/>
                </a:solidFill>
              </a:defRPr>
            </a:pPr>
            <a:r>
              <a:rPr sz="1125" b="1">
                <a:solidFill>
                  <a:srgbClr val="172B4D"/>
                </a:solidFill>
              </a:rPr>
              <a:t>delivery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0A77DF4-23C4-49F5-A0B6-FE4E9743F031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10248900" cy="1466850"/>
          </a:xfrm>
          <a:prstGeom prst="roundRect">
            <a:avLst>
              <a:gd name="adj" fmla="val 7792"/>
            </a:avLst>
          </a:prstGeom>
          <a:solidFill>
            <a:srgbClr val="F4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D0ED439-481D-4FD9-B5BB-F99B9FCB11EC}"/>
              </a:ext>
            </a:extLst>
          </p:cNvPr>
          <p:cNvSpPr>
            <a:spLocks noGrp="1"/>
          </p:cNvSpPr>
          <p:nvPr/>
        </p:nvSpPr>
        <p:spPr>
          <a:xfrm>
            <a:off x="895350" y="4629150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Why this is a DSA problem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0F1F9F-1B1A-4EAA-A2C2-091C4104E87F}"/>
              </a:ext>
            </a:extLst>
          </p:cNvPr>
          <p:cNvSpPr>
            <a:spLocks noGrp="1"/>
          </p:cNvSpPr>
          <p:nvPr/>
        </p:nvSpPr>
        <p:spPr>
          <a:xfrm>
            <a:off x="895350" y="50101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Graph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A212DD-DB91-480F-989B-E97E9008FA28}"/>
              </a:ext>
            </a:extLst>
          </p:cNvPr>
          <p:cNvSpPr>
            <a:spLocks noGrp="1"/>
          </p:cNvSpPr>
          <p:nvPr/>
        </p:nvSpPr>
        <p:spPr>
          <a:xfrm>
            <a:off x="2114550" y="50101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— roads &amp; locations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42E50F-640E-4FF4-8A8C-8CA3347956A3}"/>
              </a:ext>
            </a:extLst>
          </p:cNvPr>
          <p:cNvSpPr>
            <a:spLocks noGrp="1"/>
          </p:cNvSpPr>
          <p:nvPr/>
        </p:nvSpPr>
        <p:spPr>
          <a:xfrm>
            <a:off x="4229100" y="50101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Matching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EC934B-D6B3-4BFA-A21B-11B16189DF36}"/>
              </a:ext>
            </a:extLst>
          </p:cNvPr>
          <p:cNvSpPr>
            <a:spLocks noGrp="1"/>
          </p:cNvSpPr>
          <p:nvPr/>
        </p:nvSpPr>
        <p:spPr>
          <a:xfrm>
            <a:off x="5448300" y="50101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— riders ↔ orders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F257E03-2CFA-4FD9-A93A-1918C4919C1E}"/>
              </a:ext>
            </a:extLst>
          </p:cNvPr>
          <p:cNvSpPr>
            <a:spLocks noGrp="1"/>
          </p:cNvSpPr>
          <p:nvPr/>
        </p:nvSpPr>
        <p:spPr>
          <a:xfrm>
            <a:off x="7562850" y="50101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Assignment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F41710-B75A-486C-841E-DD3B87A3A42A}"/>
              </a:ext>
            </a:extLst>
          </p:cNvPr>
          <p:cNvSpPr>
            <a:spLocks noGrp="1"/>
          </p:cNvSpPr>
          <p:nvPr/>
        </p:nvSpPr>
        <p:spPr>
          <a:xfrm>
            <a:off x="8782050" y="50101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— minimum total cost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026291-36F6-4248-BC77-65A8C41F82C0}"/>
              </a:ext>
            </a:extLst>
          </p:cNvPr>
          <p:cNvSpPr>
            <a:spLocks noGrp="1"/>
          </p:cNvSpPr>
          <p:nvPr/>
        </p:nvSpPr>
        <p:spPr>
          <a:xfrm>
            <a:off x="895350" y="54292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Network flow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249405-BFBA-4DB7-B2D6-067827035720}"/>
              </a:ext>
            </a:extLst>
          </p:cNvPr>
          <p:cNvSpPr>
            <a:spLocks noGrp="1"/>
          </p:cNvSpPr>
          <p:nvPr/>
        </p:nvSpPr>
        <p:spPr>
          <a:xfrm>
            <a:off x="2114550" y="54292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— capacity allocation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3DA1DF5-F879-49CE-BA83-13FC1CEEF194}"/>
              </a:ext>
            </a:extLst>
          </p:cNvPr>
          <p:cNvSpPr>
            <a:spLocks noGrp="1"/>
          </p:cNvSpPr>
          <p:nvPr/>
        </p:nvSpPr>
        <p:spPr>
          <a:xfrm>
            <a:off x="4229100" y="54292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TSP / approximation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EA8315F-B1F0-4A2D-A5F2-CD5DEB7E010F}"/>
              </a:ext>
            </a:extLst>
          </p:cNvPr>
          <p:cNvSpPr>
            <a:spLocks noGrp="1"/>
          </p:cNvSpPr>
          <p:nvPr/>
        </p:nvSpPr>
        <p:spPr>
          <a:xfrm>
            <a:off x="5448300" y="54292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— multi-stop scalability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00EC30-2EFA-47BB-8295-1AC24CBC9C34}"/>
              </a:ext>
            </a:extLst>
          </p:cNvPr>
          <p:cNvSpPr>
            <a:spLocks noGrp="1"/>
          </p:cNvSpPr>
          <p:nvPr/>
        </p:nvSpPr>
        <p:spPr>
          <a:xfrm>
            <a:off x="7562850" y="54292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Randomized choice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F7B032-CA8E-4F54-A3DE-ACC0D95B8878}"/>
              </a:ext>
            </a:extLst>
          </p:cNvPr>
          <p:cNvSpPr>
            <a:spLocks noGrp="1"/>
          </p:cNvSpPr>
          <p:nvPr/>
        </p:nvSpPr>
        <p:spPr>
          <a:xfrm>
            <a:off x="8782050" y="54292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— tie-breaking fairness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29AA77-86E8-4427-B2A9-262BAAF6758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277"/>
                </a:solidFill>
              </a:defRPr>
            </a:pPr>
            <a:r>
              <a:rPr sz="900" b="0">
                <a:solidFill>
                  <a:srgbClr val="526277"/>
                </a:solidFill>
              </a:rPr>
              <a:t>Food Delivery Route Optimization  •  Review 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2991157-ACF5-48DE-96B6-F3A71EAC7B52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277"/>
                </a:solidFill>
              </a:defRPr>
            </a:pPr>
            <a:r>
              <a:rPr sz="900" b="1">
                <a:solidFill>
                  <a:srgbClr val="52627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150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BDD3AE07-E299-4374-9EC6-526EADE189B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EVIDENCE BASE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C8E8D1-3F8A-41C6-A3BE-024CD95DF53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2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Literature review – route optimization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9B2FC-0B23-4586-9814-266A4A9B02A4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Four traceable works span shortest paths, classical routing, dynamic food delivery, and last-mile flexibility.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E1D1B7-DA3B-476A-BAE1-19404C8A980B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02D588-BA4A-4819-86EB-6F4EBD858E6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762125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12C64-D438-4E4E-9E03-5CC6F3B842B4}"/>
              </a:ext>
            </a:extLst>
          </p:cNvPr>
          <p:cNvSpPr>
            <a:spLocks noGrp="1"/>
          </p:cNvSpPr>
          <p:nvPr/>
        </p:nvSpPr>
        <p:spPr>
          <a:xfrm>
            <a:off x="762000" y="1743075"/>
            <a:ext cx="1609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7E6023-5477-4DAC-B41E-68DEF0B0AA5C}"/>
              </a:ext>
            </a:extLst>
          </p:cNvPr>
          <p:cNvSpPr>
            <a:spLocks noGrp="1"/>
          </p:cNvSpPr>
          <p:nvPr/>
        </p:nvSpPr>
        <p:spPr>
          <a:xfrm>
            <a:off x="2447925" y="1676400"/>
            <a:ext cx="1762125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2D996-0829-4A40-A06E-E6BA00256F4F}"/>
              </a:ext>
            </a:extLst>
          </p:cNvPr>
          <p:cNvSpPr>
            <a:spLocks noGrp="1"/>
          </p:cNvSpPr>
          <p:nvPr/>
        </p:nvSpPr>
        <p:spPr>
          <a:xfrm>
            <a:off x="2524125" y="1743075"/>
            <a:ext cx="1609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30561F-BCE4-4285-9B7D-01CC8A419BE4}"/>
              </a:ext>
            </a:extLst>
          </p:cNvPr>
          <p:cNvSpPr>
            <a:spLocks noGrp="1"/>
          </p:cNvSpPr>
          <p:nvPr/>
        </p:nvSpPr>
        <p:spPr>
          <a:xfrm>
            <a:off x="4210050" y="1676400"/>
            <a:ext cx="1952625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24176-3476-4395-A829-1BB733A0A8F8}"/>
              </a:ext>
            </a:extLst>
          </p:cNvPr>
          <p:cNvSpPr>
            <a:spLocks noGrp="1"/>
          </p:cNvSpPr>
          <p:nvPr/>
        </p:nvSpPr>
        <p:spPr>
          <a:xfrm>
            <a:off x="4286250" y="1743075"/>
            <a:ext cx="1800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Method / algorithm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AAF0BF-CDBD-4463-9731-02D46CC27FD1}"/>
              </a:ext>
            </a:extLst>
          </p:cNvPr>
          <p:cNvSpPr>
            <a:spLocks noGrp="1"/>
          </p:cNvSpPr>
          <p:nvPr/>
        </p:nvSpPr>
        <p:spPr>
          <a:xfrm>
            <a:off x="6162675" y="1676400"/>
            <a:ext cx="2476500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FF02F0-D94D-47AF-BDA9-5A5A20E0F419}"/>
              </a:ext>
            </a:extLst>
          </p:cNvPr>
          <p:cNvSpPr>
            <a:spLocks noGrp="1"/>
          </p:cNvSpPr>
          <p:nvPr/>
        </p:nvSpPr>
        <p:spPr>
          <a:xfrm>
            <a:off x="6238875" y="1743075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Key finding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36F6E7-1538-4F17-AB4D-0B8EB3DEB9A4}"/>
              </a:ext>
            </a:extLst>
          </p:cNvPr>
          <p:cNvSpPr>
            <a:spLocks noGrp="1"/>
          </p:cNvSpPr>
          <p:nvPr/>
        </p:nvSpPr>
        <p:spPr>
          <a:xfrm>
            <a:off x="8639175" y="1676400"/>
            <a:ext cx="2867025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2D30E6-F931-425E-B219-670915ED0EDA}"/>
              </a:ext>
            </a:extLst>
          </p:cNvPr>
          <p:cNvSpPr>
            <a:spLocks noGrp="1"/>
          </p:cNvSpPr>
          <p:nvPr/>
        </p:nvSpPr>
        <p:spPr>
          <a:xfrm>
            <a:off x="8715375" y="1743075"/>
            <a:ext cx="2714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Limitation / relevance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EFC45D-2233-4D27-B589-CD825588BA64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17621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E2E1E1-F8D4-42C9-9D31-A4E0D08FC9B8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[1] Dijkstra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(1959)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CBA73B-078B-4054-A000-977932F20B2C}"/>
              </a:ext>
            </a:extLst>
          </p:cNvPr>
          <p:cNvSpPr>
            <a:spLocks noGrp="1"/>
          </p:cNvSpPr>
          <p:nvPr/>
        </p:nvSpPr>
        <p:spPr>
          <a:xfrm>
            <a:off x="2447925" y="1981200"/>
            <a:ext cx="17621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30E5E0-6C3E-47F2-A7D4-D55F2C58234D}"/>
              </a:ext>
            </a:extLst>
          </p:cNvPr>
          <p:cNvSpPr>
            <a:spLocks noGrp="1"/>
          </p:cNvSpPr>
          <p:nvPr/>
        </p:nvSpPr>
        <p:spPr>
          <a:xfrm>
            <a:off x="2524125" y="2047875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Minimum path in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positive-weight graphs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8E0AAD-CA07-449F-BCC4-6433DB66D74E}"/>
              </a:ext>
            </a:extLst>
          </p:cNvPr>
          <p:cNvSpPr>
            <a:spLocks noGrp="1"/>
          </p:cNvSpPr>
          <p:nvPr/>
        </p:nvSpPr>
        <p:spPr>
          <a:xfrm>
            <a:off x="4210050" y="1981200"/>
            <a:ext cx="19526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4B15ED-9C0C-40FB-834C-C3275629EB62}"/>
              </a:ext>
            </a:extLst>
          </p:cNvPr>
          <p:cNvSpPr>
            <a:spLocks noGrp="1"/>
          </p:cNvSpPr>
          <p:nvPr/>
        </p:nvSpPr>
        <p:spPr>
          <a:xfrm>
            <a:off x="4286250" y="2047875"/>
            <a:ext cx="1800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Label-setting shortest-path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method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AA04F3-AF28-47F7-AD6F-ECCF9FB70F3F}"/>
              </a:ext>
            </a:extLst>
          </p:cNvPr>
          <p:cNvSpPr>
            <a:spLocks noGrp="1"/>
          </p:cNvSpPr>
          <p:nvPr/>
        </p:nvSpPr>
        <p:spPr>
          <a:xfrm>
            <a:off x="6162675" y="1981200"/>
            <a:ext cx="2476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5E71F3-8FD9-4B7A-9566-39EAC72CDA9A}"/>
              </a:ext>
            </a:extLst>
          </p:cNvPr>
          <p:cNvSpPr>
            <a:spLocks noGrp="1"/>
          </p:cNvSpPr>
          <p:nvPr/>
        </p:nvSpPr>
        <p:spPr>
          <a:xfrm>
            <a:off x="6238875" y="2047875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Establishes minimum-length path computation for weighted networks.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18BDC7-3DEC-4B48-83AD-EB13AB5CB728}"/>
              </a:ext>
            </a:extLst>
          </p:cNvPr>
          <p:cNvSpPr>
            <a:spLocks noGrp="1"/>
          </p:cNvSpPr>
          <p:nvPr/>
        </p:nvSpPr>
        <p:spPr>
          <a:xfrm>
            <a:off x="8639175" y="1981200"/>
            <a:ext cx="28670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41FDDF-3360-4865-963C-B283845A752E}"/>
              </a:ext>
            </a:extLst>
          </p:cNvPr>
          <p:cNvSpPr>
            <a:spLocks noGrp="1"/>
          </p:cNvSpPr>
          <p:nvPr/>
        </p:nvSpPr>
        <p:spPr>
          <a:xfrm>
            <a:off x="8715375" y="2047875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Static edge weights; foundation for road-graph routing.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7C1C86-E11F-4964-A7F4-0C5916926E6C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76212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164CB2-196A-401E-98C9-E6C4702B3F0E}"/>
              </a:ext>
            </a:extLst>
          </p:cNvPr>
          <p:cNvSpPr>
            <a:spLocks noGrp="1"/>
          </p:cNvSpPr>
          <p:nvPr/>
        </p:nvSpPr>
        <p:spPr>
          <a:xfrm>
            <a:off x="762000" y="2924175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[2] Dantzig &amp;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Ramser (1959)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F49E0B-3355-401A-9E2A-DBF66B00E391}"/>
              </a:ext>
            </a:extLst>
          </p:cNvPr>
          <p:cNvSpPr>
            <a:spLocks noGrp="1"/>
          </p:cNvSpPr>
          <p:nvPr/>
        </p:nvSpPr>
        <p:spPr>
          <a:xfrm>
            <a:off x="2447925" y="2857500"/>
            <a:ext cx="176212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00E3BC-B0DE-4418-9D67-000B27C62887}"/>
              </a:ext>
            </a:extLst>
          </p:cNvPr>
          <p:cNvSpPr>
            <a:spLocks noGrp="1"/>
          </p:cNvSpPr>
          <p:nvPr/>
        </p:nvSpPr>
        <p:spPr>
          <a:xfrm>
            <a:off x="2524125" y="2924175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Fleet routing with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station demand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FC1870-CF5C-4559-843D-7E7F05A74A00}"/>
              </a:ext>
            </a:extLst>
          </p:cNvPr>
          <p:cNvSpPr>
            <a:spLocks noGrp="1"/>
          </p:cNvSpPr>
          <p:nvPr/>
        </p:nvSpPr>
        <p:spPr>
          <a:xfrm>
            <a:off x="4210050" y="2857500"/>
            <a:ext cx="195262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8C8AB2-2167-415B-8387-7E9055152761}"/>
              </a:ext>
            </a:extLst>
          </p:cNvPr>
          <p:cNvSpPr>
            <a:spLocks noGrp="1"/>
          </p:cNvSpPr>
          <p:nvPr/>
        </p:nvSpPr>
        <p:spPr>
          <a:xfrm>
            <a:off x="4286250" y="2924175"/>
            <a:ext cx="1800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LP-based near-optimal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truck dispatching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B71139-2E58-4EFA-8080-F958FEF2C1C5}"/>
              </a:ext>
            </a:extLst>
          </p:cNvPr>
          <p:cNvSpPr>
            <a:spLocks noGrp="1"/>
          </p:cNvSpPr>
          <p:nvPr/>
        </p:nvSpPr>
        <p:spPr>
          <a:xfrm>
            <a:off x="6162675" y="2857500"/>
            <a:ext cx="2476500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5E9E6F-7B39-4186-923D-40F10AA05055}"/>
              </a:ext>
            </a:extLst>
          </p:cNvPr>
          <p:cNvSpPr>
            <a:spLocks noGrp="1"/>
          </p:cNvSpPr>
          <p:nvPr/>
        </p:nvSpPr>
        <p:spPr>
          <a:xfrm>
            <a:off x="6238875" y="2924175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Introduces fleet routing with minimum total mileage objective.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D84C27-CA1C-4EAE-903A-EC3A51E23988}"/>
              </a:ext>
            </a:extLst>
          </p:cNvPr>
          <p:cNvSpPr>
            <a:spLocks noGrp="1"/>
          </p:cNvSpPr>
          <p:nvPr/>
        </p:nvSpPr>
        <p:spPr>
          <a:xfrm>
            <a:off x="8639175" y="2857500"/>
            <a:ext cx="286702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73ED61-CCAE-4E1B-95BF-F2E713F5C2B8}"/>
              </a:ext>
            </a:extLst>
          </p:cNvPr>
          <p:cNvSpPr>
            <a:spLocks noGrp="1"/>
          </p:cNvSpPr>
          <p:nvPr/>
        </p:nvSpPr>
        <p:spPr>
          <a:xfrm>
            <a:off x="8715375" y="2924175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Classical / offline setting; motivates VRP formulation.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BC9FCA-C814-403C-8880-C56C7E79236F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7621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AEDA53-454A-4636-9DDA-8803AB09BE51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[3] Steever et al.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(2019)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C66EAC-4D74-4456-B1A7-774AE01638EF}"/>
              </a:ext>
            </a:extLst>
          </p:cNvPr>
          <p:cNvSpPr>
            <a:spLocks noGrp="1"/>
          </p:cNvSpPr>
          <p:nvPr/>
        </p:nvSpPr>
        <p:spPr>
          <a:xfrm>
            <a:off x="2447925" y="3733800"/>
            <a:ext cx="17621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217663-6232-4237-B81A-B8FBB0F37DC0}"/>
              </a:ext>
            </a:extLst>
          </p:cNvPr>
          <p:cNvSpPr>
            <a:spLocks noGrp="1"/>
          </p:cNvSpPr>
          <p:nvPr/>
        </p:nvSpPr>
        <p:spPr>
          <a:xfrm>
            <a:off x="2524125" y="3800475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Dynamic multi-restaurant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food delivery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B8B870-4527-4C8C-8540-F2F755F2A541}"/>
              </a:ext>
            </a:extLst>
          </p:cNvPr>
          <p:cNvSpPr>
            <a:spLocks noGrp="1"/>
          </p:cNvSpPr>
          <p:nvPr/>
        </p:nvSpPr>
        <p:spPr>
          <a:xfrm>
            <a:off x="4210050" y="3733800"/>
            <a:ext cx="19526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87ACB6-6BF8-4C01-AC23-C2D4DFE3BA7C}"/>
              </a:ext>
            </a:extLst>
          </p:cNvPr>
          <p:cNvSpPr>
            <a:spLocks noGrp="1"/>
          </p:cNvSpPr>
          <p:nvPr/>
        </p:nvSpPr>
        <p:spPr>
          <a:xfrm>
            <a:off x="4286250" y="3800475"/>
            <a:ext cx="1800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MILP + auction-based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heuristic (VFCDP)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B591626-C5A6-4543-812C-9B1B689FB937}"/>
              </a:ext>
            </a:extLst>
          </p:cNvPr>
          <p:cNvSpPr>
            <a:spLocks noGrp="1"/>
          </p:cNvSpPr>
          <p:nvPr/>
        </p:nvSpPr>
        <p:spPr>
          <a:xfrm>
            <a:off x="6162675" y="3733800"/>
            <a:ext cx="2476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B2302AA-257D-4223-B50D-E7183C5D8E9D}"/>
              </a:ext>
            </a:extLst>
          </p:cNvPr>
          <p:cNvSpPr>
            <a:spLocks noGrp="1"/>
          </p:cNvSpPr>
          <p:nvPr/>
        </p:nvSpPr>
        <p:spPr>
          <a:xfrm>
            <a:off x="6238875" y="3800475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Models flexible food-court delivery and dynamic heuristic decisions.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FB72B0E-9887-47F3-924E-CE9BA0657750}"/>
              </a:ext>
            </a:extLst>
          </p:cNvPr>
          <p:cNvSpPr>
            <a:spLocks noGrp="1"/>
          </p:cNvSpPr>
          <p:nvPr/>
        </p:nvSpPr>
        <p:spPr>
          <a:xfrm>
            <a:off x="8639175" y="3733800"/>
            <a:ext cx="28670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DAFE8E-F73C-41B1-AA70-63F4D17B281D}"/>
              </a:ext>
            </a:extLst>
          </p:cNvPr>
          <p:cNvSpPr>
            <a:spLocks noGrp="1"/>
          </p:cNvSpPr>
          <p:nvPr/>
        </p:nvSpPr>
        <p:spPr>
          <a:xfrm>
            <a:off x="8715375" y="3800475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Re-optimization improves flexibility but increases decision complexity.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4581FB-06EB-4E9B-9ACA-6B66F5C7612C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76212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E05C49-1FBB-44E0-9E28-456E760A91F7}"/>
              </a:ext>
            </a:extLst>
          </p:cNvPr>
          <p:cNvSpPr>
            <a:spLocks noGrp="1"/>
          </p:cNvSpPr>
          <p:nvPr/>
        </p:nvSpPr>
        <p:spPr>
          <a:xfrm>
            <a:off x="762000" y="4676775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[4] Reyes et al.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(2018)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B06EA0-BA19-4FA2-9ED2-085DAF0E373D}"/>
              </a:ext>
            </a:extLst>
          </p:cNvPr>
          <p:cNvSpPr>
            <a:spLocks noGrp="1"/>
          </p:cNvSpPr>
          <p:nvPr/>
        </p:nvSpPr>
        <p:spPr>
          <a:xfrm>
            <a:off x="2447925" y="4610100"/>
            <a:ext cx="176212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94B6713-B0FF-4FFF-9EFD-85F178BCDBA3}"/>
              </a:ext>
            </a:extLst>
          </p:cNvPr>
          <p:cNvSpPr>
            <a:spLocks noGrp="1"/>
          </p:cNvSpPr>
          <p:nvPr/>
        </p:nvSpPr>
        <p:spPr>
          <a:xfrm>
            <a:off x="2524125" y="4676775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Last-mile routing with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changing delivery locations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622262-68A6-4AC3-AAD0-D45DF4133629}"/>
              </a:ext>
            </a:extLst>
          </p:cNvPr>
          <p:cNvSpPr>
            <a:spLocks noGrp="1"/>
          </p:cNvSpPr>
          <p:nvPr/>
        </p:nvSpPr>
        <p:spPr>
          <a:xfrm>
            <a:off x="4210050" y="4610100"/>
            <a:ext cx="195262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2AF142A-79D9-46AA-874C-B2D009A46B91}"/>
              </a:ext>
            </a:extLst>
          </p:cNvPr>
          <p:cNvSpPr>
            <a:spLocks noGrp="1"/>
          </p:cNvSpPr>
          <p:nvPr/>
        </p:nvSpPr>
        <p:spPr>
          <a:xfrm>
            <a:off x="4286250" y="4676775"/>
            <a:ext cx="1800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VRP model + construction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and local-search heuristics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8CFB085-0067-4B04-A1D4-D85EBA65B584}"/>
              </a:ext>
            </a:extLst>
          </p:cNvPr>
          <p:cNvSpPr>
            <a:spLocks noGrp="1"/>
          </p:cNvSpPr>
          <p:nvPr/>
        </p:nvSpPr>
        <p:spPr>
          <a:xfrm>
            <a:off x="6162675" y="4610100"/>
            <a:ext cx="2476500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8BC14EB-38B5-427D-A00E-01E874227532}"/>
              </a:ext>
            </a:extLst>
          </p:cNvPr>
          <p:cNvSpPr>
            <a:spLocks noGrp="1"/>
          </p:cNvSpPr>
          <p:nvPr/>
        </p:nvSpPr>
        <p:spPr>
          <a:xfrm>
            <a:off x="6238875" y="4676775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Shows delivery location and time choices affect routing efficiency.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4FC0A5-86EB-416C-92AB-6EC170D4B1F1}"/>
              </a:ext>
            </a:extLst>
          </p:cNvPr>
          <p:cNvSpPr>
            <a:spLocks noGrp="1"/>
          </p:cNvSpPr>
          <p:nvPr/>
        </p:nvSpPr>
        <p:spPr>
          <a:xfrm>
            <a:off x="8639175" y="4610100"/>
            <a:ext cx="286702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4F1C88-B5F5-49FF-A999-12DBC23FD076}"/>
              </a:ext>
            </a:extLst>
          </p:cNvPr>
          <p:cNvSpPr>
            <a:spLocks noGrp="1"/>
          </p:cNvSpPr>
          <p:nvPr/>
        </p:nvSpPr>
        <p:spPr>
          <a:xfrm>
            <a:off x="8715375" y="4676775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Focused on routing/location choice, not integrated rider assignment.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6627B7C-FC99-44D6-943A-6665A422DBA7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E7F8FC"/>
          </a:solidFill>
          <a:ln w="0">
            <a:noFill/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27D49B3-760B-487E-A6FB-CF90EC6A8C41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Reading across the papers: shortest-path and VRP models provide the route layer; dynamic delivery settings motivate heuristics and repeated decisions.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972CF26-B941-4DD9-BD52-38FC34402A4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277"/>
                </a:solidFill>
              </a:defRPr>
            </a:pPr>
            <a:r>
              <a:rPr sz="900" b="0">
                <a:solidFill>
                  <a:srgbClr val="526277"/>
                </a:solidFill>
              </a:rPr>
              <a:t>Food Delivery Route Optimization  •  Review 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B8CE160-3CDF-45F0-8631-6B5FF4F619D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277"/>
                </a:solidFill>
              </a:defRPr>
            </a:pPr>
            <a:r>
              <a:rPr sz="900" b="1">
                <a:solidFill>
                  <a:srgbClr val="52627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257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D3111E42-70F8-4C1A-8CBE-4220A11C13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EVIDENCE BASE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681C71-C4C6-4330-B4CE-4E4504EE035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2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Literature review – rider assignment &amp; allocation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4B874-9D24-4426-9F4B-4C76B737AEAC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Assignment and flow research explains how feasible rider–order decisions can be optimized.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E12C26-DCE7-4506-99FA-D9D8246CFC2F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5361B6-60C2-42D3-AC0F-AF629846D95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857375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E1A0CD-1D0E-4BE9-A521-4B1F8F06BC2A}"/>
              </a:ext>
            </a:extLst>
          </p:cNvPr>
          <p:cNvSpPr>
            <a:spLocks noGrp="1"/>
          </p:cNvSpPr>
          <p:nvPr/>
        </p:nvSpPr>
        <p:spPr>
          <a:xfrm>
            <a:off x="762000" y="1743075"/>
            <a:ext cx="1704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5B6A22-790D-4C89-810C-53429E4F9F93}"/>
              </a:ext>
            </a:extLst>
          </p:cNvPr>
          <p:cNvSpPr>
            <a:spLocks noGrp="1"/>
          </p:cNvSpPr>
          <p:nvPr/>
        </p:nvSpPr>
        <p:spPr>
          <a:xfrm>
            <a:off x="2543175" y="1676400"/>
            <a:ext cx="1857375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A8106C-0097-4664-BAE2-B0455E5C9C20}"/>
              </a:ext>
            </a:extLst>
          </p:cNvPr>
          <p:cNvSpPr>
            <a:spLocks noGrp="1"/>
          </p:cNvSpPr>
          <p:nvPr/>
        </p:nvSpPr>
        <p:spPr>
          <a:xfrm>
            <a:off x="2619375" y="1743075"/>
            <a:ext cx="1704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Decision 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1A157F-1A80-4135-AB44-A0882E4C4E50}"/>
              </a:ext>
            </a:extLst>
          </p:cNvPr>
          <p:cNvSpPr>
            <a:spLocks noGrp="1"/>
          </p:cNvSpPr>
          <p:nvPr/>
        </p:nvSpPr>
        <p:spPr>
          <a:xfrm>
            <a:off x="4400550" y="1676400"/>
            <a:ext cx="2000250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6A6701-3E75-46C8-8D5E-868BCE00A8F5}"/>
              </a:ext>
            </a:extLst>
          </p:cNvPr>
          <p:cNvSpPr>
            <a:spLocks noGrp="1"/>
          </p:cNvSpPr>
          <p:nvPr/>
        </p:nvSpPr>
        <p:spPr>
          <a:xfrm>
            <a:off x="4476750" y="1743075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Algorithm /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3835F-A564-41E8-AD04-0D2AF953E027}"/>
              </a:ext>
            </a:extLst>
          </p:cNvPr>
          <p:cNvSpPr>
            <a:spLocks noGrp="1"/>
          </p:cNvSpPr>
          <p:nvPr/>
        </p:nvSpPr>
        <p:spPr>
          <a:xfrm>
            <a:off x="6400800" y="1676400"/>
            <a:ext cx="2476500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EFAF64-3239-497A-898D-CE9B45A24FB4}"/>
              </a:ext>
            </a:extLst>
          </p:cNvPr>
          <p:cNvSpPr>
            <a:spLocks noGrp="1"/>
          </p:cNvSpPr>
          <p:nvPr/>
        </p:nvSpPr>
        <p:spPr>
          <a:xfrm>
            <a:off x="6477000" y="1743075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Key result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F8F2E-F72E-442F-A0C7-B1D4012C9197}"/>
              </a:ext>
            </a:extLst>
          </p:cNvPr>
          <p:cNvSpPr>
            <a:spLocks noGrp="1"/>
          </p:cNvSpPr>
          <p:nvPr/>
        </p:nvSpPr>
        <p:spPr>
          <a:xfrm>
            <a:off x="8877300" y="1676400"/>
            <a:ext cx="2628900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A82D3B-1165-48FF-8B04-7AA11ABCEFBC}"/>
              </a:ext>
            </a:extLst>
          </p:cNvPr>
          <p:cNvSpPr>
            <a:spLocks noGrp="1"/>
          </p:cNvSpPr>
          <p:nvPr/>
        </p:nvSpPr>
        <p:spPr>
          <a:xfrm>
            <a:off x="8953500" y="174307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Limitation / relevance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51B248-5EBE-48A0-BDB3-53D7151C5355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18573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DD49C-F666-4A25-8C32-E5E497AC6F65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17049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[5] Kuhn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(1955)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29DE7C-3352-4A3C-A9D5-007012909FCB}"/>
              </a:ext>
            </a:extLst>
          </p:cNvPr>
          <p:cNvSpPr>
            <a:spLocks noGrp="1"/>
          </p:cNvSpPr>
          <p:nvPr/>
        </p:nvSpPr>
        <p:spPr>
          <a:xfrm>
            <a:off x="2543175" y="1981200"/>
            <a:ext cx="18573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AF065-28AA-4313-AA18-FA7E05BF2A24}"/>
              </a:ext>
            </a:extLst>
          </p:cNvPr>
          <p:cNvSpPr>
            <a:spLocks noGrp="1"/>
          </p:cNvSpPr>
          <p:nvPr/>
        </p:nvSpPr>
        <p:spPr>
          <a:xfrm>
            <a:off x="2619375" y="2047875"/>
            <a:ext cx="17049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One-to-one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person–job assignment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0D5E00-5630-45E9-9213-EE478ECB9459}"/>
              </a:ext>
            </a:extLst>
          </p:cNvPr>
          <p:cNvSpPr>
            <a:spLocks noGrp="1"/>
          </p:cNvSpPr>
          <p:nvPr/>
        </p:nvSpPr>
        <p:spPr>
          <a:xfrm>
            <a:off x="4400550" y="1981200"/>
            <a:ext cx="2000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E33093-89FB-4CF9-959B-3EF174AFFF4C}"/>
              </a:ext>
            </a:extLst>
          </p:cNvPr>
          <p:cNvSpPr>
            <a:spLocks noGrp="1"/>
          </p:cNvSpPr>
          <p:nvPr/>
        </p:nvSpPr>
        <p:spPr>
          <a:xfrm>
            <a:off x="4476750" y="2047875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Hungarian method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798649-BCD1-469D-9B2D-165BEB832364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2476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A37AEC-8071-4742-8D84-156E65804A9F}"/>
              </a:ext>
            </a:extLst>
          </p:cNvPr>
          <p:cNvSpPr>
            <a:spLocks noGrp="1"/>
          </p:cNvSpPr>
          <p:nvPr/>
        </p:nvSpPr>
        <p:spPr>
          <a:xfrm>
            <a:off x="6477000" y="2047875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Finds optimal assignment when every worker–job cost is known.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54264C-B6C6-414D-9127-5DDAF224001A}"/>
              </a:ext>
            </a:extLst>
          </p:cNvPr>
          <p:cNvSpPr>
            <a:spLocks noGrp="1"/>
          </p:cNvSpPr>
          <p:nvPr/>
        </p:nvSpPr>
        <p:spPr>
          <a:xfrm>
            <a:off x="8877300" y="1981200"/>
            <a:ext cx="26289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309F05-49CF-4213-A462-9863BA91E544}"/>
              </a:ext>
            </a:extLst>
          </p:cNvPr>
          <p:cNvSpPr>
            <a:spLocks noGrp="1"/>
          </p:cNvSpPr>
          <p:nvPr/>
        </p:nvSpPr>
        <p:spPr>
          <a:xfrm>
            <a:off x="8953500" y="2047875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One-to-one / static; maps riders ↔ orders after feasible pairs are built.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288DBB-D008-426C-81D5-09CB7BDD633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85737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55690C-DEFE-40DD-9CB3-9B06D10C0526}"/>
              </a:ext>
            </a:extLst>
          </p:cNvPr>
          <p:cNvSpPr>
            <a:spLocks noGrp="1"/>
          </p:cNvSpPr>
          <p:nvPr/>
        </p:nvSpPr>
        <p:spPr>
          <a:xfrm>
            <a:off x="762000" y="2924175"/>
            <a:ext cx="17049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[6] Ford &amp;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Fulkerson (1956)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F77234-19E7-496D-9630-BDA54EB8874E}"/>
              </a:ext>
            </a:extLst>
          </p:cNvPr>
          <p:cNvSpPr>
            <a:spLocks noGrp="1"/>
          </p:cNvSpPr>
          <p:nvPr/>
        </p:nvSpPr>
        <p:spPr>
          <a:xfrm>
            <a:off x="2543175" y="2857500"/>
            <a:ext cx="185737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736983-B860-4FFD-B166-81537220F534}"/>
              </a:ext>
            </a:extLst>
          </p:cNvPr>
          <p:cNvSpPr>
            <a:spLocks noGrp="1"/>
          </p:cNvSpPr>
          <p:nvPr/>
        </p:nvSpPr>
        <p:spPr>
          <a:xfrm>
            <a:off x="2619375" y="2924175"/>
            <a:ext cx="17049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Maximum feasible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flow through a network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8F757F-E25C-478E-BC60-F1D416FEB811}"/>
              </a:ext>
            </a:extLst>
          </p:cNvPr>
          <p:cNvSpPr>
            <a:spLocks noGrp="1"/>
          </p:cNvSpPr>
          <p:nvPr/>
        </p:nvSpPr>
        <p:spPr>
          <a:xfrm>
            <a:off x="4400550" y="2857500"/>
            <a:ext cx="2000250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AC86E-E2A6-4EA8-9073-69912C704B18}"/>
              </a:ext>
            </a:extLst>
          </p:cNvPr>
          <p:cNvSpPr>
            <a:spLocks noGrp="1"/>
          </p:cNvSpPr>
          <p:nvPr/>
        </p:nvSpPr>
        <p:spPr>
          <a:xfrm>
            <a:off x="4476750" y="2924175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Augmenting-path max-flow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method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435C80-28E9-4546-9908-825336EAD232}"/>
              </a:ext>
            </a:extLst>
          </p:cNvPr>
          <p:cNvSpPr>
            <a:spLocks noGrp="1"/>
          </p:cNvSpPr>
          <p:nvPr/>
        </p:nvSpPr>
        <p:spPr>
          <a:xfrm>
            <a:off x="6400800" y="2857500"/>
            <a:ext cx="2476500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2D2D4D-BC46-414D-A4BB-515311111816}"/>
              </a:ext>
            </a:extLst>
          </p:cNvPr>
          <p:cNvSpPr>
            <a:spLocks noGrp="1"/>
          </p:cNvSpPr>
          <p:nvPr/>
        </p:nvSpPr>
        <p:spPr>
          <a:xfrm>
            <a:off x="6477000" y="2924175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Formalizes capacity-constrained allocation through a network.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886FDB-F447-471F-97FB-1AEE08571DAE}"/>
              </a:ext>
            </a:extLst>
          </p:cNvPr>
          <p:cNvSpPr>
            <a:spLocks noGrp="1"/>
          </p:cNvSpPr>
          <p:nvPr/>
        </p:nvSpPr>
        <p:spPr>
          <a:xfrm>
            <a:off x="8877300" y="2857500"/>
            <a:ext cx="2628900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A99E9F-0EFF-4E0C-ACD8-A199AC411387}"/>
              </a:ext>
            </a:extLst>
          </p:cNvPr>
          <p:cNvSpPr>
            <a:spLocks noGrp="1"/>
          </p:cNvSpPr>
          <p:nvPr/>
        </p:nvSpPr>
        <p:spPr>
          <a:xfrm>
            <a:off x="8953500" y="2924175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Generic flow model; maps rider availability/capacity to delivery allocation.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6275BD-FEFB-40DE-A1A8-893AB8F4D32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8573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8B41BA-D5C2-46C4-8FE3-E710405E847D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17049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[7] Shmoys &amp;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Tardos (1993)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598CB2-167C-4906-8A19-13E0A533A543}"/>
              </a:ext>
            </a:extLst>
          </p:cNvPr>
          <p:cNvSpPr>
            <a:spLocks noGrp="1"/>
          </p:cNvSpPr>
          <p:nvPr/>
        </p:nvSpPr>
        <p:spPr>
          <a:xfrm>
            <a:off x="2543175" y="3733800"/>
            <a:ext cx="18573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3B7CA4-CCC3-4F2E-BA39-248AF38BAC37}"/>
              </a:ext>
            </a:extLst>
          </p:cNvPr>
          <p:cNvSpPr>
            <a:spLocks noGrp="1"/>
          </p:cNvSpPr>
          <p:nvPr/>
        </p:nvSpPr>
        <p:spPr>
          <a:xfrm>
            <a:off x="2619375" y="3800475"/>
            <a:ext cx="17049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Costed jobs on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capacity-limited machines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872C61-FA2B-4904-ACE1-8D8CA509303B}"/>
              </a:ext>
            </a:extLst>
          </p:cNvPr>
          <p:cNvSpPr>
            <a:spLocks noGrp="1"/>
          </p:cNvSpPr>
          <p:nvPr/>
        </p:nvSpPr>
        <p:spPr>
          <a:xfrm>
            <a:off x="4400550" y="3733800"/>
            <a:ext cx="2000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28ACDC-33A4-49A5-991F-A48EE221DD10}"/>
              </a:ext>
            </a:extLst>
          </p:cNvPr>
          <p:cNvSpPr>
            <a:spLocks noGrp="1"/>
          </p:cNvSpPr>
          <p:nvPr/>
        </p:nvSpPr>
        <p:spPr>
          <a:xfrm>
            <a:off x="4476750" y="3800475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Approximation for generalized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assignment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D3EADB-C412-4A28-A877-34663DAB13AF}"/>
              </a:ext>
            </a:extLst>
          </p:cNvPr>
          <p:cNvSpPr>
            <a:spLocks noGrp="1"/>
          </p:cNvSpPr>
          <p:nvPr/>
        </p:nvSpPr>
        <p:spPr>
          <a:xfrm>
            <a:off x="6400800" y="3733800"/>
            <a:ext cx="2476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9443DE-1046-4E7D-9EFD-0090584E10A0}"/>
              </a:ext>
            </a:extLst>
          </p:cNvPr>
          <p:cNvSpPr>
            <a:spLocks noGrp="1"/>
          </p:cNvSpPr>
          <p:nvPr/>
        </p:nvSpPr>
        <p:spPr>
          <a:xfrm>
            <a:off x="6477000" y="3800475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Gives a polynomial-time approximation framework under capacity constraints.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FD4E44-BDA8-465D-BE49-3BE969D37400}"/>
              </a:ext>
            </a:extLst>
          </p:cNvPr>
          <p:cNvSpPr>
            <a:spLocks noGrp="1"/>
          </p:cNvSpPr>
          <p:nvPr/>
        </p:nvSpPr>
        <p:spPr>
          <a:xfrm>
            <a:off x="8877300" y="3733800"/>
            <a:ext cx="26289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9A698E-6C45-45BB-A59B-2BB8419AF568}"/>
              </a:ext>
            </a:extLst>
          </p:cNvPr>
          <p:cNvSpPr>
            <a:spLocks noGrp="1"/>
          </p:cNvSpPr>
          <p:nvPr/>
        </p:nvSpPr>
        <p:spPr>
          <a:xfrm>
            <a:off x="8953500" y="3800475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Approximation may trade exact optimality for scale; relevant for larger batches.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81D685-915B-4576-888E-39954DA2CABC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85737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0FD455-CA19-478F-BF28-1D54E54A28D7}"/>
              </a:ext>
            </a:extLst>
          </p:cNvPr>
          <p:cNvSpPr>
            <a:spLocks noGrp="1"/>
          </p:cNvSpPr>
          <p:nvPr/>
        </p:nvSpPr>
        <p:spPr>
          <a:xfrm>
            <a:off x="762000" y="4676775"/>
            <a:ext cx="17049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[8] Alonso-Mora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et al. (2017)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77EEEF-9F3C-4264-B1ED-47A77502C77A}"/>
              </a:ext>
            </a:extLst>
          </p:cNvPr>
          <p:cNvSpPr>
            <a:spLocks noGrp="1"/>
          </p:cNvSpPr>
          <p:nvPr/>
        </p:nvSpPr>
        <p:spPr>
          <a:xfrm>
            <a:off x="2543175" y="4610100"/>
            <a:ext cx="1857375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E0C441-1BBB-42A9-BF63-6D9E17F59D73}"/>
              </a:ext>
            </a:extLst>
          </p:cNvPr>
          <p:cNvSpPr>
            <a:spLocks noGrp="1"/>
          </p:cNvSpPr>
          <p:nvPr/>
        </p:nvSpPr>
        <p:spPr>
          <a:xfrm>
            <a:off x="2619375" y="4676775"/>
            <a:ext cx="17049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Real-time trip–vehicle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assignment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AADE7B1-232D-43B5-A336-D25DB47C7851}"/>
              </a:ext>
            </a:extLst>
          </p:cNvPr>
          <p:cNvSpPr>
            <a:spLocks noGrp="1"/>
          </p:cNvSpPr>
          <p:nvPr/>
        </p:nvSpPr>
        <p:spPr>
          <a:xfrm>
            <a:off x="4400550" y="4610100"/>
            <a:ext cx="2000250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E52C71-2353-472B-889E-AD9DF36E56A1}"/>
              </a:ext>
            </a:extLst>
          </p:cNvPr>
          <p:cNvSpPr>
            <a:spLocks noGrp="1"/>
          </p:cNvSpPr>
          <p:nvPr/>
        </p:nvSpPr>
        <p:spPr>
          <a:xfrm>
            <a:off x="4476750" y="4676775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Graph construction +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constrained optimization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3A7C35C-2FC7-4FED-888C-500DD3B635B0}"/>
              </a:ext>
            </a:extLst>
          </p:cNvPr>
          <p:cNvSpPr>
            <a:spLocks noGrp="1"/>
          </p:cNvSpPr>
          <p:nvPr/>
        </p:nvSpPr>
        <p:spPr>
          <a:xfrm>
            <a:off x="6400800" y="4610100"/>
            <a:ext cx="2476500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6B889F-8620-4731-88C2-4B97FF788489}"/>
              </a:ext>
            </a:extLst>
          </p:cNvPr>
          <p:cNvSpPr>
            <a:spLocks noGrp="1"/>
          </p:cNvSpPr>
          <p:nvPr/>
        </p:nvSpPr>
        <p:spPr>
          <a:xfrm>
            <a:off x="6477000" y="4676775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Scales dynamic trip–vehicle assignment and rebalancing on large ride data.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D669D3D-02B0-4DEE-B728-BCC05A6FCCF3}"/>
              </a:ext>
            </a:extLst>
          </p:cNvPr>
          <p:cNvSpPr>
            <a:spLocks noGrp="1"/>
          </p:cNvSpPr>
          <p:nvPr/>
        </p:nvSpPr>
        <p:spPr>
          <a:xfrm>
            <a:off x="8877300" y="4610100"/>
            <a:ext cx="2628900" cy="87630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7DE3858-5938-4B32-8B43-8F6F71EE8786}"/>
              </a:ext>
            </a:extLst>
          </p:cNvPr>
          <p:cNvSpPr>
            <a:spLocks noGrp="1"/>
          </p:cNvSpPr>
          <p:nvPr/>
        </p:nvSpPr>
        <p:spPr>
          <a:xfrm>
            <a:off x="8953500" y="4676775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Ride-sharing context; transfers conceptually, not a food-delivery study.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C6C1A7B-633C-4ED5-A62F-F55E0E1BDB1E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4E5"/>
          </a:solidFill>
          <a:ln w="0">
            <a:noFill/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1F97140-B0B6-4B4A-A96E-4B5235345902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DSA connection: bipartite feasibility → Hungarian cost minimization → network-flow capacity checks → approximation / re-optimization at scale.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E3FF261-DDAC-4AE6-9990-AFC3CFAC2D3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277"/>
                </a:solidFill>
              </a:defRPr>
            </a:pPr>
            <a:r>
              <a:rPr sz="900" b="0">
                <a:solidFill>
                  <a:srgbClr val="526277"/>
                </a:solidFill>
              </a:rPr>
              <a:t>Food Delivery Route Optimization  •  Review 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85C8E49-A045-4D3A-BE95-13078F5AF999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277"/>
                </a:solidFill>
              </a:defRPr>
            </a:pPr>
            <a:r>
              <a:rPr sz="900" b="1">
                <a:solidFill>
                  <a:srgbClr val="52627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775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27F6F695-8CDD-4F08-8B0C-F3A98026FFB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INTERPRETATION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4072AC-792B-45B6-864D-F1AFACBECB5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2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Critical analysis and synthesis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0E13A6-3E70-4293-8121-052B0BD27CC1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Across studies, routing and allocation are powerful—but often treated as separate decision layers.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EF4A37-647B-402C-BFBA-8C846242F11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0D43F-64B3-4853-A73D-21CFF860AF8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905000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77FA1-72A7-4E9F-81DD-00598FDB7A7B}"/>
              </a:ext>
            </a:extLst>
          </p:cNvPr>
          <p:cNvSpPr>
            <a:spLocks noGrp="1"/>
          </p:cNvSpPr>
          <p:nvPr/>
        </p:nvSpPr>
        <p:spPr>
          <a:xfrm>
            <a:off x="762000" y="1743075"/>
            <a:ext cx="1752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Research 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95556B-B650-4BAD-BCC7-A7FB84F0DA7D}"/>
              </a:ext>
            </a:extLst>
          </p:cNvPr>
          <p:cNvSpPr>
            <a:spLocks noGrp="1"/>
          </p:cNvSpPr>
          <p:nvPr/>
        </p:nvSpPr>
        <p:spPr>
          <a:xfrm>
            <a:off x="2590800" y="1676400"/>
            <a:ext cx="1809750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24719F-0418-4DDB-9866-64DD939B1299}"/>
              </a:ext>
            </a:extLst>
          </p:cNvPr>
          <p:cNvSpPr>
            <a:spLocks noGrp="1"/>
          </p:cNvSpPr>
          <p:nvPr/>
        </p:nvSpPr>
        <p:spPr>
          <a:xfrm>
            <a:off x="2667000" y="1743075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F756C9-988B-4416-9A34-CFB2F1085CB7}"/>
              </a:ext>
            </a:extLst>
          </p:cNvPr>
          <p:cNvSpPr>
            <a:spLocks noGrp="1"/>
          </p:cNvSpPr>
          <p:nvPr/>
        </p:nvSpPr>
        <p:spPr>
          <a:xfrm>
            <a:off x="4400550" y="1676400"/>
            <a:ext cx="2476500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68CBD2-D8EC-4DAD-882A-4D3FBB0CBFD6}"/>
              </a:ext>
            </a:extLst>
          </p:cNvPr>
          <p:cNvSpPr>
            <a:spLocks noGrp="1"/>
          </p:cNvSpPr>
          <p:nvPr/>
        </p:nvSpPr>
        <p:spPr>
          <a:xfrm>
            <a:off x="4476750" y="1743075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38EB2B-8A0A-4BAD-A568-52A62A8AEBD5}"/>
              </a:ext>
            </a:extLst>
          </p:cNvPr>
          <p:cNvSpPr>
            <a:spLocks noGrp="1"/>
          </p:cNvSpPr>
          <p:nvPr/>
        </p:nvSpPr>
        <p:spPr>
          <a:xfrm>
            <a:off x="6877050" y="1676400"/>
            <a:ext cx="2571750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6DE884-E63E-4891-BB93-C6006A60AFC6}"/>
              </a:ext>
            </a:extLst>
          </p:cNvPr>
          <p:cNvSpPr>
            <a:spLocks noGrp="1"/>
          </p:cNvSpPr>
          <p:nvPr/>
        </p:nvSpPr>
        <p:spPr>
          <a:xfrm>
            <a:off x="6953250" y="1743075"/>
            <a:ext cx="2419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Limitation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A6FCE-693D-4428-AFE4-2AFA51CB6C6D}"/>
              </a:ext>
            </a:extLst>
          </p:cNvPr>
          <p:cNvSpPr>
            <a:spLocks noGrp="1"/>
          </p:cNvSpPr>
          <p:nvPr/>
        </p:nvSpPr>
        <p:spPr>
          <a:xfrm>
            <a:off x="9448800" y="1676400"/>
            <a:ext cx="2057400" cy="3048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B2A134-71AF-4470-B66C-252C63DC59D9}"/>
              </a:ext>
            </a:extLst>
          </p:cNvPr>
          <p:cNvSpPr>
            <a:spLocks noGrp="1"/>
          </p:cNvSpPr>
          <p:nvPr/>
        </p:nvSpPr>
        <p:spPr>
          <a:xfrm>
            <a:off x="9525000" y="17430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Relevance to our project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45BC7-904C-4765-BA35-534318D3D7E4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1905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08F6DA-59FA-4C2F-AEBF-CCCF29F9AA9D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1752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[1], [2]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Foundational route models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A9229B-1C70-4F08-A904-33CB46A77394}"/>
              </a:ext>
            </a:extLst>
          </p:cNvPr>
          <p:cNvSpPr>
            <a:spLocks noGrp="1"/>
          </p:cNvSpPr>
          <p:nvPr/>
        </p:nvSpPr>
        <p:spPr>
          <a:xfrm>
            <a:off x="2590800" y="1981200"/>
            <a:ext cx="1809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75805D-EA1C-4543-BA25-2188181BB3F9}"/>
              </a:ext>
            </a:extLst>
          </p:cNvPr>
          <p:cNvSpPr>
            <a:spLocks noGrp="1"/>
          </p:cNvSpPr>
          <p:nvPr/>
        </p:nvSpPr>
        <p:spPr>
          <a:xfrm>
            <a:off x="2667000" y="2047875"/>
            <a:ext cx="1657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Shortest path; VRP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488880-2F49-4DEA-AC26-8476973B943F}"/>
              </a:ext>
            </a:extLst>
          </p:cNvPr>
          <p:cNvSpPr>
            <a:spLocks noGrp="1"/>
          </p:cNvSpPr>
          <p:nvPr/>
        </p:nvSpPr>
        <p:spPr>
          <a:xfrm>
            <a:off x="4400550" y="1981200"/>
            <a:ext cx="247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6C3E55-6955-4F9D-A4F2-F489FAE25441}"/>
              </a:ext>
            </a:extLst>
          </p:cNvPr>
          <p:cNvSpPr>
            <a:spLocks noGrp="1"/>
          </p:cNvSpPr>
          <p:nvPr/>
        </p:nvSpPr>
        <p:spPr>
          <a:xfrm>
            <a:off x="4476750" y="2047875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Clear network and total-distance formulations.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B8A50B-F584-4506-86E1-FBF573F49169}"/>
              </a:ext>
            </a:extLst>
          </p:cNvPr>
          <p:cNvSpPr>
            <a:spLocks noGrp="1"/>
          </p:cNvSpPr>
          <p:nvPr/>
        </p:nvSpPr>
        <p:spPr>
          <a:xfrm>
            <a:off x="6877050" y="1981200"/>
            <a:ext cx="2571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64ABB4-3CE3-4EE7-BC14-C089CDA0AE2E}"/>
              </a:ext>
            </a:extLst>
          </p:cNvPr>
          <p:cNvSpPr>
            <a:spLocks noGrp="1"/>
          </p:cNvSpPr>
          <p:nvPr/>
        </p:nvSpPr>
        <p:spPr>
          <a:xfrm>
            <a:off x="6953250" y="2047875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Primarily static; no rider-order decision layer.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64344A-871A-46A3-8D18-BC5B6983CF0A}"/>
              </a:ext>
            </a:extLst>
          </p:cNvPr>
          <p:cNvSpPr>
            <a:spLocks noGrp="1"/>
          </p:cNvSpPr>
          <p:nvPr/>
        </p:nvSpPr>
        <p:spPr>
          <a:xfrm>
            <a:off x="9448800" y="1981200"/>
            <a:ext cx="20574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DE9677-4BDC-468D-A8E5-E9FFBA572D2A}"/>
              </a:ext>
            </a:extLst>
          </p:cNvPr>
          <p:cNvSpPr>
            <a:spLocks noGrp="1"/>
          </p:cNvSpPr>
          <p:nvPr/>
        </p:nvSpPr>
        <p:spPr>
          <a:xfrm>
            <a:off x="9525000" y="2047875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Road graph + minimum-distance baseline.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1222D3-BEB6-4301-9F5C-D632884E8FEA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90500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58DF18-C28F-462F-8395-5EC50A523F1B}"/>
              </a:ext>
            </a:extLst>
          </p:cNvPr>
          <p:cNvSpPr>
            <a:spLocks noGrp="1"/>
          </p:cNvSpPr>
          <p:nvPr/>
        </p:nvSpPr>
        <p:spPr>
          <a:xfrm>
            <a:off x="762000" y="2828925"/>
            <a:ext cx="1752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[3], [4]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Dynamic last-mile routing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B77C57-D117-41D9-A1A4-893466B4F63A}"/>
              </a:ext>
            </a:extLst>
          </p:cNvPr>
          <p:cNvSpPr>
            <a:spLocks noGrp="1"/>
          </p:cNvSpPr>
          <p:nvPr/>
        </p:nvSpPr>
        <p:spPr>
          <a:xfrm>
            <a:off x="2590800" y="2762250"/>
            <a:ext cx="180975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19E0B1-9BD7-4F46-AFA3-96353A1D7AAF}"/>
              </a:ext>
            </a:extLst>
          </p:cNvPr>
          <p:cNvSpPr>
            <a:spLocks noGrp="1"/>
          </p:cNvSpPr>
          <p:nvPr/>
        </p:nvSpPr>
        <p:spPr>
          <a:xfrm>
            <a:off x="2667000" y="2828925"/>
            <a:ext cx="1657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MILP / auction heuristic; VRP heuristics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A48950-9E77-4EE2-B40A-8CE7C26F1B33}"/>
              </a:ext>
            </a:extLst>
          </p:cNvPr>
          <p:cNvSpPr>
            <a:spLocks noGrp="1"/>
          </p:cNvSpPr>
          <p:nvPr/>
        </p:nvSpPr>
        <p:spPr>
          <a:xfrm>
            <a:off x="4400550" y="2762250"/>
            <a:ext cx="247650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AD66C3-BBA3-47C7-9C9E-F44A98CC44C4}"/>
              </a:ext>
            </a:extLst>
          </p:cNvPr>
          <p:cNvSpPr>
            <a:spLocks noGrp="1"/>
          </p:cNvSpPr>
          <p:nvPr/>
        </p:nvSpPr>
        <p:spPr>
          <a:xfrm>
            <a:off x="4476750" y="2828925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Represent delivery-specific dynamics and practical heuristics.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99B4C1-9F6A-432D-9100-65A8FFCBFEDC}"/>
              </a:ext>
            </a:extLst>
          </p:cNvPr>
          <p:cNvSpPr>
            <a:spLocks noGrp="1"/>
          </p:cNvSpPr>
          <p:nvPr/>
        </p:nvSpPr>
        <p:spPr>
          <a:xfrm>
            <a:off x="6877050" y="2762250"/>
            <a:ext cx="257175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72FD24-E42F-48AA-AE06-697047686EDD}"/>
              </a:ext>
            </a:extLst>
          </p:cNvPr>
          <p:cNvSpPr>
            <a:spLocks noGrp="1"/>
          </p:cNvSpPr>
          <p:nvPr/>
        </p:nvSpPr>
        <p:spPr>
          <a:xfrm>
            <a:off x="6953250" y="2828925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Routing emphasis; dynamic re-optimization adds complexity.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80DAF5-FF47-4898-8E7B-8A1FD3C8A85D}"/>
              </a:ext>
            </a:extLst>
          </p:cNvPr>
          <p:cNvSpPr>
            <a:spLocks noGrp="1"/>
          </p:cNvSpPr>
          <p:nvPr/>
        </p:nvSpPr>
        <p:spPr>
          <a:xfrm>
            <a:off x="9448800" y="2762250"/>
            <a:ext cx="205740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1738D5-A8AF-417D-BD04-DB7377DC3978}"/>
              </a:ext>
            </a:extLst>
          </p:cNvPr>
          <p:cNvSpPr>
            <a:spLocks noGrp="1"/>
          </p:cNvSpPr>
          <p:nvPr/>
        </p:nvSpPr>
        <p:spPr>
          <a:xfrm>
            <a:off x="9525000" y="2828925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Motivates scalable route layer.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1A99CE-8D86-45C0-AD0E-D62626313E35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1905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247F86-F561-43D7-B329-255BDB563F97}"/>
              </a:ext>
            </a:extLst>
          </p:cNvPr>
          <p:cNvSpPr>
            <a:spLocks noGrp="1"/>
          </p:cNvSpPr>
          <p:nvPr/>
        </p:nvSpPr>
        <p:spPr>
          <a:xfrm>
            <a:off x="762000" y="3609975"/>
            <a:ext cx="1752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[5]–[7]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Assignment &amp; capacity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3185AA-75C0-4531-B788-AC18BA96A62D}"/>
              </a:ext>
            </a:extLst>
          </p:cNvPr>
          <p:cNvSpPr>
            <a:spLocks noGrp="1"/>
          </p:cNvSpPr>
          <p:nvPr/>
        </p:nvSpPr>
        <p:spPr>
          <a:xfrm>
            <a:off x="2590800" y="3543300"/>
            <a:ext cx="1809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39E6AC-39E4-4CCB-8336-5AC377AE747D}"/>
              </a:ext>
            </a:extLst>
          </p:cNvPr>
          <p:cNvSpPr>
            <a:spLocks noGrp="1"/>
          </p:cNvSpPr>
          <p:nvPr/>
        </p:nvSpPr>
        <p:spPr>
          <a:xfrm>
            <a:off x="2667000" y="3609975"/>
            <a:ext cx="1657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Hungarian; max flow; approximation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B7643E-159D-4D06-AEA0-FB7C840439C8}"/>
              </a:ext>
            </a:extLst>
          </p:cNvPr>
          <p:cNvSpPr>
            <a:spLocks noGrp="1"/>
          </p:cNvSpPr>
          <p:nvPr/>
        </p:nvSpPr>
        <p:spPr>
          <a:xfrm>
            <a:off x="4400550" y="3543300"/>
            <a:ext cx="247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76898-BC66-4E1B-B64D-2A953448503C}"/>
              </a:ext>
            </a:extLst>
          </p:cNvPr>
          <p:cNvSpPr>
            <a:spLocks noGrp="1"/>
          </p:cNvSpPr>
          <p:nvPr/>
        </p:nvSpPr>
        <p:spPr>
          <a:xfrm>
            <a:off x="4476750" y="3609975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Directly model costed matching and capacity constraints.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94131D-B10F-4AA6-B57D-7BE7054ABBE3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2571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2E49B4-4245-4008-A56A-F4DAD495E236}"/>
              </a:ext>
            </a:extLst>
          </p:cNvPr>
          <p:cNvSpPr>
            <a:spLocks noGrp="1"/>
          </p:cNvSpPr>
          <p:nvPr/>
        </p:nvSpPr>
        <p:spPr>
          <a:xfrm>
            <a:off x="6953250" y="3609975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Abstract allocation models omit road-network ETA detail.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334B89-59D4-4242-9C95-9127EC47374F}"/>
              </a:ext>
            </a:extLst>
          </p:cNvPr>
          <p:cNvSpPr>
            <a:spLocks noGrp="1"/>
          </p:cNvSpPr>
          <p:nvPr/>
        </p:nvSpPr>
        <p:spPr>
          <a:xfrm>
            <a:off x="9448800" y="3543300"/>
            <a:ext cx="20574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6B2D47-000C-4B28-A8C8-7C3D0E490705}"/>
              </a:ext>
            </a:extLst>
          </p:cNvPr>
          <p:cNvSpPr>
            <a:spLocks noGrp="1"/>
          </p:cNvSpPr>
          <p:nvPr/>
        </p:nvSpPr>
        <p:spPr>
          <a:xfrm>
            <a:off x="9525000" y="3609975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Rider–order cost and capacity layer.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AD0B50B-202D-4E4E-8F22-90C9D143C1C9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90500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C2E923-D56B-4ACD-A6D9-D11D433B13CD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752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[8]</a:t>
            </a:r>
          </a:p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Dynamic vehicle assignment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379A68-CF1F-488F-BD71-7CBA36D0C14D}"/>
              </a:ext>
            </a:extLst>
          </p:cNvPr>
          <p:cNvSpPr>
            <a:spLocks noGrp="1"/>
          </p:cNvSpPr>
          <p:nvPr/>
        </p:nvSpPr>
        <p:spPr>
          <a:xfrm>
            <a:off x="2590800" y="4324350"/>
            <a:ext cx="180975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3A42E4-BE6C-4906-BB6A-3568E9125B8E}"/>
              </a:ext>
            </a:extLst>
          </p:cNvPr>
          <p:cNvSpPr>
            <a:spLocks noGrp="1"/>
          </p:cNvSpPr>
          <p:nvPr/>
        </p:nvSpPr>
        <p:spPr>
          <a:xfrm>
            <a:off x="2667000" y="4391025"/>
            <a:ext cx="1657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Graph + constrained optimization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E788FAC-3DEE-4E54-8F9F-3617DF82CC82}"/>
              </a:ext>
            </a:extLst>
          </p:cNvPr>
          <p:cNvSpPr>
            <a:spLocks noGrp="1"/>
          </p:cNvSpPr>
          <p:nvPr/>
        </p:nvSpPr>
        <p:spPr>
          <a:xfrm>
            <a:off x="4400550" y="4324350"/>
            <a:ext cx="247650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67E8FD-A477-4755-9635-B633359E01CA}"/>
              </a:ext>
            </a:extLst>
          </p:cNvPr>
          <p:cNvSpPr>
            <a:spLocks noGrp="1"/>
          </p:cNvSpPr>
          <p:nvPr/>
        </p:nvSpPr>
        <p:spPr>
          <a:xfrm>
            <a:off x="4476750" y="4391025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Jointly responds to live demand, locations, and capacity.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24ED799-88D0-4278-960C-BF9521FCDB1E}"/>
              </a:ext>
            </a:extLst>
          </p:cNvPr>
          <p:cNvSpPr>
            <a:spLocks noGrp="1"/>
          </p:cNvSpPr>
          <p:nvPr/>
        </p:nvSpPr>
        <p:spPr>
          <a:xfrm>
            <a:off x="6877050" y="4324350"/>
            <a:ext cx="257175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AE95FC-6D71-4CD3-8FC7-3DC753089AD9}"/>
              </a:ext>
            </a:extLst>
          </p:cNvPr>
          <p:cNvSpPr>
            <a:spLocks noGrp="1"/>
          </p:cNvSpPr>
          <p:nvPr/>
        </p:nvSpPr>
        <p:spPr>
          <a:xfrm>
            <a:off x="6953250" y="4391025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Different mobility domain; integrated solutions are complex.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C46000-B0C0-4F3E-B017-B988F8B5EE9D}"/>
              </a:ext>
            </a:extLst>
          </p:cNvPr>
          <p:cNvSpPr>
            <a:spLocks noGrp="1"/>
          </p:cNvSpPr>
          <p:nvPr/>
        </p:nvSpPr>
        <p:spPr>
          <a:xfrm>
            <a:off x="9448800" y="4324350"/>
            <a:ext cx="2057400" cy="781050"/>
          </a:xfrm>
          <a:prstGeom prst="rect">
            <a:avLst/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8193F8-DB49-4C8C-A133-F127F21AB68D}"/>
              </a:ext>
            </a:extLst>
          </p:cNvPr>
          <p:cNvSpPr>
            <a:spLocks noGrp="1"/>
          </p:cNvSpPr>
          <p:nvPr/>
        </p:nvSpPr>
        <p:spPr>
          <a:xfrm>
            <a:off x="9525000" y="4391025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Evidence for an integrated, re-optimizable framework.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875E07-6416-4E6E-A608-79E419C82322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Synthesis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FE09C99-6EB5-49C5-9D84-FAF609128C3D}"/>
              </a:ext>
            </a:extLst>
          </p:cNvPr>
          <p:cNvSpPr>
            <a:spLocks noGrp="1"/>
          </p:cNvSpPr>
          <p:nvPr/>
        </p:nvSpPr>
        <p:spPr>
          <a:xfrm>
            <a:off x="685800" y="5743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F40FF9-FA92-49F8-8007-A63468445C60}"/>
              </a:ext>
            </a:extLst>
          </p:cNvPr>
          <p:cNvSpPr>
            <a:spLocks noGrp="1"/>
          </p:cNvSpPr>
          <p:nvPr/>
        </p:nvSpPr>
        <p:spPr>
          <a:xfrm>
            <a:off x="857250" y="5676900"/>
            <a:ext cx="4781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Existing studies demonstrate that graph-based routing is essential for location-aware decisions.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78F42CA-C445-4ABC-899C-D757F5D30E07}"/>
              </a:ext>
            </a:extLst>
          </p:cNvPr>
          <p:cNvSpPr>
            <a:spLocks noGrp="1"/>
          </p:cNvSpPr>
          <p:nvPr/>
        </p:nvSpPr>
        <p:spPr>
          <a:xfrm>
            <a:off x="6057900" y="5743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57D270F-BCE9-4B4B-8F83-F648EEAED3C1}"/>
              </a:ext>
            </a:extLst>
          </p:cNvPr>
          <p:cNvSpPr>
            <a:spLocks noGrp="1"/>
          </p:cNvSpPr>
          <p:nvPr/>
        </p:nvSpPr>
        <p:spPr>
          <a:xfrm>
            <a:off x="6229350" y="5676900"/>
            <a:ext cx="4781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However, exact optimization can become expensive as dynamic orders and feasible assignments grow.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39D76E4-5A1D-4882-82CC-F8224C4F2470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 w="0">
            <a:noFill/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30A0431-7B73-44B8-A635-ABFF55B9DF08}"/>
              </a:ext>
            </a:extLst>
          </p:cNvPr>
          <p:cNvSpPr>
            <a:spLocks noGrp="1"/>
          </p:cNvSpPr>
          <p:nvPr/>
        </p:nvSpPr>
        <p:spPr>
          <a:xfrm>
            <a:off x="857250" y="6038850"/>
            <a:ext cx="4781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Most approaches specialize in routing or allocation; these findings suggest combining layers while keeping scalable heuristics.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28888BA-A23F-4534-9519-F6FE0EB88E28}"/>
              </a:ext>
            </a:extLst>
          </p:cNvPr>
          <p:cNvSpPr>
            <a:spLocks noGrp="1"/>
          </p:cNvSpPr>
          <p:nvPr/>
        </p:nvSpPr>
        <p:spPr>
          <a:xfrm>
            <a:off x="6057900" y="6105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 w="0">
            <a:noFill/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BDBB08-DD57-4707-8392-7A4F0BE4CAEC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4781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Therefore, ETA should be derived from the selected optimized route, plus contextual factors—not distance alone.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59A04B5-3C71-41A9-B9DF-AE766FB28A8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277"/>
                </a:solidFill>
              </a:defRPr>
            </a:pPr>
            <a:r>
              <a:rPr sz="900" b="0">
                <a:solidFill>
                  <a:srgbClr val="526277"/>
                </a:solidFill>
              </a:rPr>
              <a:t>Food Delivery Route Optimization  •  Review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CBC55AE-BFFA-4B5B-8823-FDB4BAB0A233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277"/>
                </a:solidFill>
              </a:defRPr>
            </a:pPr>
            <a:r>
              <a:rPr sz="900" b="1">
                <a:solidFill>
                  <a:srgbClr val="52627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02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3CA410FA-2E48-4A4A-A1C3-309474E8AF4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EVIDENCE-LINKED GAPS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93214A-6A44-49D9-9513-377EABE5537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2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Research gaps identified from literature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2364AC-114B-48DF-81A8-1BF413D34DAA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A limitation in a paper becomes a project gap only when multiple findings point to a missing capability.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2455C6-610E-460A-9436-770EEAEBD2B7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A8F90B-93A2-4918-8230-F65D9641AE30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1219200"/>
          </a:xfrm>
          <a:prstGeom prst="roundRect">
            <a:avLst>
              <a:gd name="adj" fmla="val 9375"/>
            </a:avLst>
          </a:prstGeom>
          <a:solidFill>
            <a:srgbClr val="F4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1A4C5-4689-4E94-B0D1-1FB5A95F378F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590550" cy="12192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B382AB-9AC8-4A78-A90E-8E9D653E85B7}"/>
              </a:ext>
            </a:extLst>
          </p:cNvPr>
          <p:cNvSpPr>
            <a:spLocks noGrp="1"/>
          </p:cNvSpPr>
          <p:nvPr/>
        </p:nvSpPr>
        <p:spPr>
          <a:xfrm>
            <a:off x="752475" y="2066925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GAP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22960E-3512-4187-BDDF-7ECC71FD4B63}"/>
              </a:ext>
            </a:extLst>
          </p:cNvPr>
          <p:cNvSpPr>
            <a:spLocks noGrp="1"/>
          </p:cNvSpPr>
          <p:nvPr/>
        </p:nvSpPr>
        <p:spPr>
          <a:xfrm>
            <a:off x="1466850" y="18288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Existing 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257B88-449D-438F-A1EE-5EB50BFDC220}"/>
              </a:ext>
            </a:extLst>
          </p:cNvPr>
          <p:cNvSpPr>
            <a:spLocks noGrp="1"/>
          </p:cNvSpPr>
          <p:nvPr/>
        </p:nvSpPr>
        <p:spPr>
          <a:xfrm>
            <a:off x="1466850" y="20383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[3], [4] prioritize dynamic routing / location decisions.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3F971E-690B-4FBD-85DB-34673301C693}"/>
              </a:ext>
            </a:extLst>
          </p:cNvPr>
          <p:cNvSpPr>
            <a:spLocks noGrp="1"/>
          </p:cNvSpPr>
          <p:nvPr/>
        </p:nvSpPr>
        <p:spPr>
          <a:xfrm>
            <a:off x="3733800" y="21907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DBE0B-F524-47BE-B75C-BE43A36A0945}"/>
              </a:ext>
            </a:extLst>
          </p:cNvPr>
          <p:cNvSpPr>
            <a:spLocks noGrp="1"/>
          </p:cNvSpPr>
          <p:nvPr/>
        </p:nvSpPr>
        <p:spPr>
          <a:xfrm>
            <a:off x="3981450" y="18288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Observed limitation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B1D372-7517-40BC-8B72-E8AC7E5AA8B1}"/>
              </a:ext>
            </a:extLst>
          </p:cNvPr>
          <p:cNvSpPr>
            <a:spLocks noGrp="1"/>
          </p:cNvSpPr>
          <p:nvPr/>
        </p:nvSpPr>
        <p:spPr>
          <a:xfrm>
            <a:off x="3981450" y="20383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Rider–order assignment is not the central integrated decision.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4C6D49-ADB8-42D5-9E73-4461D49E9794}"/>
              </a:ext>
            </a:extLst>
          </p:cNvPr>
          <p:cNvSpPr>
            <a:spLocks noGrp="1"/>
          </p:cNvSpPr>
          <p:nvPr/>
        </p:nvSpPr>
        <p:spPr>
          <a:xfrm>
            <a:off x="6248400" y="21907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6DC30A-3735-4EDA-9606-60A78F35C46D}"/>
              </a:ext>
            </a:extLst>
          </p:cNvPr>
          <p:cNvSpPr>
            <a:spLocks noGrp="1"/>
          </p:cNvSpPr>
          <p:nvPr/>
        </p:nvSpPr>
        <p:spPr>
          <a:xfrm>
            <a:off x="6496050" y="18288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Research gap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49E970-CDDF-4E6A-BC84-41852E048A1B}"/>
              </a:ext>
            </a:extLst>
          </p:cNvPr>
          <p:cNvSpPr>
            <a:spLocks noGrp="1"/>
          </p:cNvSpPr>
          <p:nvPr/>
        </p:nvSpPr>
        <p:spPr>
          <a:xfrm>
            <a:off x="6496050" y="20383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Need for a unified assignment + routing pipeline.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F2B49E-B402-4DF7-B288-5486109196C6}"/>
              </a:ext>
            </a:extLst>
          </p:cNvPr>
          <p:cNvSpPr>
            <a:spLocks noGrp="1"/>
          </p:cNvSpPr>
          <p:nvPr/>
        </p:nvSpPr>
        <p:spPr>
          <a:xfrm>
            <a:off x="8763000" y="21907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4BCFCB-D194-4594-B468-0C16A561175B}"/>
              </a:ext>
            </a:extLst>
          </p:cNvPr>
          <p:cNvSpPr>
            <a:spLocks noGrp="1"/>
          </p:cNvSpPr>
          <p:nvPr/>
        </p:nvSpPr>
        <p:spPr>
          <a:xfrm>
            <a:off x="9010650" y="18288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Proposed direction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873E06-1B3A-479D-A826-5908E60568A1}"/>
              </a:ext>
            </a:extLst>
          </p:cNvPr>
          <p:cNvSpPr>
            <a:spLocks noGrp="1"/>
          </p:cNvSpPr>
          <p:nvPr/>
        </p:nvSpPr>
        <p:spPr>
          <a:xfrm>
            <a:off x="9010650" y="20383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Use matching and assignment before route selection.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9C17B3-BECD-4345-A772-B24D1814033C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10820400" cy="1219200"/>
          </a:xfrm>
          <a:prstGeom prst="roundRect">
            <a:avLst>
              <a:gd name="adj" fmla="val 9375"/>
            </a:avLst>
          </a:prstGeom>
          <a:solidFill>
            <a:srgbClr val="E7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9B32C1-5465-48F3-8249-9F64B8812ECE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590550" cy="12192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031780-B98F-4049-9B06-37463EC4F3B5}"/>
              </a:ext>
            </a:extLst>
          </p:cNvPr>
          <p:cNvSpPr>
            <a:spLocks noGrp="1"/>
          </p:cNvSpPr>
          <p:nvPr/>
        </p:nvSpPr>
        <p:spPr>
          <a:xfrm>
            <a:off x="752475" y="3476625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GAP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706765-5574-4C8C-8B70-2038E9343784}"/>
              </a:ext>
            </a:extLst>
          </p:cNvPr>
          <p:cNvSpPr>
            <a:spLocks noGrp="1"/>
          </p:cNvSpPr>
          <p:nvPr/>
        </p:nvSpPr>
        <p:spPr>
          <a:xfrm>
            <a:off x="1466850" y="32385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Existing research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022B61-97B3-4481-B804-0137EA7348DF}"/>
              </a:ext>
            </a:extLst>
          </p:cNvPr>
          <p:cNvSpPr>
            <a:spLocks noGrp="1"/>
          </p:cNvSpPr>
          <p:nvPr/>
        </p:nvSpPr>
        <p:spPr>
          <a:xfrm>
            <a:off x="1466850" y="34480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[5]–[7] model assignment and capacity.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AE667B-3E15-45DB-81A3-416917478080}"/>
              </a:ext>
            </a:extLst>
          </p:cNvPr>
          <p:cNvSpPr>
            <a:spLocks noGrp="1"/>
          </p:cNvSpPr>
          <p:nvPr/>
        </p:nvSpPr>
        <p:spPr>
          <a:xfrm>
            <a:off x="3733800" y="36004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B797CF-D664-4F0A-B8BF-6BC79BABF3BD}"/>
              </a:ext>
            </a:extLst>
          </p:cNvPr>
          <p:cNvSpPr>
            <a:spLocks noGrp="1"/>
          </p:cNvSpPr>
          <p:nvPr/>
        </p:nvSpPr>
        <p:spPr>
          <a:xfrm>
            <a:off x="3981450" y="32385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Observed limitation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C75396-7344-43ED-8A80-DC13947D3963}"/>
              </a:ext>
            </a:extLst>
          </p:cNvPr>
          <p:cNvSpPr>
            <a:spLocks noGrp="1"/>
          </p:cNvSpPr>
          <p:nvPr/>
        </p:nvSpPr>
        <p:spPr>
          <a:xfrm>
            <a:off x="3981450" y="34480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Road-network routing and ETA details are abstracted.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E3AB98-AF96-4364-A481-9222949A0E04}"/>
              </a:ext>
            </a:extLst>
          </p:cNvPr>
          <p:cNvSpPr>
            <a:spLocks noGrp="1"/>
          </p:cNvSpPr>
          <p:nvPr/>
        </p:nvSpPr>
        <p:spPr>
          <a:xfrm>
            <a:off x="6248400" y="36004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E84C6E-0D41-4F8F-8C35-568EF0CF6020}"/>
              </a:ext>
            </a:extLst>
          </p:cNvPr>
          <p:cNvSpPr>
            <a:spLocks noGrp="1"/>
          </p:cNvSpPr>
          <p:nvPr/>
        </p:nvSpPr>
        <p:spPr>
          <a:xfrm>
            <a:off x="6496050" y="32385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Research gap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AB175E-07AD-459B-A01A-9644CD2DABEE}"/>
              </a:ext>
            </a:extLst>
          </p:cNvPr>
          <p:cNvSpPr>
            <a:spLocks noGrp="1"/>
          </p:cNvSpPr>
          <p:nvPr/>
        </p:nvSpPr>
        <p:spPr>
          <a:xfrm>
            <a:off x="6496050" y="34480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Need to connect allocation cost with route-derived delivery time.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3BA99E-9235-4388-B33D-B42564C72313}"/>
              </a:ext>
            </a:extLst>
          </p:cNvPr>
          <p:cNvSpPr>
            <a:spLocks noGrp="1"/>
          </p:cNvSpPr>
          <p:nvPr/>
        </p:nvSpPr>
        <p:spPr>
          <a:xfrm>
            <a:off x="8763000" y="36004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D56682-6343-46F4-99D9-9E4E69859DF6}"/>
              </a:ext>
            </a:extLst>
          </p:cNvPr>
          <p:cNvSpPr>
            <a:spLocks noGrp="1"/>
          </p:cNvSpPr>
          <p:nvPr/>
        </p:nvSpPr>
        <p:spPr>
          <a:xfrm>
            <a:off x="9010650" y="32385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Proposed direction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42737E-FCCC-4A25-8F46-2EF91DF04D55}"/>
              </a:ext>
            </a:extLst>
          </p:cNvPr>
          <p:cNvSpPr>
            <a:spLocks noGrp="1"/>
          </p:cNvSpPr>
          <p:nvPr/>
        </p:nvSpPr>
        <p:spPr>
          <a:xfrm>
            <a:off x="9010650" y="34480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Build costs from weighted-graph distance / travel time.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33F1055-F016-4DB1-8C53-082B113A548B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219200"/>
          </a:xfrm>
          <a:prstGeom prst="roundRect">
            <a:avLst>
              <a:gd name="adj" fmla="val 9375"/>
            </a:avLst>
          </a:prstGeom>
          <a:solidFill>
            <a:srgbClr val="F4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2A7590-0A26-41C8-A51A-7081B5D3EF5E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590550" cy="121920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F07DD0-C81E-4700-8150-BA82BBE9C7F6}"/>
              </a:ext>
            </a:extLst>
          </p:cNvPr>
          <p:cNvSpPr>
            <a:spLocks noGrp="1"/>
          </p:cNvSpPr>
          <p:nvPr/>
        </p:nvSpPr>
        <p:spPr>
          <a:xfrm>
            <a:off x="752475" y="4886325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GAP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40EF31-D6C0-498F-88D4-90655CA7A352}"/>
              </a:ext>
            </a:extLst>
          </p:cNvPr>
          <p:cNvSpPr>
            <a:spLocks noGrp="1"/>
          </p:cNvSpPr>
          <p:nvPr/>
        </p:nvSpPr>
        <p:spPr>
          <a:xfrm>
            <a:off x="1466850" y="46482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Existing research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EDE875-DCA9-473E-961F-1FDDB8C0504E}"/>
              </a:ext>
            </a:extLst>
          </p:cNvPr>
          <p:cNvSpPr>
            <a:spLocks noGrp="1"/>
          </p:cNvSpPr>
          <p:nvPr/>
        </p:nvSpPr>
        <p:spPr>
          <a:xfrm>
            <a:off x="1466850" y="48577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[3], [7], [8] use heuristics or approximation in dynamic/large settings.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FFC966-169B-4483-A923-6EF20E1B333F}"/>
              </a:ext>
            </a:extLst>
          </p:cNvPr>
          <p:cNvSpPr>
            <a:spLocks noGrp="1"/>
          </p:cNvSpPr>
          <p:nvPr/>
        </p:nvSpPr>
        <p:spPr>
          <a:xfrm>
            <a:off x="3733800" y="50101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78594F-47E5-4C98-A017-6C4DA2BBF96A}"/>
              </a:ext>
            </a:extLst>
          </p:cNvPr>
          <p:cNvSpPr>
            <a:spLocks noGrp="1"/>
          </p:cNvSpPr>
          <p:nvPr/>
        </p:nvSpPr>
        <p:spPr>
          <a:xfrm>
            <a:off x="3981450" y="46482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Observed limitation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0F6DC3-8BE4-4131-921A-65C01D62A853}"/>
              </a:ext>
            </a:extLst>
          </p:cNvPr>
          <p:cNvSpPr>
            <a:spLocks noGrp="1"/>
          </p:cNvSpPr>
          <p:nvPr/>
        </p:nvSpPr>
        <p:spPr>
          <a:xfrm>
            <a:off x="3981450" y="48577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Exact, continuously re-optimized decisions can be costly.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AF7566-EADA-4F3E-9A0D-8CF5D0B884C0}"/>
              </a:ext>
            </a:extLst>
          </p:cNvPr>
          <p:cNvSpPr>
            <a:spLocks noGrp="1"/>
          </p:cNvSpPr>
          <p:nvPr/>
        </p:nvSpPr>
        <p:spPr>
          <a:xfrm>
            <a:off x="6248400" y="50101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EF230F-DCCF-4092-B392-4B8DAF2BE40C}"/>
              </a:ext>
            </a:extLst>
          </p:cNvPr>
          <p:cNvSpPr>
            <a:spLocks noGrp="1"/>
          </p:cNvSpPr>
          <p:nvPr/>
        </p:nvSpPr>
        <p:spPr>
          <a:xfrm>
            <a:off x="6496050" y="46482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Research gap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7831E2-A121-4340-9716-7817AA972299}"/>
              </a:ext>
            </a:extLst>
          </p:cNvPr>
          <p:cNvSpPr>
            <a:spLocks noGrp="1"/>
          </p:cNvSpPr>
          <p:nvPr/>
        </p:nvSpPr>
        <p:spPr>
          <a:xfrm>
            <a:off x="6496050" y="48577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Need for a scalable educational algorithmic workflow.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1BFC65-7598-41DA-97B6-FCB9D93E22F1}"/>
              </a:ext>
            </a:extLst>
          </p:cNvPr>
          <p:cNvSpPr>
            <a:spLocks noGrp="1"/>
          </p:cNvSpPr>
          <p:nvPr/>
        </p:nvSpPr>
        <p:spPr>
          <a:xfrm>
            <a:off x="8763000" y="50101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043011-832C-483A-B122-D00D298E7B98}"/>
              </a:ext>
            </a:extLst>
          </p:cNvPr>
          <p:cNvSpPr>
            <a:spLocks noGrp="1"/>
          </p:cNvSpPr>
          <p:nvPr/>
        </p:nvSpPr>
        <p:spPr>
          <a:xfrm>
            <a:off x="9010650" y="46482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Proposed direction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0A5EF7-18EB-43B2-BCAB-3BC3ECA434C5}"/>
              </a:ext>
            </a:extLst>
          </p:cNvPr>
          <p:cNvSpPr>
            <a:spLocks noGrp="1"/>
          </p:cNvSpPr>
          <p:nvPr/>
        </p:nvSpPr>
        <p:spPr>
          <a:xfrm>
            <a:off x="9010650" y="48577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Use TSP approximation and randomized tie-breaking when needed.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FA8610-4D4C-470A-9CB7-C07FB186A3B8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26277"/>
                </a:solidFill>
              </a:defRPr>
            </a:pPr>
            <a:r>
              <a:rPr sz="1200" b="1">
                <a:solidFill>
                  <a:srgbClr val="526277"/>
                </a:solidFill>
              </a:rPr>
              <a:t>Limitation = scope constraint of one study.  Gap = recurring missing capability revealed across studies.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6862E0-A1A7-4F6C-A1AD-B7F42B41F7D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277"/>
                </a:solidFill>
              </a:defRPr>
            </a:pPr>
            <a:r>
              <a:rPr sz="900" b="0">
                <a:solidFill>
                  <a:srgbClr val="526277"/>
                </a:solidFill>
              </a:rPr>
              <a:t>Food Delivery Route Optimization  •  Review 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4D2A73-9418-4C37-BB6A-6BD528D276A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277"/>
                </a:solidFill>
              </a:defRPr>
            </a:pPr>
            <a:r>
              <a:rPr sz="900" b="1">
                <a:solidFill>
                  <a:srgbClr val="52627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113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26394464-7253-4C56-887A-B08F9CDD643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PLANNED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C07583-4849-4211-8C00-0D682DC558A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2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Proposed approach based on literature gaps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E99A78-3166-42CA-8999-5CAB94CD5D4C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An integrated DSA-based framework is proposed; implementation is planned, not claimed complete.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1626C-D797-48AC-B044-3DC0EFBB85A2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67CC1B-612E-4789-A499-3F82258CFF0E}"/>
              </a:ext>
            </a:extLst>
          </p:cNvPr>
          <p:cNvSpPr>
            <a:spLocks noGrp="1"/>
          </p:cNvSpPr>
          <p:nvPr/>
        </p:nvSpPr>
        <p:spPr>
          <a:xfrm>
            <a:off x="2209800" y="20669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E0EEA1-7E15-430C-8DB0-4462C0A1D27D}"/>
              </a:ext>
            </a:extLst>
          </p:cNvPr>
          <p:cNvSpPr>
            <a:spLocks noGrp="1"/>
          </p:cNvSpPr>
          <p:nvPr/>
        </p:nvSpPr>
        <p:spPr>
          <a:xfrm>
            <a:off x="3952875" y="20669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E571B-E388-4325-A703-7699FA3CBAF5}"/>
              </a:ext>
            </a:extLst>
          </p:cNvPr>
          <p:cNvSpPr>
            <a:spLocks noGrp="1"/>
          </p:cNvSpPr>
          <p:nvPr/>
        </p:nvSpPr>
        <p:spPr>
          <a:xfrm>
            <a:off x="5791200" y="20669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0AB6C1-65C8-4FA0-9500-003FF7D5C9D1}"/>
              </a:ext>
            </a:extLst>
          </p:cNvPr>
          <p:cNvSpPr>
            <a:spLocks noGrp="1"/>
          </p:cNvSpPr>
          <p:nvPr/>
        </p:nvSpPr>
        <p:spPr>
          <a:xfrm>
            <a:off x="7724775" y="20669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F58B20-3312-413B-8E45-AE656CE48033}"/>
              </a:ext>
            </a:extLst>
          </p:cNvPr>
          <p:cNvSpPr>
            <a:spLocks noGrp="1"/>
          </p:cNvSpPr>
          <p:nvPr/>
        </p:nvSpPr>
        <p:spPr>
          <a:xfrm>
            <a:off x="8848725" y="24574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8A34A6-455C-4DB6-937A-490F54801348}"/>
              </a:ext>
            </a:extLst>
          </p:cNvPr>
          <p:cNvSpPr>
            <a:spLocks noGrp="1"/>
          </p:cNvSpPr>
          <p:nvPr/>
        </p:nvSpPr>
        <p:spPr>
          <a:xfrm>
            <a:off x="3952875" y="32861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CE9FD9-FE35-42DB-9911-B6A66BA658F0}"/>
              </a:ext>
            </a:extLst>
          </p:cNvPr>
          <p:cNvSpPr>
            <a:spLocks noGrp="1"/>
          </p:cNvSpPr>
          <p:nvPr/>
        </p:nvSpPr>
        <p:spPr>
          <a:xfrm>
            <a:off x="5791200" y="32861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BF7C3-C92A-4AE3-AD9A-18B00C905D80}"/>
              </a:ext>
            </a:extLst>
          </p:cNvPr>
          <p:cNvSpPr>
            <a:spLocks noGrp="1"/>
          </p:cNvSpPr>
          <p:nvPr/>
        </p:nvSpPr>
        <p:spPr>
          <a:xfrm>
            <a:off x="7724775" y="32861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1E5675-CC32-411F-B2BD-48973F82B8B4}"/>
              </a:ext>
            </a:extLst>
          </p:cNvPr>
          <p:cNvSpPr>
            <a:spLocks noGrp="1"/>
          </p:cNvSpPr>
          <p:nvPr/>
        </p:nvSpPr>
        <p:spPr>
          <a:xfrm>
            <a:off x="8782050" y="25717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A936EB-2018-44FA-B473-906BE87357CD}"/>
              </a:ext>
            </a:extLst>
          </p:cNvPr>
          <p:cNvSpPr>
            <a:spLocks noGrp="1"/>
          </p:cNvSpPr>
          <p:nvPr/>
        </p:nvSpPr>
        <p:spPr>
          <a:xfrm>
            <a:off x="3162300" y="25717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79009"/>
                </a:solidFill>
              </a:defRPr>
            </a:pPr>
            <a:r>
              <a:rPr sz="1500" b="1">
                <a:solidFill>
                  <a:srgbClr val="F79009"/>
                </a:solidFill>
              </a:rPr>
              <a:t>↓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2D34CC-DA8D-4084-B0C6-86CAABEFE12B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E7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AA5C77-F85A-43E0-B371-570558BDF650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66675" cy="59055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66975-50AD-4ABB-ADFA-B9F05D5B4375}"/>
              </a:ext>
            </a:extLst>
          </p:cNvPr>
          <p:cNvSpPr>
            <a:spLocks noGrp="1"/>
          </p:cNvSpPr>
          <p:nvPr/>
        </p:nvSpPr>
        <p:spPr>
          <a:xfrm>
            <a:off x="857250" y="1990725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Orders + riders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73D1F1-E581-407E-A6DF-7E39D11162F5}"/>
              </a:ext>
            </a:extLst>
          </p:cNvPr>
          <p:cNvSpPr>
            <a:spLocks noGrp="1"/>
          </p:cNvSpPr>
          <p:nvPr/>
        </p:nvSpPr>
        <p:spPr>
          <a:xfrm>
            <a:off x="2571750" y="1866900"/>
            <a:ext cx="1381125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19C9312-36F0-41C2-B3EE-682AEF5162A4}"/>
              </a:ext>
            </a:extLst>
          </p:cNvPr>
          <p:cNvSpPr>
            <a:spLocks noGrp="1"/>
          </p:cNvSpPr>
          <p:nvPr/>
        </p:nvSpPr>
        <p:spPr>
          <a:xfrm>
            <a:off x="2571750" y="1866900"/>
            <a:ext cx="66675" cy="59055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B7EFD6-23BC-4D91-9459-E9EB66DBACEE}"/>
              </a:ext>
            </a:extLst>
          </p:cNvPr>
          <p:cNvSpPr>
            <a:spLocks noGrp="1"/>
          </p:cNvSpPr>
          <p:nvPr/>
        </p:nvSpPr>
        <p:spPr>
          <a:xfrm>
            <a:off x="2743200" y="1990725"/>
            <a:ext cx="1114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Bipartite</a:t>
            </a:r>
          </a:p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matching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FDCDB2-EC6F-49D5-BF7C-4D7A0CEC0C43}"/>
              </a:ext>
            </a:extLst>
          </p:cNvPr>
          <p:cNvSpPr>
            <a:spLocks noGrp="1"/>
          </p:cNvSpPr>
          <p:nvPr/>
        </p:nvSpPr>
        <p:spPr>
          <a:xfrm>
            <a:off x="4314825" y="1866900"/>
            <a:ext cx="1476375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406191-0894-478B-A62D-B00CEDBE525B}"/>
              </a:ext>
            </a:extLst>
          </p:cNvPr>
          <p:cNvSpPr>
            <a:spLocks noGrp="1"/>
          </p:cNvSpPr>
          <p:nvPr/>
        </p:nvSpPr>
        <p:spPr>
          <a:xfrm>
            <a:off x="4314825" y="1866900"/>
            <a:ext cx="66675" cy="59055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2DF2E5-62F4-4E53-A110-8BFB26A037A4}"/>
              </a:ext>
            </a:extLst>
          </p:cNvPr>
          <p:cNvSpPr>
            <a:spLocks noGrp="1"/>
          </p:cNvSpPr>
          <p:nvPr/>
        </p:nvSpPr>
        <p:spPr>
          <a:xfrm>
            <a:off x="4486275" y="1990725"/>
            <a:ext cx="1209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Assignment</a:t>
            </a:r>
          </a:p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optimization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274F55-AF6E-4E53-A973-ABE7DC851A55}"/>
              </a:ext>
            </a:extLst>
          </p:cNvPr>
          <p:cNvSpPr>
            <a:spLocks noGrp="1"/>
          </p:cNvSpPr>
          <p:nvPr/>
        </p:nvSpPr>
        <p:spPr>
          <a:xfrm>
            <a:off x="6153150" y="1866900"/>
            <a:ext cx="1571625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9F81742-6C39-4C4C-9688-D1102618A88A}"/>
              </a:ext>
            </a:extLst>
          </p:cNvPr>
          <p:cNvSpPr>
            <a:spLocks noGrp="1"/>
          </p:cNvSpPr>
          <p:nvPr/>
        </p:nvSpPr>
        <p:spPr>
          <a:xfrm>
            <a:off x="6153150" y="1866900"/>
            <a:ext cx="66675" cy="59055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C5940A-92A3-40FA-8134-BCEB9FA984CF}"/>
              </a:ext>
            </a:extLst>
          </p:cNvPr>
          <p:cNvSpPr>
            <a:spLocks noGrp="1"/>
          </p:cNvSpPr>
          <p:nvPr/>
        </p:nvSpPr>
        <p:spPr>
          <a:xfrm>
            <a:off x="6324600" y="1990725"/>
            <a:ext cx="13049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Rider allocation</a:t>
            </a:r>
          </a:p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(network flow)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41E7603-A99F-4EF1-B8DE-1C2030D86D0A}"/>
              </a:ext>
            </a:extLst>
          </p:cNvPr>
          <p:cNvSpPr>
            <a:spLocks noGrp="1"/>
          </p:cNvSpPr>
          <p:nvPr/>
        </p:nvSpPr>
        <p:spPr>
          <a:xfrm>
            <a:off x="8086725" y="186690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E7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933F2DA-2EBC-4925-9139-219FF2C888A4}"/>
              </a:ext>
            </a:extLst>
          </p:cNvPr>
          <p:cNvSpPr>
            <a:spLocks noGrp="1"/>
          </p:cNvSpPr>
          <p:nvPr/>
        </p:nvSpPr>
        <p:spPr>
          <a:xfrm>
            <a:off x="8086725" y="1866900"/>
            <a:ext cx="66675" cy="59055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DD638B-D1C9-42DF-A29A-F5EC7CD5A30E}"/>
              </a:ext>
            </a:extLst>
          </p:cNvPr>
          <p:cNvSpPr>
            <a:spLocks noGrp="1"/>
          </p:cNvSpPr>
          <p:nvPr/>
        </p:nvSpPr>
        <p:spPr>
          <a:xfrm>
            <a:off x="8258175" y="1990725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Road / location</a:t>
            </a:r>
          </a:p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graph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A989527-12C3-4A0A-A7A5-6829FA0453F2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1381125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5895D53-91B0-4768-BBCA-2AEB50152025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66675" cy="59055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7C13D3-F10E-49EF-8911-F8EBE40B1C25}"/>
              </a:ext>
            </a:extLst>
          </p:cNvPr>
          <p:cNvSpPr>
            <a:spLocks noGrp="1"/>
          </p:cNvSpPr>
          <p:nvPr/>
        </p:nvSpPr>
        <p:spPr>
          <a:xfrm>
            <a:off x="2743200" y="3209925"/>
            <a:ext cx="1114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Dijkstra / TSP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6710445-1F99-4418-AB5D-4467D7C4EA4D}"/>
              </a:ext>
            </a:extLst>
          </p:cNvPr>
          <p:cNvSpPr>
            <a:spLocks noGrp="1"/>
          </p:cNvSpPr>
          <p:nvPr/>
        </p:nvSpPr>
        <p:spPr>
          <a:xfrm>
            <a:off x="4314825" y="3086100"/>
            <a:ext cx="1476375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92697C-B6B0-4BFC-8058-69D7815C7947}"/>
              </a:ext>
            </a:extLst>
          </p:cNvPr>
          <p:cNvSpPr>
            <a:spLocks noGrp="1"/>
          </p:cNvSpPr>
          <p:nvPr/>
        </p:nvSpPr>
        <p:spPr>
          <a:xfrm>
            <a:off x="4314825" y="3086100"/>
            <a:ext cx="66675" cy="59055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B7E0B0-3F2F-44D3-B7F4-95452CB2A775}"/>
              </a:ext>
            </a:extLst>
          </p:cNvPr>
          <p:cNvSpPr>
            <a:spLocks noGrp="1"/>
          </p:cNvSpPr>
          <p:nvPr/>
        </p:nvSpPr>
        <p:spPr>
          <a:xfrm>
            <a:off x="4486275" y="3209925"/>
            <a:ext cx="1209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Approximation for</a:t>
            </a:r>
          </a:p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large routes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FCE9F8C-E147-4E54-87A3-87FA860D2C26}"/>
              </a:ext>
            </a:extLst>
          </p:cNvPr>
          <p:cNvSpPr>
            <a:spLocks noGrp="1"/>
          </p:cNvSpPr>
          <p:nvPr/>
        </p:nvSpPr>
        <p:spPr>
          <a:xfrm>
            <a:off x="6153150" y="3086100"/>
            <a:ext cx="1571625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45E45AB-6280-4893-8512-DF9D281E0C60}"/>
              </a:ext>
            </a:extLst>
          </p:cNvPr>
          <p:cNvSpPr>
            <a:spLocks noGrp="1"/>
          </p:cNvSpPr>
          <p:nvPr/>
        </p:nvSpPr>
        <p:spPr>
          <a:xfrm>
            <a:off x="6153150" y="3086100"/>
            <a:ext cx="66675" cy="59055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D0A5392-6E29-42AB-94A8-37AA2E0B3C7C}"/>
              </a:ext>
            </a:extLst>
          </p:cNvPr>
          <p:cNvSpPr>
            <a:spLocks noGrp="1"/>
          </p:cNvSpPr>
          <p:nvPr/>
        </p:nvSpPr>
        <p:spPr>
          <a:xfrm>
            <a:off x="6324600" y="3209925"/>
            <a:ext cx="13049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ETA calculation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0EAF32F-D7A0-4C84-AAA3-AE9B179775EE}"/>
              </a:ext>
            </a:extLst>
          </p:cNvPr>
          <p:cNvSpPr>
            <a:spLocks noGrp="1"/>
          </p:cNvSpPr>
          <p:nvPr/>
        </p:nvSpPr>
        <p:spPr>
          <a:xfrm>
            <a:off x="8086725" y="308610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FFF4E5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CBBA5EE-6A3B-498F-91CB-80D86CACFF5E}"/>
              </a:ext>
            </a:extLst>
          </p:cNvPr>
          <p:cNvSpPr>
            <a:spLocks noGrp="1"/>
          </p:cNvSpPr>
          <p:nvPr/>
        </p:nvSpPr>
        <p:spPr>
          <a:xfrm>
            <a:off x="8086725" y="3086100"/>
            <a:ext cx="66675" cy="59055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8C4722-C0B3-47F5-93B6-1DC0C53C3D04}"/>
              </a:ext>
            </a:extLst>
          </p:cNvPr>
          <p:cNvSpPr>
            <a:spLocks noGrp="1"/>
          </p:cNvSpPr>
          <p:nvPr/>
        </p:nvSpPr>
        <p:spPr>
          <a:xfrm>
            <a:off x="8258175" y="3209925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Optimized</a:t>
            </a:r>
          </a:p>
          <a:p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delivery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902F0B8-D05A-4CD6-9BD0-A88EA0BFAE0B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8204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F4D2C2-31A5-4180-95C3-9EE3116DA2E5}"/>
              </a:ext>
            </a:extLst>
          </p:cNvPr>
          <p:cNvSpPr>
            <a:spLocks noGrp="1"/>
          </p:cNvSpPr>
          <p:nvPr/>
        </p:nvSpPr>
        <p:spPr>
          <a:xfrm>
            <a:off x="895350" y="45910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Planned contribution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36354EB-1D32-423B-8570-CCD1AEEFFFD9}"/>
              </a:ext>
            </a:extLst>
          </p:cNvPr>
          <p:cNvSpPr>
            <a:spLocks noGrp="1"/>
          </p:cNvSpPr>
          <p:nvPr/>
        </p:nvSpPr>
        <p:spPr>
          <a:xfrm>
            <a:off x="895350" y="5038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F99F85-758F-47EE-A171-5F9E148067E0}"/>
              </a:ext>
            </a:extLst>
          </p:cNvPr>
          <p:cNvSpPr>
            <a:spLocks noGrp="1"/>
          </p:cNvSpPr>
          <p:nvPr/>
        </p:nvSpPr>
        <p:spPr>
          <a:xfrm>
            <a:off x="1066800" y="4972050"/>
            <a:ext cx="982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1. Integrate feasible matching, cost-aware assignment, and capacity checks.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93EA147-8F46-4E79-A361-D4E2B8E34049}"/>
              </a:ext>
            </a:extLst>
          </p:cNvPr>
          <p:cNvSpPr>
            <a:spLocks noGrp="1"/>
          </p:cNvSpPr>
          <p:nvPr/>
        </p:nvSpPr>
        <p:spPr>
          <a:xfrm>
            <a:off x="895350" y="5248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E7C4C2-BD27-413C-8F66-781BA00BD4CE}"/>
              </a:ext>
            </a:extLst>
          </p:cNvPr>
          <p:cNvSpPr>
            <a:spLocks noGrp="1"/>
          </p:cNvSpPr>
          <p:nvPr/>
        </p:nvSpPr>
        <p:spPr>
          <a:xfrm>
            <a:off x="1066800" y="5181600"/>
            <a:ext cx="982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2. Use weighted graphs and Dijkstra for point-to-point route information.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E6DD1AF-41CA-45E3-AAF2-86F2060DCB3D}"/>
              </a:ext>
            </a:extLst>
          </p:cNvPr>
          <p:cNvSpPr>
            <a:spLocks noGrp="1"/>
          </p:cNvSpPr>
          <p:nvPr/>
        </p:nvSpPr>
        <p:spPr>
          <a:xfrm>
            <a:off x="895350" y="5457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BF36408-1901-4FC9-8EEE-4791CD4B2E9C}"/>
              </a:ext>
            </a:extLst>
          </p:cNvPr>
          <p:cNvSpPr>
            <a:spLocks noGrp="1"/>
          </p:cNvSpPr>
          <p:nvPr/>
        </p:nvSpPr>
        <p:spPr>
          <a:xfrm>
            <a:off x="1066800" y="5391150"/>
            <a:ext cx="982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3. Use TSP for multi-stop routing; use approximation for larger instances.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645C35F-B3FD-455F-B3F9-0AA3D98DF710}"/>
              </a:ext>
            </a:extLst>
          </p:cNvPr>
          <p:cNvSpPr>
            <a:spLocks noGrp="1"/>
          </p:cNvSpPr>
          <p:nvPr/>
        </p:nvSpPr>
        <p:spPr>
          <a:xfrm>
            <a:off x="895350" y="5667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55BC5C-F0CF-4CF2-A4AC-F032DA5A52A5}"/>
              </a:ext>
            </a:extLst>
          </p:cNvPr>
          <p:cNvSpPr>
            <a:spLocks noGrp="1"/>
          </p:cNvSpPr>
          <p:nvPr/>
        </p:nvSpPr>
        <p:spPr>
          <a:xfrm>
            <a:off x="1066800" y="5600700"/>
            <a:ext cx="982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4. Use randomized selection only when riders have similar suitability.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7805B8F-E1AD-4339-9EEB-ABA61A9B6601}"/>
              </a:ext>
            </a:extLst>
          </p:cNvPr>
          <p:cNvSpPr>
            <a:spLocks noGrp="1"/>
          </p:cNvSpPr>
          <p:nvPr/>
        </p:nvSpPr>
        <p:spPr>
          <a:xfrm>
            <a:off x="895350" y="5876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 w="0">
            <a:noFill/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43F8AE6-2E04-4D15-81B6-11530441B6E3}"/>
              </a:ext>
            </a:extLst>
          </p:cNvPr>
          <p:cNvSpPr>
            <a:spLocks noGrp="1"/>
          </p:cNvSpPr>
          <p:nvPr/>
        </p:nvSpPr>
        <p:spPr>
          <a:xfrm>
            <a:off x="1066800" y="5810250"/>
            <a:ext cx="982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5. Derive ETA from optimized route distance/travel time + speed, traffic factor, and restaurant preparation time.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D1B44A2-37B1-4F9F-AB04-7ECC6119CE4D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Based on the reviewed literature, our project proposes an integrated DSA-based framework for food delivery assignment, route optimization, rider allocation and ETA estimation.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535F695-066A-484F-86EA-0E83507330B8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277"/>
                </a:solidFill>
              </a:defRPr>
            </a:pPr>
            <a:r>
              <a:rPr sz="900" b="0">
                <a:solidFill>
                  <a:srgbClr val="526277"/>
                </a:solidFill>
              </a:rPr>
              <a:t>Food Delivery Route Optimization  •  Review 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CF1C84-C6A5-48AC-9966-599A7A3B7936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277"/>
                </a:solidFill>
              </a:defRPr>
            </a:pPr>
            <a:r>
              <a:rPr sz="900" b="1">
                <a:solidFill>
                  <a:srgbClr val="52627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9326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8C2302A-0EB2-47A7-9692-BA68F304176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TRACEABILITY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913206-5627-436D-B90D-28695FE2314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2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A3D451-5549-4D5E-873D-04D207072EAC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7"/>
                </a:solidFill>
              </a:defRPr>
            </a:pPr>
            <a:r>
              <a:rPr sz="1275" b="0">
                <a:solidFill>
                  <a:srgbClr val="526277"/>
                </a:solidFill>
              </a:rPr>
              <a:t>All citations used in Slides 3–6 correspond to the sources below.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CE683E-24DC-437A-B4F6-928BF4D7F406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00B8D9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760C92-622F-4D8C-A976-52BCD61286D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105400" cy="838200"/>
          </a:xfrm>
          <a:prstGeom prst="roundRect">
            <a:avLst>
              <a:gd name="adj" fmla="val 13636"/>
            </a:avLst>
          </a:prstGeom>
          <a:solidFill>
            <a:srgbClr val="F4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69D442-223F-405A-9419-AD18AB707F55}"/>
              </a:ext>
            </a:extLst>
          </p:cNvPr>
          <p:cNvSpPr>
            <a:spLocks noGrp="1"/>
          </p:cNvSpPr>
          <p:nvPr/>
        </p:nvSpPr>
        <p:spPr>
          <a:xfrm>
            <a:off x="819150" y="1819275"/>
            <a:ext cx="4838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[1] E. W. Dijkstra, “A note on two problems in connexion with graphs,” Numerische Mathematik, vol. 1, pp. 269–271, 1959. doi: 10.1007/BF01386390.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367A8B-9472-43F7-AA0A-4D23833EC1B2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5105400" cy="838200"/>
          </a:xfrm>
          <a:prstGeom prst="roundRect">
            <a:avLst>
              <a:gd name="adj" fmla="val 13636"/>
            </a:avLst>
          </a:prstGeom>
          <a:solidFill>
            <a:srgbClr val="FBFCFE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7B4F0C-DF49-4B62-8683-A05AFE14DD00}"/>
              </a:ext>
            </a:extLst>
          </p:cNvPr>
          <p:cNvSpPr>
            <a:spLocks noGrp="1"/>
          </p:cNvSpPr>
          <p:nvPr/>
        </p:nvSpPr>
        <p:spPr>
          <a:xfrm>
            <a:off x="819150" y="2828925"/>
            <a:ext cx="4838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[2] G. B. Dantzig and J. H. Ramser, “The truck dispatching problem,” Management Science, vol. 6, no. 1, pp. 80–91, 1959. doi: 10.1287/mnsc.6.1.80.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984093-499B-42D9-BAEC-5F4C9996C162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5105400" cy="838200"/>
          </a:xfrm>
          <a:prstGeom prst="roundRect">
            <a:avLst>
              <a:gd name="adj" fmla="val 13636"/>
            </a:avLst>
          </a:prstGeom>
          <a:solidFill>
            <a:srgbClr val="F4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5D5752-4803-48E3-8C2E-9F70C0FF3E06}"/>
              </a:ext>
            </a:extLst>
          </p:cNvPr>
          <p:cNvSpPr>
            <a:spLocks noGrp="1"/>
          </p:cNvSpPr>
          <p:nvPr/>
        </p:nvSpPr>
        <p:spPr>
          <a:xfrm>
            <a:off x="819150" y="3838575"/>
            <a:ext cx="4838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[3] Z. Steever, M. Karwan, and C. Murray, “Dynamic courier routing for a food delivery service,” Computers &amp; Operations Research, vol. 107, pp. 173–188, 2019. doi: 10.1016/j.cor.2019.03.008.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DD3BD6-3BE8-4057-A989-156002C2FDDA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5105400" cy="838200"/>
          </a:xfrm>
          <a:prstGeom prst="roundRect">
            <a:avLst>
              <a:gd name="adj" fmla="val 13636"/>
            </a:avLst>
          </a:prstGeom>
          <a:solidFill>
            <a:srgbClr val="FBFCFE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D2C813-BD8C-4EAF-BE99-965A0793ECEC}"/>
              </a:ext>
            </a:extLst>
          </p:cNvPr>
          <p:cNvSpPr>
            <a:spLocks noGrp="1"/>
          </p:cNvSpPr>
          <p:nvPr/>
        </p:nvSpPr>
        <p:spPr>
          <a:xfrm>
            <a:off x="819150" y="4848225"/>
            <a:ext cx="4838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[4] D. Reyes, M. Savelsbergh, and A. Toriello, “Vehicle routing with roaming delivery locations,” Transportation Research Part C: Emerging Technologies, vol. 91, pp. 148–162, 2018. doi: 10.1016/j.trc.2018.03.015.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9E063C-8C78-4658-9A8E-E11E89E80BC9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5105400" cy="838200"/>
          </a:xfrm>
          <a:prstGeom prst="roundRect">
            <a:avLst>
              <a:gd name="adj" fmla="val 13636"/>
            </a:avLst>
          </a:prstGeom>
          <a:solidFill>
            <a:srgbClr val="F4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6D4F31-719F-4A64-A3DF-F97B8EF8C99B}"/>
              </a:ext>
            </a:extLst>
          </p:cNvPr>
          <p:cNvSpPr>
            <a:spLocks noGrp="1"/>
          </p:cNvSpPr>
          <p:nvPr/>
        </p:nvSpPr>
        <p:spPr>
          <a:xfrm>
            <a:off x="6229350" y="1819275"/>
            <a:ext cx="4838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[5] H. W. Kuhn, “The Hungarian method for the assignment problem,” Naval Research Logistics Quarterly, vol. 2, no. 1–2, pp. 83–97, 1955. doi: 10.1002/nav.3800020109.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9AA56D-ACE1-486E-98B9-1230AED19BFA}"/>
              </a:ext>
            </a:extLst>
          </p:cNvPr>
          <p:cNvSpPr>
            <a:spLocks noGrp="1"/>
          </p:cNvSpPr>
          <p:nvPr/>
        </p:nvSpPr>
        <p:spPr>
          <a:xfrm>
            <a:off x="6096000" y="2724150"/>
            <a:ext cx="5105400" cy="838200"/>
          </a:xfrm>
          <a:prstGeom prst="roundRect">
            <a:avLst>
              <a:gd name="adj" fmla="val 13636"/>
            </a:avLst>
          </a:prstGeom>
          <a:solidFill>
            <a:srgbClr val="FBFCFE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AD4278-7406-4AD7-A58D-12BC6D493FDD}"/>
              </a:ext>
            </a:extLst>
          </p:cNvPr>
          <p:cNvSpPr>
            <a:spLocks noGrp="1"/>
          </p:cNvSpPr>
          <p:nvPr/>
        </p:nvSpPr>
        <p:spPr>
          <a:xfrm>
            <a:off x="6229350" y="2828925"/>
            <a:ext cx="4838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[6] L. R. Ford Jr. and D. R. Fulkerson, “Maximal flow through a network,” Canadian Journal of Mathematics, vol. 8, pp. 399–404, 1956. doi: 10.4153/CJM-1956-030-1.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098FBC-B1D5-4489-BA30-BB810740C431}"/>
              </a:ext>
            </a:extLst>
          </p:cNvPr>
          <p:cNvSpPr>
            <a:spLocks noGrp="1"/>
          </p:cNvSpPr>
          <p:nvPr/>
        </p:nvSpPr>
        <p:spPr>
          <a:xfrm>
            <a:off x="6096000" y="3733800"/>
            <a:ext cx="5105400" cy="838200"/>
          </a:xfrm>
          <a:prstGeom prst="roundRect">
            <a:avLst>
              <a:gd name="adj" fmla="val 13636"/>
            </a:avLst>
          </a:prstGeom>
          <a:solidFill>
            <a:srgbClr val="F4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2CE064-5D8F-4799-8CA1-B9CB6D8F32C7}"/>
              </a:ext>
            </a:extLst>
          </p:cNvPr>
          <p:cNvSpPr>
            <a:spLocks noGrp="1"/>
          </p:cNvSpPr>
          <p:nvPr/>
        </p:nvSpPr>
        <p:spPr>
          <a:xfrm>
            <a:off x="6229350" y="3838575"/>
            <a:ext cx="4838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[7] D. B. Shmoys and É. Tardos, “An approximation algorithm for the generalized assignment problem,” Mathematical Programming, vol. 62, pp. 461–474, 1993. doi: 10.1007/BF01585178.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1D0F172-3A4B-4CC0-A778-0A934278A6C0}"/>
              </a:ext>
            </a:extLst>
          </p:cNvPr>
          <p:cNvSpPr>
            <a:spLocks noGrp="1"/>
          </p:cNvSpPr>
          <p:nvPr/>
        </p:nvSpPr>
        <p:spPr>
          <a:xfrm>
            <a:off x="6096000" y="4743450"/>
            <a:ext cx="5105400" cy="838200"/>
          </a:xfrm>
          <a:prstGeom prst="roundRect">
            <a:avLst>
              <a:gd name="adj" fmla="val 13636"/>
            </a:avLst>
          </a:prstGeom>
          <a:solidFill>
            <a:srgbClr val="FBFCFE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06BC62-BF94-4332-87C8-294BA5119136}"/>
              </a:ext>
            </a:extLst>
          </p:cNvPr>
          <p:cNvSpPr>
            <a:spLocks noGrp="1"/>
          </p:cNvSpPr>
          <p:nvPr/>
        </p:nvSpPr>
        <p:spPr>
          <a:xfrm>
            <a:off x="6229350" y="4848225"/>
            <a:ext cx="4838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[8] J. Alonso-Mora, S. Samaranayake, A. Wallar, E. Frazzoli, and D. Rus, “On-demand high-capacity ride-sharing via dynamic trip-vehicle assignment,” Proceedings of the National Academy of Sciences, vol. 114, no. 3, pp. 462–467, 2017. doi: 10.1073/pnas.1611675114.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C75994-05DA-4505-B701-A8A0D52A21E9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26277"/>
                </a:solidFill>
              </a:defRPr>
            </a:pPr>
            <a:r>
              <a:rPr sz="1200" b="1">
                <a:solidFill>
                  <a:srgbClr val="526277"/>
                </a:solidFill>
              </a:rPr>
              <a:t>Reference selection balances foundational DSA works with traceable last-mile / dynamic assignment applications.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E00E68-C656-4AFC-A2DE-3DBAB720F7B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277"/>
                </a:solidFill>
              </a:defRPr>
            </a:pPr>
            <a:r>
              <a:rPr sz="900" b="0">
                <a:solidFill>
                  <a:srgbClr val="526277"/>
                </a:solidFill>
              </a:rPr>
              <a:t>Food Delivery Route Optimization  •  Review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FC51C8-AB11-41C0-A25C-7D66C8A7BDC8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277"/>
                </a:solidFill>
              </a:defRPr>
            </a:pPr>
            <a:r>
              <a:rPr sz="900" b="1">
                <a:solidFill>
                  <a:srgbClr val="52627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54195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3165</Words>
  <Application>Microsoft Office PowerPoint</Application>
  <DocSecurity>0</DocSecurity>
  <PresentationFormat>Widescreen</PresentationFormat>
  <Paragraphs>362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Anirudh Sista</cp:lastModifiedBy>
  <cp:revision>1</cp:revision>
  <dcterms:created xsi:type="dcterms:W3CDTF">2026-08-18T05:27:36Z</dcterms:created>
  <dcterms:modified xsi:type="dcterms:W3CDTF">2026-08-18T05:37:28Z</dcterms:modified>
</cp:coreProperties>
</file>