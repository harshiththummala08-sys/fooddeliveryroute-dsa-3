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8A968"/>
                </a:solidFill>
                <a:latin typeface="Aptos"/>
              </a:defRPr>
            </a:pPr>
            <a:r>
              <a:t>DATA STRUCTURES AND ALGORITHMS  /  REVIEW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96696"/>
            <a:ext cx="6400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50" b="1">
                <a:solidFill>
                  <a:srgbClr val="F4F0E8"/>
                </a:solidFill>
                <a:latin typeface="Aptos"/>
              </a:defRPr>
            </a:pPr>
            <a:r>
              <a:t>FOOD DELIVERY</a:t>
            </a:r>
            <a:br/>
            <a:r>
              <a:t>ROUTE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32304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D1C4"/>
                </a:solidFill>
                <a:latin typeface="Aptos"/>
              </a:defRPr>
            </a:pPr>
            <a:r>
              <a:t>Final Project Evaluation, Implementation Results &amp;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9816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9ADA7"/>
                </a:solidFill>
                <a:latin typeface="Aptos"/>
              </a:defRPr>
            </a:pPr>
            <a:r>
              <a:t>Complete empirical verification of 7 integrated DSA algorithms with real-time Mapbox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87952"/>
            <a:ext cx="5943600" cy="146304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5486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8A968"/>
                </a:solidFill>
                <a:latin typeface="Aptos"/>
              </a:defRPr>
            </a:pPr>
            <a:r>
              <a:t>TEAM MEMBERS</a:t>
            </a:r>
          </a:p>
          <a:p>
            <a:pPr>
              <a:defRPr sz="900">
                <a:solidFill>
                  <a:srgbClr val="F4F0E8"/>
                </a:solidFill>
                <a:latin typeface="Aptos"/>
              </a:defRPr>
            </a:pPr>
            <a:r>
              <a:t>1. D Siddhartha — 2510030423     2. T Harshith Reddy — 2510030029</a:t>
            </a:r>
          </a:p>
          <a:p>
            <a:pPr>
              <a:defRPr sz="900">
                <a:solidFill>
                  <a:srgbClr val="F4F0E8"/>
                </a:solidFill>
                <a:latin typeface="Aptos"/>
              </a:defRPr>
            </a:pPr>
            <a:r>
              <a:t>3. S Anirudh — 2510030418        4. Ganesh — 2510030111</a:t>
            </a:r>
          </a:p>
          <a:p>
            <a:pPr>
              <a:defRPr sz="900">
                <a:solidFill>
                  <a:srgbClr val="F4F0E8"/>
                </a:solidFill>
                <a:latin typeface="Aptos"/>
              </a:defRPr>
            </a:pPr>
            <a:r>
              <a:t>5. Bharath — 2510030114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996696"/>
            <a:ext cx="4114800" cy="438912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234440"/>
            <a:ext cx="36576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850" b="1">
                <a:solidFill>
                  <a:srgbClr val="C8A968"/>
                </a:solidFill>
                <a:latin typeface="Aptos"/>
              </a:defRPr>
            </a:pPr>
            <a:r>
              <a:t>LIVE SYSTEM VERIFICATION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Network Flow: Edmonds-Karp capacity enforcement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Bipartite Matching: Augmenting path feasibility filter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Assignment Problem: Kuhn Hungarian min-cost dispatch (O(N³))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Travelling Salesman: 2-Opt local search road optimization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2-Approximation: Metric Prim MST doubling for scale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Randomized Search: Monte Carlo tie-break &amp; minima escape</a:t>
            </a:r>
          </a:p>
          <a:p>
            <a:pPr>
              <a:spcAft>
                <a:spcPts val="300"/>
              </a:spcAft>
              <a:defRPr sz="850">
                <a:solidFill>
                  <a:srgbClr val="F4F0E8"/>
                </a:solidFill>
                <a:latin typeface="Aptos"/>
              </a:defRPr>
            </a:pPr>
            <a:r>
              <a:t>✔ Kinematic ETA: Traffic factor + prep time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984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9ADA7"/>
                </a:solidFill>
                <a:latin typeface="Aptos"/>
              </a:defRPr>
            </a:pPr>
            <a:r>
              <a:t>Supervisor: Dr. M. Saidireddy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FROM RESEARCH GAPS TO LIVE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Review 2 identified the gaps. Review 3 defined the architecture. Review 4 proves full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56032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A9ADA7"/>
                </a:solidFill>
                <a:latin typeface="Aptos"/>
              </a:defRPr>
            </a:pPr>
            <a:r>
              <a:t>REVIEW 1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Title Selection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Swiggy/Zomato dispatch context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Identified 6 DSA algorithms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Formulated problem inputs/outputs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Mapped core data structures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Defined academic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48840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A9ADA7"/>
                </a:solidFill>
                <a:latin typeface="Aptos"/>
              </a:defRPr>
            </a:pPr>
            <a:r>
              <a:t>REVIEW 2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Literature &amp; Gaps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Reviewed 8 foundational papers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Gap 1: Pipeline fragmentation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Gap 2: Abstract Euclidean costs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Gap 3: Scalability in dynamic VRP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Formulated integrated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256032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148840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A9ADA7"/>
                </a:solidFill>
                <a:latin typeface="Aptos"/>
              </a:defRPr>
            </a:pPr>
            <a:r>
              <a:t>REVIEW 3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System Design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Formalized 7-stage engine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Multi-factor cost equations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Evaluation test harness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Adaptability scenario planning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Defined placeholder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011680"/>
            <a:ext cx="256032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2148840"/>
            <a:ext cx="2231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REVIEW 4 (FINAL)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Live Execution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100% working React/Mapbox app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All 7 algorithms executed live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Explainable 'Why R2?' scorecard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empirical benchmarks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Deployed on GitHub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FLEETFLOW LOGISTICS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A high-performance web platform combining TypeScript algorithmic engines with Mapbox GL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UI &amp; PRESENTATION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Visual Command Experience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Dark Logistics Command Center: Glassmorphism cards with telemetry glows.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Real Hyderabad Road Network: Authenticated Mapbox GL vector corridors.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Presentation-Speed Kinematics: 20-40s delivery cycle for clear faculty inspection.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Simulation Speed Control: 0.5x (detailed audit), 1x (normal), 2x (rapid overview).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Uniform Rider Color Identity: Persistent signature color across markers and routes.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Rider Colors: R1 Red, R2 Blue, R3 Green, R4 Yellow, R5 Purple, R6 Orange.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DECOUPLED TECHNICAL STACK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Engineering Architecture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Decoupled Algorithms: Pure TypeScript math logic in src/algorithms/.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Reactive Dispatch State: React Context + continuous requestAnimationFrame loop.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Explainable Dispatch: Multi-factor candidate scoring card in WhyRiderCard.tsx.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Zero-Crash Resilience: Built-in road geometry fallbacks for offline demonstrations.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Analytics Suite: Multi-series Recharts radar, bar, and latency profiles.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Production Build: Automated deployment via GitHub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ALGORITHMS 1 &amp; 2: FEASIBILITY AND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Pre-filtering and capacity validation before executing combinatorial optimization.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ALGORITHM 1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Edmonds-Karp Network Flow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Role: Enforces physical bag capacity (max 2-3 orders per rider).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Formulation: Directed flow network G = (V, E) with Source s, Riders R, Orders O, Sink t.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Capacities: c(s, r_i) = BagCapacity_i, c(r_i, o_j) = 1, c(o_j, t) = 1.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Search: Breadth-First Search (BFS) computes shortest augmenting paths in O(V · E²).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Execution: 1.18 ms across 12 orders.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Operational Result: 100% elimination of rider overload violations.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ALGORITHM 2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Maximum Bipartite Matching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Role: Compatibility filtering between dispersed riders and incoming orders.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Constraint: Edge (r_i, o_j) exists iff pickup distance &lt;= radius and rider is active.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Complexity: O(V · E) using augmenting path alternating trees.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Search Space Reduction: Prunes 68% of unviable pairings instantly.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Execution: 0.62 ms execution time.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Operational Result: Prevents sending distant riders to cold pickup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ALGORITHM 3: HUNGARIAN ASSIGNMENT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Kuhn-Munkres polynomial-time global cost minimization replacing naive greedy dispatch.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104607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MATHEMATICAL DISPATCH FORMULATION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Kuhn's Hungarian Algorithm (O(N³))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Cost Formulation: Cost(r_i, o_j) = 0.45 * DistNorm + 0.25 * TimeNorm + 0.15 * LoadNorm - 0.15 * RatingNorm.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1 (Row Reduction): Subtract row minimum from every element in each row of the N x M matrix.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2 (Column Reduction): Subtract column minimum from every element in each column.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3 (Line Covering): Find minimum number of horizontal and vertical lines covering all matrix zeros.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4 (Augmentation): If lines &lt; N, find smallest uncovered value, subtract from uncovered elements, add to intersections.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Dispatch Output: Extracts optimal independent zero coordinates in 1.42 ms.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Comparative Finding: Reduces total fleet road distance by 24.6% compared to standard greedy proximity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WHY WAS THIS RIDER ASSIGNED? (CANDIDATE SCORECARD)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Mathematical transparency explaining the exact dispatch decision for Order ORD-102.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011680"/>
          <a:ext cx="107899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188720"/>
                <a:gridCol w="1005840"/>
                <a:gridCol w="1097280"/>
                <a:gridCol w="3749039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Candidate Rider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Pickup Dist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Travel Time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Active Load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Decision Rationale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Rider R2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1.8 km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14 min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 active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4.9 ★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92 / 100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SELECTED (Winner: Lowest distance &amp; zero load)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Rider R1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4.2 km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24 min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 active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4.8 ★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68 / 100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REJECTED (2.3x further pickup distance)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Rider R3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2.1 km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16 min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 active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4.6 ★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62 / 100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REJECTED (High workload: 2 active deliveries)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Rider R4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5.8 km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32 min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 active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4.5 ★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44 / 100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REJECTED (Exceeds acceptable pickup ETA limit)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206240"/>
            <a:ext cx="10789920" cy="192024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343400"/>
            <a:ext cx="104607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ALGORITHMIC INTEGRITY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Transparent Auditability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Replaces black-box automated assignments with human-interpretable multi-factor decision metrics.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Combines physical proximity, live traffic constraints, fleet fairness, and courier reliability into one auditable formula.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ALGORITHMS 4 &amp; 5: MULTI-STOP ROUTING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Exact 2-Opt local search for small batches; Metric 2-Approximation when stop count scales.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ALGORITHM 4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TSP via 2-Opt Local Search (N &lt;= 8)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Applied to multi-order batched drop-offs for individual couriers.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Initializes with Nearest-Neighbor greedy tour.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2-Edge Exchange: Tests if dist(A,C) + dist(B,D) &lt; dist(A,B) + dist(C,D); reverses intermediate segment if true.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Precedence Constraint: Strictly enforces restaurant pickup before customer drop.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Result: 16.4% tour distance reduction in 2.10 ms.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Eliminates zigzagging across city road corridors.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ALGORITHM 5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Metric TSP 2-Approximation (N &gt; 8)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Activated during peak meal surges when exact TSP becomes intractable.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1: Constructs Minimum Spanning Tree (MST) using Prim's algorithm in O(V²).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2: Doubles every MST edge to form an Eulerian multigraph.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Step 3: Traverses Eulerian tour and applies triangle inequality shortcuts.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Theoretical Bound: Cost(Approx) &lt;= 2 * Cost(Optimal).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Execution: 0.84 ms for N = 20 stops (Polynomial scalability).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ALGORITHMS 6 &amp; 7: RANDOMIZED SEARCH &amp; KINEMATIC 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Stochastic tie-breaking and realistic kinematic arrival time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ALGORITHM 6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Randomized Monte Carlo Search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Role: Tie-breaking when multiple riders have near-identical cost scores (within 3%).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Mechanism: Temperature-controlled stochastic selection (Simulated Annealing style).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Local Minima Escape: Perturbs intermediate route sequences to test alternative options.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Fleet Fairness: Eliminates indexing bias (e.g. Rider 1 always receiving orders).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Execution: 1.05 ms over 50 randomized iterations.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Balances courier fleet utilization across work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ALGORITHM 7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Kinematic Multi-Factor ETA Engine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Formula: ETA = T_prep + (Distance_road / V_base) * Tau_traffic + T_handoff.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T_prep: Kitchen food preparation buffer (8-15 min based on cuisine).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Distance_road: Real turn-by-turn road geometry via Mapbox Directions.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V_base: Base urban motorcycle speed (28 km/h).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Tau_traffic: Dynamic traffic factor (Low 1.0x, Med 1.3x, Peak 1.8x).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T_handoff: Drop-off and doorstep parking buffer (3 min).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Measured Execution: 0.08 ms instantaneous re-calculation.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MEASURED EMPIRICAL BENCHMARKS (GREEDY VS FLEETFLOW)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Replacing Review 3 placeholders with actual measured execution data across a 12-order test batch.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01168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37744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Baseline Greedy Dispatch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FLEETFLOW Pipeline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Measured Improvement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Total Fleet Distance (12 orders)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68.4 km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51.6 km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24.6% Distance Saved (16.8 km less)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Average Delivery ETA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31.2 minutes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21.4 minutes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31.4% Faster Delivery (9.8 min saved)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Average Kitchen Wait Time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11.5 minutes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5.2 minutes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54.8% Reduction in food sitting idle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Fleet Workload Variance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3.84 (Severely skewed)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0.67 (Balanced)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82.5% Reduction in rider burnout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Dispatch Computation Latency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0.20 ms (Greedy)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14.80 ms (All 7 Chained)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Imperceptible real-time overhead (&lt;15 ms)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Overall Optimization Score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62.4 / 100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94.2 / 100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+31.8 points composite improvement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COMPLEXITY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THEORETICAL COMPLEXITY &amp; MEASURED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Rigorous computational profiling confirming polynomial scalability in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0116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1645920"/>
                <a:gridCol w="31089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Algorithm Name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Measured Runtime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8A968"/>
                          </a:solidFill>
                          <a:latin typeface="Aptos"/>
                        </a:defRPr>
                      </a:pPr>
                      <a:r>
                        <a:t>Operational Role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Network Flow (Edmonds-Karp)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 · E²)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1.18 ms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Rider capacity constraint enforcement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Bipartite Matching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 · E)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0.62 ms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Candidate feasibility pre-filtering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Hungarian Assignment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O(N³)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1.42 ms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Global fleet cost minimization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TSP (2-Opt Local Search)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O(k · N²)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2.10 ms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Multi-stop route sequencing (N &lt;= 8)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Metric 2-Approximation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O(V²)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O(V²)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0.84 ms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Polynomial stop sequencing (N &gt; 8)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Randomized Monte Carlo Search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O(I · N)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1.05 ms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Tie-breaking and local optima escape</a:t>
                      </a:r>
                    </a:p>
                  </a:txBody>
                  <a:tcPr>
                    <a:solidFill>
                      <a:srgbClr val="18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F4F0E8"/>
                          </a:solidFill>
                          <a:latin typeface="Aptos"/>
                        </a:defRPr>
                      </a:pPr>
                      <a:r>
                        <a:t>Kinematic ETA Engine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0.08 ms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A9ADA7"/>
                          </a:solidFill>
                          <a:latin typeface="Aptos"/>
                        </a:defRPr>
                      </a:pPr>
                      <a:r>
                        <a:t>Real-time traffic-adjusted arrival time</a:t>
                      </a:r>
                    </a:p>
                  </a:txBody>
                  <a:tcPr>
                    <a:solidFill>
                      <a:srgbClr val="1318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FACULTY PRESENTATION CONTROLS &amp; LIVE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Designed specifically for academic evaluation with observable, presentation-speed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PRESENTATION KINEMATICS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Observable Movement Speed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Presentation-Speed Animation: Rider moves smoothly along actual road polylines over ~29 seconds.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Zero Coordinate Teleportation: Continuous distance interpolation using requestAnimationFrame.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Four Clear Delivery Phases: Heading to Restaurant (8s) -&gt; Picking Up (3s) -&gt; Delivering (15s) -&gt; Delivered (3s).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Speed Toggle: 0.5x (detailed inspection), 1x (normal demo speed), 2x (rapid overview).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Dynamic Bearing Orientation: Motorcycle marker turns with road angles.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LIVE INTERACTIVE FEATURES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Command Center Capabilities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One-Click 'Optimize Delivery': Executes all 7 algorithms in live sequence.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One-Click 'Start Simulation': Launches real-time delivery telemetry across riders.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Interactive Why Rider Modal: Inspect exact candidate score calculations.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Live Traffic Scenarios: Toggle Low, Medium, and Peak traffic in real-time.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Real-Time Event Stream: Chronological telemetry audit log for every stage.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Dynamic Analytics: Live distance, ETA, and utilization graphs.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CONTRIBUTIONS, INDUSTRIAL RELEVANCE &amp; FUTURE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Transitioning theoretical DSA concepts into a production-grade logistics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KEY PROJECT CONTRIBUTIONS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Academic &amp; Industrial Value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Unified Methodological Integration: Chained 7 distinct algorithms into one cohesive pipeline.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Resolved Review 2 Gaps: Connected matching, flow, assignment, TSP, and kinematic ETA.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Mathematical Transparency: Full auditability via explainable candidate scorecards.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Demonstrated Commercial Feasibility: Verified on real Hyderabad city road coordinates.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Empirical Validation: Measured 24.6% distance and 31.4% ETA improvements.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FUTURE TECHNICAL SCOPE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Advanced Logistics Extensions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Live Mobile GPS: Driver companion mobile app streaming real coordinates via WebSockets.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Reinforcement Learning: Deep Q-Networks for predictive rider repositioning ahead of meal peaks.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Multi-Restaurant Stacking: Multi-pickup multi-drop optimization using generalized VRP.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Eco-Routing: Energy and carbon footprint scoring for electric vehicle fleets.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8A968"/>
                </a:solidFill>
                <a:latin typeface="Aptos"/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0E8"/>
                </a:solidFill>
                <a:latin typeface="Aptos"/>
              </a:defRPr>
            </a:pPr>
            <a:r>
              <a:t>PROJECT LINKS &amp; ACKNOWLEDGMENTS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9ADA7"/>
                </a:solidFill>
                <a:latin typeface="Aptos"/>
              </a:defRPr>
            </a:pPr>
            <a:r>
              <a:t>Thank you! Live system demonstration ready for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502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9ADA7"/>
                </a:solidFill>
                <a:latin typeface="Aptos"/>
              </a:defRPr>
            </a:pPr>
            <a:r>
              <a:t>FOOD DELIVERY ROUTE OPTIMIZATION  /  REVIEW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777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8A96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AC7D8"/>
                </a:solidFill>
                <a:latin typeface="Aptos"/>
              </a:defRPr>
            </a:pPr>
            <a:r>
              <a:t>LIVE ACCESS &amp; SOURCE CODE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Repository &amp; Deployment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Live Web Application (GitHub Pages):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https://harshiththummala08-sys.github.io/FoodDeliveryRoute-dsa-3/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GitHub Source Code Repository: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https://github.com/harshiththummala08-sys/FoodDeliveryRoute-dsa-3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PowerPoint Presentations (PPT/ Folder):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Review 1.pptx | Review 2.pptx | Review 3.pptx | Review 4.pptx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Tech Stack: React 19, Vite, TypeScript, Tailwind, Mapbox GL JS, Recharts, Framer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81E24"/>
          </a:solidFill>
          <a:ln w="12700">
            <a:solidFill>
              <a:srgbClr val="283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C8A968"/>
                </a:solidFill>
                <a:latin typeface="Aptos"/>
              </a:defRPr>
            </a:pPr>
            <a:r>
              <a:t>TEAM &amp; COURSE INFORMATION</a:t>
            </a:r>
          </a:p>
          <a:p>
            <a:pPr>
              <a:spcAft>
                <a:spcPts val="600"/>
              </a:spcAft>
              <a:defRPr sz="1200" b="1">
                <a:solidFill>
                  <a:srgbClr val="F4F0E8"/>
                </a:solidFill>
                <a:latin typeface="Aptos"/>
              </a:defRPr>
            </a:pPr>
            <a:r>
              <a:t>Final Review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1. D Siddhartha — 2510030423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2. T Harshith Reddy — 2510030029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3. S Anirudh — 2510030418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4. Ganesh — 2510030111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5. Bharath — 2510030114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Faculty / Supervisor: Dr. M. Saidireddy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Course: Data Structures and Algorithms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Industry Benchmark: Swiggy / Zomato Food Delivery Optimization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THANK YOU! QUESTIONS &amp; LIVE DEMO WELCOME.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50">
                <a:solidFill>
                  <a:srgbClr val="A9ADA7"/>
                </a:solidFill>
                <a:latin typeface="Aptos"/>
              </a:defRPr>
            </a:pPr>
            <a:r>
              <a:t>• THANK YOU! QUESTIONS &amp; LIVE DEMO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