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67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7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TO SAY</a:t>
            </a:r>
          </a:p>
          <a:p>
            <a:r>
              <a:t>Introduce the project as Review 3. Explain that the deck moves from the research gap identified in Review 2 to a technical delivery-decision system.</a:t>
            </a:r>
          </a:p>
          <a:p>
            <a:endParaRPr/>
          </a:p>
          <a:p>
            <a:r>
              <a:t>KEY POINT TO EMPHASIZE</a:t>
            </a:r>
          </a:p>
          <a:p>
            <a:r>
              <a:t>The project integrates several DSA layers rather than presenting a routing algorithm alone.</a:t>
            </a:r>
          </a:p>
          <a:p>
            <a:endParaRPr/>
          </a:p>
          <a:p>
            <a:r>
              <a:t>TRANSITION</a:t>
            </a:r>
          </a:p>
          <a:p>
            <a:r>
              <a:t>Start with the continuity from Review 2.</a:t>
            </a:r>
          </a:p>
          <a:p>
            <a:endParaRPr/>
          </a:p>
          <a:p>
            <a:r>
              <a:t>POSSIBLE FACULTY QUESTION</a:t>
            </a:r>
          </a:p>
          <a:p>
            <a:r>
              <a:t>What is different in Review 3?</a:t>
            </a:r>
          </a:p>
          <a:p>
            <a:endParaRPr/>
          </a:p>
          <a:p>
            <a:r>
              <a:t>ONE-LINE ANSWER</a:t>
            </a:r>
          </a:p>
          <a:p>
            <a:r>
              <a:t>Review 3 focuses on developed system design, evidence collection and evaluation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TO SAY</a:t>
            </a:r>
          </a:p>
          <a:p>
            <a:r>
              <a:t>Review 2 established why separate routing and allocation methods leave a gap. Review 3 shows the integrated system that addresses that gap at project level.</a:t>
            </a:r>
          </a:p>
          <a:p>
            <a:endParaRPr/>
          </a:p>
          <a:p>
            <a:r>
              <a:t>KEY POINT TO EMPHASIZE</a:t>
            </a:r>
          </a:p>
          <a:p>
            <a:r>
              <a:t>Continuity does not mean repetition. The focus now is system operation and evaluation.</a:t>
            </a:r>
          </a:p>
          <a:p>
            <a:endParaRPr/>
          </a:p>
          <a:p>
            <a:r>
              <a:t>TRANSITION</a:t>
            </a:r>
          </a:p>
          <a:p>
            <a:r>
              <a:t>The next slide defines the decision problem the system solves.</a:t>
            </a:r>
          </a:p>
          <a:p>
            <a:endParaRPr/>
          </a:p>
          <a:p>
            <a:r>
              <a:t>POSSIBLE FACULTY QUESTION</a:t>
            </a:r>
          </a:p>
          <a:p>
            <a:r>
              <a:t>Are the algorithms different from Review 2?</a:t>
            </a:r>
          </a:p>
          <a:p>
            <a:endParaRPr/>
          </a:p>
          <a:p>
            <a:r>
              <a:t>ONE-LINE ANSWER</a:t>
            </a:r>
          </a:p>
          <a:p>
            <a:r>
              <a:t>No. Review 3 integrates the same proposed algorithm family into one system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TO SAY</a:t>
            </a:r>
          </a:p>
          <a:p>
            <a:r>
              <a:t>Frame food delivery as a linked decision problem. A shortest route is not useful if no suitable rider can serve the order.</a:t>
            </a:r>
          </a:p>
          <a:p>
            <a:endParaRPr/>
          </a:p>
          <a:p>
            <a:r>
              <a:t>KEY POINT TO EMPHASIZE</a:t>
            </a:r>
          </a:p>
          <a:p>
            <a:r>
              <a:t>The output must connect assignment, route and ETA under real constraints.</a:t>
            </a:r>
          </a:p>
          <a:p>
            <a:endParaRPr/>
          </a:p>
          <a:p>
            <a:r>
              <a:t>TRANSITION</a:t>
            </a:r>
          </a:p>
          <a:p>
            <a:r>
              <a:t>The architecture slide shows where each DSA component performs that work.</a:t>
            </a:r>
          </a:p>
          <a:p>
            <a:endParaRPr/>
          </a:p>
          <a:p>
            <a:r>
              <a:t>POSSIBLE FACULTY QUESTION</a:t>
            </a:r>
          </a:p>
          <a:p>
            <a:r>
              <a:t>Why not only use Dijkstra?</a:t>
            </a:r>
          </a:p>
          <a:p>
            <a:endParaRPr/>
          </a:p>
          <a:p>
            <a:r>
              <a:t>ONE-LINE ANSWER</a:t>
            </a:r>
          </a:p>
          <a:p>
            <a:r>
              <a:t>Dijkstra finds a shortest path, but it does not decide rider feasibility, capacity or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TO SAY</a:t>
            </a:r>
          </a:p>
          <a:p>
            <a:r>
              <a:t>Walk through the system from inputs to final delivery plan. Each layer produces information required by the next layer.</a:t>
            </a:r>
          </a:p>
          <a:p>
            <a:endParaRPr/>
          </a:p>
          <a:p>
            <a:r>
              <a:t>KEY POINT TO EMPHASIZE</a:t>
            </a:r>
          </a:p>
          <a:p>
            <a:r>
              <a:t>The methodology’s contribution is the linkage between decision layers.</a:t>
            </a:r>
          </a:p>
          <a:p>
            <a:endParaRPr/>
          </a:p>
          <a:p>
            <a:r>
              <a:t>TRANSITION</a:t>
            </a:r>
          </a:p>
          <a:p>
            <a:r>
              <a:t>The next slide makes that project-level novelty explicit.</a:t>
            </a:r>
          </a:p>
          <a:p>
            <a:endParaRPr/>
          </a:p>
          <a:p>
            <a:r>
              <a:t>POSSIBLE FACULTY QUESTION</a:t>
            </a:r>
          </a:p>
          <a:p>
            <a:r>
              <a:t>Is every layer implemented?</a:t>
            </a:r>
          </a:p>
          <a:p>
            <a:endParaRPr/>
          </a:p>
          <a:p>
            <a:r>
              <a:t>ONE-LINE ANSWER</a:t>
            </a:r>
          </a:p>
          <a:p>
            <a:r>
              <a:t>The architecture reflects the developed methodology. Implementation status must be demonstrated with code and execution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TO SAY</a:t>
            </a:r>
          </a:p>
          <a:p>
            <a:r>
              <a:t>Avoid exaggeration. Each algorithm is established, but the project’s novelty comes from integrating them into an end-to-end decision pipeline for the stated problem.</a:t>
            </a:r>
          </a:p>
          <a:p>
            <a:endParaRPr/>
          </a:p>
          <a:p>
            <a:r>
              <a:t>KEY POINT TO EMPHASIZE</a:t>
            </a:r>
          </a:p>
          <a:p>
            <a:r>
              <a:t>The novelty is methodological integration and the ordering of DSA decisions.</a:t>
            </a:r>
          </a:p>
          <a:p>
            <a:endParaRPr/>
          </a:p>
          <a:p>
            <a:r>
              <a:t>TRANSITION</a:t>
            </a:r>
          </a:p>
          <a:p>
            <a:r>
              <a:t>The next slide maps every component to a concrete system role.</a:t>
            </a:r>
          </a:p>
          <a:p>
            <a:endParaRPr/>
          </a:p>
          <a:p>
            <a:r>
              <a:t>POSSIBLE FACULTY QUESTION</a:t>
            </a:r>
          </a:p>
          <a:p>
            <a:r>
              <a:t>Are you claiming this is globally novel?</a:t>
            </a:r>
          </a:p>
          <a:p>
            <a:endParaRPr/>
          </a:p>
          <a:p>
            <a:r>
              <a:t>ONE-LINE ANSWER</a:t>
            </a:r>
          </a:p>
          <a:p>
            <a:r>
              <a:t>No. We claim a project-level integration of established DSA techniques.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TO SAY</a:t>
            </a:r>
          </a:p>
          <a:p>
            <a:r>
              <a:t>Use this slide to show that the project is DSA-driven rather than a general logistics concept. Each data structure or algorithm exists for a specific system decision.</a:t>
            </a:r>
          </a:p>
          <a:p>
            <a:endParaRPr/>
          </a:p>
          <a:p>
            <a:r>
              <a:t>KEY POINT TO EMPHASIZE</a:t>
            </a:r>
          </a:p>
          <a:p>
            <a:r>
              <a:t>No component appears as a decorative list. Every one produces an output used downstream.</a:t>
            </a:r>
          </a:p>
          <a:p>
            <a:endParaRPr/>
          </a:p>
          <a:p>
            <a:r>
              <a:t>TRANSITION</a:t>
            </a:r>
          </a:p>
          <a:p>
            <a:r>
              <a:t>The next slide traces how those components process a single incoming order.</a:t>
            </a:r>
          </a:p>
          <a:p>
            <a:endParaRPr/>
          </a:p>
          <a:p>
            <a:r>
              <a:t>POSSIBLE FACULTY QUESTION</a:t>
            </a:r>
          </a:p>
          <a:p>
            <a:r>
              <a:t>Why use both matching and assignment?</a:t>
            </a:r>
          </a:p>
          <a:p>
            <a:endParaRPr/>
          </a:p>
          <a:p>
            <a:r>
              <a:t>ONE-LINE ANSWER</a:t>
            </a:r>
          </a:p>
          <a:p>
            <a:r>
              <a:t>Matching filters feasibility first; assignment then optimizes the cost among feasible candidates.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TO SAY</a:t>
            </a:r>
          </a:p>
          <a:p>
            <a:r>
              <a:t>Describe the data flow for one order. Emphasize that the sample is illustrative because no execution result was supplied with this task.</a:t>
            </a:r>
          </a:p>
          <a:p>
            <a:endParaRPr/>
          </a:p>
          <a:p>
            <a:r>
              <a:t>KEY POINT TO EMPHASIZE</a:t>
            </a:r>
          </a:p>
          <a:p>
            <a:r>
              <a:t>The pipeline prevents routing from being treated as an isolated calculation.</a:t>
            </a:r>
          </a:p>
          <a:p>
            <a:endParaRPr/>
          </a:p>
          <a:p>
            <a:r>
              <a:t>TRANSITION</a:t>
            </a:r>
          </a:p>
          <a:p>
            <a:r>
              <a:t>The next slide identifies the evidence needed to demonstrate implementation.</a:t>
            </a:r>
          </a:p>
          <a:p>
            <a:endParaRPr/>
          </a:p>
          <a:p>
            <a:r>
              <a:t>POSSIBLE FACULTY QUESTION</a:t>
            </a:r>
          </a:p>
          <a:p>
            <a:r>
              <a:t>Where are the candidate rider times?</a:t>
            </a:r>
          </a:p>
          <a:p>
            <a:endParaRPr/>
          </a:p>
          <a:p>
            <a:r>
              <a:t>ONE-LINE ANSWER</a:t>
            </a:r>
          </a:p>
          <a:p>
            <a:r>
              <a:t>They should be shown only after the implementation produces them; this deck does not invent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TO SAY</a:t>
            </a:r>
          </a:p>
          <a:p>
            <a:r>
              <a:t>Explain the measurement plan before showing results. Every test case should specify input size, algorithm path, outputs and comparison metric.</a:t>
            </a:r>
          </a:p>
          <a:p>
            <a:endParaRPr/>
          </a:p>
          <a:p>
            <a:r>
              <a:t>KEY POINT TO EMPHASIZE</a:t>
            </a:r>
          </a:p>
          <a:p>
            <a:r>
              <a:t>Evaluation evidence must be reproducible and measured, not inferred from the design.</a:t>
            </a:r>
          </a:p>
          <a:p>
            <a:endParaRPr/>
          </a:p>
          <a:p>
            <a:r>
              <a:t>TRANSITION</a:t>
            </a:r>
          </a:p>
          <a:p>
            <a:r>
              <a:t>The next slide separates a future benchmark from a completed benchmark.</a:t>
            </a:r>
          </a:p>
          <a:p>
            <a:endParaRPr/>
          </a:p>
          <a:p>
            <a:r>
              <a:t>POSSIBLE FACULTY QUESTION</a:t>
            </a:r>
          </a:p>
          <a:p>
            <a:r>
              <a:t>What is the baseline?</a:t>
            </a:r>
          </a:p>
          <a:p>
            <a:endParaRPr/>
          </a:p>
          <a:p>
            <a:r>
              <a:t>ONE-LINE ANSWER</a:t>
            </a:r>
          </a:p>
          <a:p>
            <a:r>
              <a:t>A simple nearest-rider assignment and non-optimized route can serve as a baseline once both methods are implemented.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TO SAY</a:t>
            </a:r>
          </a:p>
          <a:p>
            <a:r>
              <a:t>Describe adaptability as a defined response to a changed operating condition. This prevents the methodology from being a fixed demonstration only.</a:t>
            </a:r>
          </a:p>
          <a:p>
            <a:endParaRPr/>
          </a:p>
          <a:p>
            <a:r>
              <a:t>KEY POINT TO EMPHASIZE</a:t>
            </a:r>
          </a:p>
          <a:p>
            <a:r>
              <a:t>The same pipeline can recompute relevant layers as inputs change.</a:t>
            </a:r>
          </a:p>
          <a:p>
            <a:endParaRPr/>
          </a:p>
          <a:p>
            <a:r>
              <a:t>TRANSITION</a:t>
            </a:r>
          </a:p>
          <a:p>
            <a:r>
              <a:t>The next slide shows when the strategy shifts from small exact instances to larger approximate ones.</a:t>
            </a:r>
          </a:p>
          <a:p>
            <a:endParaRPr/>
          </a:p>
          <a:p>
            <a:r>
              <a:t>POSSIBLE FACULTY QUESTION</a:t>
            </a:r>
          </a:p>
          <a:p>
            <a:r>
              <a:t>How does the method handle traffic?</a:t>
            </a:r>
          </a:p>
          <a:p>
            <a:endParaRPr/>
          </a:p>
          <a:p>
            <a:r>
              <a:t>ONE-LINE ANSWER</a:t>
            </a:r>
          </a:p>
          <a:p>
            <a:r>
              <a:t>Updated road weights feed the graph layer and trigger ETA recalculation.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TO SAY</a:t>
            </a:r>
          </a:p>
          <a:p>
            <a:r>
              <a:t>Explain that scalability is a strategy choice. The project does not claim a tested threshold until experiments determine one.</a:t>
            </a:r>
          </a:p>
          <a:p>
            <a:endParaRPr/>
          </a:p>
          <a:p>
            <a:r>
              <a:t>KEY POINT TO EMPHASIZE</a:t>
            </a:r>
          </a:p>
          <a:p>
            <a:r>
              <a:t>Exact methods suit smaller cases; approximation protects practical response time for larger cases.</a:t>
            </a:r>
          </a:p>
          <a:p>
            <a:endParaRPr/>
          </a:p>
          <a:p>
            <a:r>
              <a:t>TRANSITION</a:t>
            </a:r>
          </a:p>
          <a:p>
            <a:r>
              <a:t>The next slide addresses how the project will be accessible and reproducible.</a:t>
            </a:r>
          </a:p>
          <a:p>
            <a:endParaRPr/>
          </a:p>
          <a:p>
            <a:r>
              <a:t>POSSIBLE FACULTY QUESTION</a:t>
            </a:r>
          </a:p>
          <a:p>
            <a:r>
              <a:t>What size requires approximation?</a:t>
            </a:r>
          </a:p>
          <a:p>
            <a:endParaRPr/>
          </a:p>
          <a:p>
            <a:r>
              <a:t>ONE-LINE ANSWER</a:t>
            </a:r>
          </a:p>
          <a:p>
            <a:r>
              <a:t>That threshold should come from measured runtime and solution-quality experiments.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TO SAY</a:t>
            </a:r>
          </a:p>
          <a:p>
            <a:r>
              <a:t>Close by restating the contribution accurately: integration of established DSA components into a delivery decision pipeline. Then identify future extensions as future work, not completed features.</a:t>
            </a:r>
          </a:p>
          <a:p>
            <a:endParaRPr/>
          </a:p>
          <a:p>
            <a:r>
              <a:t>KEY POINT TO EMPHASIZE</a:t>
            </a:r>
          </a:p>
          <a:p>
            <a:r>
              <a:t>Keep implemented evidence and planned extension claims separate in the final discussion.</a:t>
            </a:r>
          </a:p>
          <a:p>
            <a:endParaRPr/>
          </a:p>
          <a:p>
            <a:r>
              <a:t>TRANSITION</a:t>
            </a:r>
          </a:p>
          <a:p>
            <a:r>
              <a:t>Invite questions.</a:t>
            </a:r>
          </a:p>
          <a:p>
            <a:endParaRPr/>
          </a:p>
          <a:p>
            <a:r>
              <a:t>POSSIBLE FACULTY QUESTION</a:t>
            </a:r>
          </a:p>
          <a:p>
            <a:r>
              <a:t>What is the next step after Review 3?</a:t>
            </a:r>
          </a:p>
          <a:p>
            <a:endParaRPr/>
          </a:p>
          <a:p>
            <a:r>
              <a:t>ONE-LINE ANSWER</a:t>
            </a:r>
          </a:p>
          <a:p>
            <a:r>
              <a:t>Add execution evidence, run controlled benchmarks and publish reproducible project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1AB01ED2-DDD5-46C5-9AC8-15F1C51A60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C8A96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D83B65-7B4C-4C38-BC1E-A7E51BA678A0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4953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8333"/>
          </a:bodyPr>
          <a:lstStyle/>
          <a:p>
            <a:pPr>
              <a:defRPr sz="900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DATA STRUCTURES AND ALGORITHMS  /  REVIEW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4136F4-D2CF-4020-AD91-EDBA09F4F578}"/>
              </a:ext>
            </a:extLst>
          </p:cNvPr>
          <p:cNvSpPr>
            <a:spLocks noGrp="1"/>
          </p:cNvSpPr>
          <p:nvPr/>
        </p:nvSpPr>
        <p:spPr>
          <a:xfrm>
            <a:off x="685800" y="1000125"/>
            <a:ext cx="6191250" cy="1219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315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FOOD DELIVERY</a:t>
            </a:r>
          </a:p>
          <a:p>
            <a:pPr>
              <a:defRPr sz="315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ROUTE OPTIMIZATION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C84C49-17CB-4461-A4C8-290DB4CA8172}"/>
              </a:ext>
            </a:extLst>
          </p:cNvPr>
          <p:cNvSpPr>
            <a:spLocks noGrp="1"/>
          </p:cNvSpPr>
          <p:nvPr/>
        </p:nvSpPr>
        <p:spPr>
          <a:xfrm>
            <a:off x="685800" y="2428875"/>
            <a:ext cx="59055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425" b="0">
                <a:solidFill>
                  <a:srgbClr val="D7D1C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7D1C4"/>
                </a:solidFill>
                <a:latin typeface="Aptos"/>
                <a:ea typeface="Aptos"/>
                <a:cs typeface="Aptos"/>
              </a:rPr>
              <a:t>Integrated DSA Framework for Rider Assignment, Route Optimization &amp; ETA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9CDA54-54C7-4AA1-86A6-ECAADE8EDEE6}"/>
              </a:ext>
            </a:extLst>
          </p:cNvPr>
          <p:cNvSpPr>
            <a:spLocks noGrp="1"/>
          </p:cNvSpPr>
          <p:nvPr/>
        </p:nvSpPr>
        <p:spPr>
          <a:xfrm>
            <a:off x="685800" y="3095625"/>
            <a:ext cx="5191125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050" b="0">
                <a:solidFill>
                  <a:srgbClr val="A9ADA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ADA7"/>
                </a:solidFill>
                <a:latin typeface="Aptos"/>
                <a:ea typeface="Aptos"/>
                <a:cs typeface="Aptos"/>
              </a:rPr>
              <a:t>Project review focused on a developed system design, implementation evidence, evaluation readiness and adaptability.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493CA53-3517-4C69-8D98-47DD475A6737}"/>
              </a:ext>
            </a:extLst>
          </p:cNvPr>
          <p:cNvSpPr>
            <a:spLocks noGrp="1"/>
          </p:cNvSpPr>
          <p:nvPr/>
        </p:nvSpPr>
        <p:spPr>
          <a:xfrm>
            <a:off x="685800" y="4191000"/>
            <a:ext cx="5505450" cy="1447800"/>
          </a:xfrm>
          <a:prstGeom prst="roundRect">
            <a:avLst>
              <a:gd name="adj" fmla="val 5263"/>
            </a:avLst>
          </a:prstGeom>
          <a:solidFill>
            <a:srgbClr val="1A1D1B"/>
          </a:solidFill>
          <a:ln w="9525">
            <a:solidFill>
              <a:srgbClr val="3A403C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42849F-D648-4926-992E-FD0BE59B3332}"/>
              </a:ext>
            </a:extLst>
          </p:cNvPr>
          <p:cNvSpPr>
            <a:spLocks noGrp="1"/>
          </p:cNvSpPr>
          <p:nvPr/>
        </p:nvSpPr>
        <p:spPr>
          <a:xfrm>
            <a:off x="895350" y="4362450"/>
            <a:ext cx="952500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3333"/>
          </a:bodyPr>
          <a:lstStyle/>
          <a:p>
            <a:pPr>
              <a:defRPr sz="750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TEAM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6F926A-3C2D-4F1D-A138-557C3CD6B6A7}"/>
              </a:ext>
            </a:extLst>
          </p:cNvPr>
          <p:cNvSpPr>
            <a:spLocks noGrp="1"/>
          </p:cNvSpPr>
          <p:nvPr/>
        </p:nvSpPr>
        <p:spPr>
          <a:xfrm>
            <a:off x="895350" y="4667250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>
              <a:defRPr sz="900" b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0E8"/>
                </a:solidFill>
                <a:latin typeface="Aptos"/>
                <a:ea typeface="Aptos"/>
                <a:cs typeface="Aptos"/>
              </a:rPr>
              <a:t>D Siddhartha — 2510030423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7A33E3-BAA9-4409-9126-5F0FC5989E12}"/>
              </a:ext>
            </a:extLst>
          </p:cNvPr>
          <p:cNvSpPr>
            <a:spLocks noGrp="1"/>
          </p:cNvSpPr>
          <p:nvPr/>
        </p:nvSpPr>
        <p:spPr>
          <a:xfrm>
            <a:off x="3505200" y="4667250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>
              <a:defRPr sz="900" b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0E8"/>
                </a:solidFill>
                <a:latin typeface="Aptos"/>
                <a:ea typeface="Aptos"/>
                <a:cs typeface="Aptos"/>
              </a:rPr>
              <a:t>T Harshith — 2510030029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14BBA6-0485-4F4C-A86B-9B67C7258C46}"/>
              </a:ext>
            </a:extLst>
          </p:cNvPr>
          <p:cNvSpPr>
            <a:spLocks noGrp="1"/>
          </p:cNvSpPr>
          <p:nvPr/>
        </p:nvSpPr>
        <p:spPr>
          <a:xfrm>
            <a:off x="895350" y="4962525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>
              <a:defRPr sz="900" b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0E8"/>
                </a:solidFill>
                <a:latin typeface="Aptos"/>
                <a:ea typeface="Aptos"/>
                <a:cs typeface="Aptos"/>
              </a:rPr>
              <a:t>S Anirudh — 2510030418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9429BF-CCFF-4A07-A77F-4D2C17F2CE52}"/>
              </a:ext>
            </a:extLst>
          </p:cNvPr>
          <p:cNvSpPr>
            <a:spLocks noGrp="1"/>
          </p:cNvSpPr>
          <p:nvPr/>
        </p:nvSpPr>
        <p:spPr>
          <a:xfrm>
            <a:off x="3505200" y="4962525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>
              <a:defRPr sz="900" b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0E8"/>
                </a:solidFill>
                <a:latin typeface="Aptos"/>
                <a:ea typeface="Aptos"/>
                <a:cs typeface="Aptos"/>
              </a:rPr>
              <a:t>Bharath — 2510030114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1C6553-3B50-44BA-9D7D-4AEDF4F41AE7}"/>
              </a:ext>
            </a:extLst>
          </p:cNvPr>
          <p:cNvSpPr>
            <a:spLocks noGrp="1"/>
          </p:cNvSpPr>
          <p:nvPr/>
        </p:nvSpPr>
        <p:spPr>
          <a:xfrm>
            <a:off x="895350" y="5257800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>
              <a:defRPr sz="900" b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0E8"/>
                </a:solidFill>
                <a:latin typeface="Aptos"/>
                <a:ea typeface="Aptos"/>
                <a:cs typeface="Aptos"/>
              </a:rPr>
              <a:t>Ganesh — 2510030111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27D7ADA-BD3D-4FBB-93B6-725A2907749E}"/>
              </a:ext>
            </a:extLst>
          </p:cNvPr>
          <p:cNvSpPr>
            <a:spLocks noGrp="1"/>
          </p:cNvSpPr>
          <p:nvPr/>
        </p:nvSpPr>
        <p:spPr>
          <a:xfrm>
            <a:off x="7296150" y="1000125"/>
            <a:ext cx="3714750" cy="4095750"/>
          </a:xfrm>
          <a:prstGeom prst="roundRect">
            <a:avLst>
              <a:gd name="adj" fmla="val 2051"/>
            </a:avLst>
          </a:prstGeom>
          <a:solidFill>
            <a:srgbClr val="151817"/>
          </a:solidFill>
          <a:ln w="9525">
            <a:solidFill>
              <a:srgbClr val="8C7440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CA1626-7D5C-4182-9B36-F36CEEE9CBDE}"/>
              </a:ext>
            </a:extLst>
          </p:cNvPr>
          <p:cNvSpPr>
            <a:spLocks noGrp="1"/>
          </p:cNvSpPr>
          <p:nvPr/>
        </p:nvSpPr>
        <p:spPr>
          <a:xfrm>
            <a:off x="7572375" y="1257300"/>
            <a:ext cx="3048000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48485"/>
          </a:bodyPr>
          <a:lstStyle/>
          <a:p>
            <a:pPr>
              <a:defRPr sz="82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DELIVERY DECISION NETWORK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CB2B94E-D22E-45EF-A4C6-471D9586B7AB}"/>
              </a:ext>
            </a:extLst>
          </p:cNvPr>
          <p:cNvSpPr>
            <a:spLocks noGrp="1"/>
          </p:cNvSpPr>
          <p:nvPr/>
        </p:nvSpPr>
        <p:spPr>
          <a:xfrm>
            <a:off x="7867650" y="1943100"/>
            <a:ext cx="304800" cy="30480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86DE3F-6BC7-454E-AF09-0FE5AE1BC53A}"/>
              </a:ext>
            </a:extLst>
          </p:cNvPr>
          <p:cNvSpPr>
            <a:spLocks noGrp="1"/>
          </p:cNvSpPr>
          <p:nvPr/>
        </p:nvSpPr>
        <p:spPr>
          <a:xfrm>
            <a:off x="7524750" y="2343150"/>
            <a:ext cx="9906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0000"/>
          </a:bodyPr>
          <a:lstStyle/>
          <a:p>
            <a:pPr>
              <a:defRPr sz="75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073344E-C9E5-4246-A7F7-406CB3653F3A}"/>
              </a:ext>
            </a:extLst>
          </p:cNvPr>
          <p:cNvSpPr>
            <a:spLocks noGrp="1"/>
          </p:cNvSpPr>
          <p:nvPr/>
        </p:nvSpPr>
        <p:spPr>
          <a:xfrm>
            <a:off x="9848850" y="2466975"/>
            <a:ext cx="304800" cy="304800"/>
          </a:xfrm>
          <a:prstGeom prst="ellipse">
            <a:avLst/>
          </a:prstGeom>
          <a:solidFill>
            <a:srgbClr val="5AC7D8"/>
          </a:solidFill>
          <a:ln w="0">
            <a:solidFill>
              <a:srgbClr val="5AC7D8"/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14B6B-4C6A-4062-B5ED-A545D11EA7A5}"/>
              </a:ext>
            </a:extLst>
          </p:cNvPr>
          <p:cNvSpPr>
            <a:spLocks noGrp="1"/>
          </p:cNvSpPr>
          <p:nvPr/>
        </p:nvSpPr>
        <p:spPr>
          <a:xfrm>
            <a:off x="9505950" y="2867025"/>
            <a:ext cx="9906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0000"/>
          </a:bodyPr>
          <a:lstStyle/>
          <a:p>
            <a:pPr>
              <a:defRPr sz="75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RIDER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C68CCB5-3966-40D8-8997-5A3D6B3CB226}"/>
              </a:ext>
            </a:extLst>
          </p:cNvPr>
          <p:cNvSpPr>
            <a:spLocks noGrp="1"/>
          </p:cNvSpPr>
          <p:nvPr/>
        </p:nvSpPr>
        <p:spPr>
          <a:xfrm>
            <a:off x="8372475" y="3990975"/>
            <a:ext cx="304800" cy="30480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4275CA6-FB4F-4ACF-A0C4-38B32D11EDAC}"/>
              </a:ext>
            </a:extLst>
          </p:cNvPr>
          <p:cNvSpPr>
            <a:spLocks noGrp="1"/>
          </p:cNvSpPr>
          <p:nvPr/>
        </p:nvSpPr>
        <p:spPr>
          <a:xfrm>
            <a:off x="8029575" y="4391025"/>
            <a:ext cx="9906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0000"/>
          </a:bodyPr>
          <a:lstStyle/>
          <a:p>
            <a:pPr>
              <a:defRPr sz="75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CUSTOMER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16B0B9B-FCDA-46A5-9801-43B38630499A}"/>
              </a:ext>
            </a:extLst>
          </p:cNvPr>
          <p:cNvSpPr>
            <a:spLocks noGrp="1"/>
          </p:cNvSpPr>
          <p:nvPr/>
        </p:nvSpPr>
        <p:spPr>
          <a:xfrm>
            <a:off x="9610725" y="4562475"/>
            <a:ext cx="304800" cy="30480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55EE9BC-51B9-454E-A626-8947E19285A7}"/>
              </a:ext>
            </a:extLst>
          </p:cNvPr>
          <p:cNvSpPr>
            <a:spLocks noGrp="1"/>
          </p:cNvSpPr>
          <p:nvPr/>
        </p:nvSpPr>
        <p:spPr>
          <a:xfrm>
            <a:off x="9267825" y="4962525"/>
            <a:ext cx="9906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0000"/>
          </a:bodyPr>
          <a:lstStyle/>
          <a:p>
            <a:pPr>
              <a:defRPr sz="75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ETA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5D0097E6-2686-4A7B-B70A-6A6DDA075B60}"/>
              </a:ext>
            </a:extLst>
          </p:cNvPr>
          <p:cNvSpPr>
            <a:spLocks noGrp="1"/>
          </p:cNvSpPr>
          <p:nvPr/>
        </p:nvSpPr>
        <p:spPr>
          <a:xfrm>
            <a:off x="8172450" y="2152650"/>
            <a:ext cx="1676400" cy="409575"/>
          </a:xfrm>
          <a:prstGeom prst="line">
            <a:avLst/>
          </a:prstGeom>
          <a:noFill/>
          <a:ln w="19050">
            <a:solidFill>
              <a:srgbClr val="C8A968"/>
            </a:solidFill>
          </a:ln>
        </p:spPr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E0BC708-8D82-4617-9E79-705B92E2E385}"/>
              </a:ext>
            </a:extLst>
          </p:cNvPr>
          <p:cNvSpPr>
            <a:spLocks noGrp="1"/>
          </p:cNvSpPr>
          <p:nvPr/>
        </p:nvSpPr>
        <p:spPr>
          <a:xfrm>
            <a:off x="9810750" y="2524125"/>
            <a:ext cx="76200" cy="7620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364241D1-47E1-4185-B171-347A71D04C35}"/>
              </a:ext>
            </a:extLst>
          </p:cNvPr>
          <p:cNvSpPr>
            <a:spLocks noGrp="1"/>
          </p:cNvSpPr>
          <p:nvPr/>
        </p:nvSpPr>
        <p:spPr>
          <a:xfrm>
            <a:off x="8677275" y="2752725"/>
            <a:ext cx="1209675" cy="1276350"/>
          </a:xfrm>
          <a:prstGeom prst="line">
            <a:avLst/>
          </a:prstGeom>
          <a:noFill/>
          <a:ln w="19050">
            <a:solidFill>
              <a:srgbClr val="C8A968"/>
            </a:solidFill>
          </a:ln>
        </p:spPr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A4052E1-1D7B-4297-A4C7-9D47BD8CA427}"/>
              </a:ext>
            </a:extLst>
          </p:cNvPr>
          <p:cNvSpPr>
            <a:spLocks noGrp="1"/>
          </p:cNvSpPr>
          <p:nvPr/>
        </p:nvSpPr>
        <p:spPr>
          <a:xfrm>
            <a:off x="8639175" y="3990975"/>
            <a:ext cx="76200" cy="7620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3066E224-D328-4486-A013-AC4B1F57EB98}"/>
              </a:ext>
            </a:extLst>
          </p:cNvPr>
          <p:cNvSpPr>
            <a:spLocks noGrp="1"/>
          </p:cNvSpPr>
          <p:nvPr/>
        </p:nvSpPr>
        <p:spPr>
          <a:xfrm>
            <a:off x="8667750" y="4210050"/>
            <a:ext cx="952500" cy="428625"/>
          </a:xfrm>
          <a:prstGeom prst="line">
            <a:avLst/>
          </a:prstGeom>
          <a:noFill/>
          <a:ln w="19050">
            <a:solidFill>
              <a:srgbClr val="C8A968"/>
            </a:solidFill>
          </a:ln>
        </p:spPr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9898327-1D2E-4D1D-8268-154DD6E54362}"/>
              </a:ext>
            </a:extLst>
          </p:cNvPr>
          <p:cNvSpPr>
            <a:spLocks noGrp="1"/>
          </p:cNvSpPr>
          <p:nvPr/>
        </p:nvSpPr>
        <p:spPr>
          <a:xfrm>
            <a:off x="9582150" y="4600575"/>
            <a:ext cx="76200" cy="7620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CB443C1E-C5E1-4888-AF5B-BC96BE0D5442}"/>
              </a:ext>
            </a:extLst>
          </p:cNvPr>
          <p:cNvSpPr>
            <a:spLocks noGrp="1"/>
          </p:cNvSpPr>
          <p:nvPr/>
        </p:nvSpPr>
        <p:spPr>
          <a:xfrm>
            <a:off x="8020050" y="2247900"/>
            <a:ext cx="504825" cy="1743075"/>
          </a:xfrm>
          <a:prstGeom prst="line">
            <a:avLst/>
          </a:prstGeom>
          <a:noFill/>
          <a:ln w="19050">
            <a:solidFill>
              <a:srgbClr val="C8A968"/>
            </a:solidFill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090A3E9-0EBD-47AE-AE49-7EBF361384B5}"/>
              </a:ext>
            </a:extLst>
          </p:cNvPr>
          <p:cNvSpPr>
            <a:spLocks noGrp="1"/>
          </p:cNvSpPr>
          <p:nvPr/>
        </p:nvSpPr>
        <p:spPr>
          <a:xfrm>
            <a:off x="8486775" y="3952875"/>
            <a:ext cx="76200" cy="7620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CC7673B-DB6C-49A4-93DE-F1DE49D67ED3}"/>
              </a:ext>
            </a:extLst>
          </p:cNvPr>
          <p:cNvSpPr>
            <a:spLocks noGrp="1"/>
          </p:cNvSpPr>
          <p:nvPr/>
        </p:nvSpPr>
        <p:spPr>
          <a:xfrm>
            <a:off x="7486650" y="5429250"/>
            <a:ext cx="3238500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48485"/>
          </a:bodyPr>
          <a:lstStyle/>
          <a:p>
            <a:pPr>
              <a:defRPr sz="825" b="0">
                <a:solidFill>
                  <a:srgbClr val="A9ADA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ADA7"/>
                </a:solidFill>
                <a:latin typeface="Aptos"/>
                <a:ea typeface="Aptos"/>
                <a:cs typeface="Aptos"/>
              </a:rPr>
              <a:t>feasibility  •  assignment  •  routing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28CEFCD-696E-4A08-9A40-8070A16308F0}"/>
              </a:ext>
            </a:extLst>
          </p:cNvPr>
          <p:cNvSpPr>
            <a:spLocks noGrp="1"/>
          </p:cNvSpPr>
          <p:nvPr/>
        </p:nvSpPr>
        <p:spPr>
          <a:xfrm>
            <a:off x="685800" y="6000750"/>
            <a:ext cx="29527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>
              <a:defRPr sz="825" b="0">
                <a:solidFill>
                  <a:srgbClr val="A9ADA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ADA7"/>
                </a:solidFill>
                <a:latin typeface="Aptos"/>
                <a:ea typeface="Aptos"/>
                <a:cs typeface="Aptos"/>
              </a:rPr>
              <a:t>Supervisor: 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627392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6AC91D94-FCDC-49D8-B834-F42EFDF96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C8A96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75EA54-8F5A-4B44-8954-106D8749136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>
              <a:defRPr sz="82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CONTINUITY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391C73-C8CF-48BD-8E2F-28BFDE0302D4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2870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473"/>
          </a:bodyPr>
          <a:lstStyle/>
          <a:p>
            <a:pPr>
              <a:defRPr sz="232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FROM RESEARCH GAP TO DEVELOPED 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42CD33-F628-4134-B84F-22F02B523C70}"/>
              </a:ext>
            </a:extLst>
          </p:cNvPr>
          <p:cNvSpPr>
            <a:spLocks noGrp="1"/>
          </p:cNvSpPr>
          <p:nvPr/>
        </p:nvSpPr>
        <p:spPr>
          <a:xfrm>
            <a:off x="685800" y="1143000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667"/>
          </a:bodyPr>
          <a:lstStyle/>
          <a:p>
            <a:pPr>
              <a:defRPr sz="1050" b="0">
                <a:solidFill>
                  <a:srgbClr val="A9ADA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ADA7"/>
                </a:solidFill>
                <a:latin typeface="Aptos"/>
                <a:ea typeface="Aptos"/>
                <a:cs typeface="Aptos"/>
              </a:rPr>
              <a:t>Review 2 identified the gap. Review 3 operationalizes the proposed DSA framework.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3CB76752-AC22-4104-8BAF-F6ED1F6D7E70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10820400" cy="9525"/>
          </a:xfrm>
          <a:prstGeom prst="line">
            <a:avLst/>
          </a:prstGeom>
          <a:noFill/>
          <a:ln w="9525">
            <a:solidFill>
              <a:srgbClr val="8C7440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6988A6-5C9F-49F5-B19B-5E73891689A9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4095750" cy="133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40741"/>
          </a:bodyPr>
          <a:lstStyle/>
          <a:p>
            <a:pPr>
              <a:defRPr sz="675" b="0">
                <a:solidFill>
                  <a:srgbClr val="A9AD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9ADA7"/>
                </a:solidFill>
                <a:latin typeface="Aptos"/>
                <a:ea typeface="Aptos"/>
                <a:cs typeface="Aptos"/>
              </a:rPr>
              <a:t>FOOD DELIVERY ROUTE OPTIMIZATION  /  REVIEW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E21B12-9EF4-4372-AC64-94016C69885B}"/>
              </a:ext>
            </a:extLst>
          </p:cNvPr>
          <p:cNvSpPr>
            <a:spLocks noGrp="1"/>
          </p:cNvSpPr>
          <p:nvPr/>
        </p:nvSpPr>
        <p:spPr>
          <a:xfrm>
            <a:off x="11068050" y="6515100"/>
            <a:ext cx="438150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48485"/>
          </a:bodyPr>
          <a:lstStyle/>
          <a:p>
            <a:pPr>
              <a:defRPr sz="82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6F21CF7-625F-4930-B786-C0835E8D3889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4191000" cy="2362200"/>
          </a:xfrm>
          <a:prstGeom prst="roundRect">
            <a:avLst>
              <a:gd name="adj" fmla="val 3226"/>
            </a:avLst>
          </a:prstGeom>
          <a:solidFill>
            <a:srgbClr val="1A1D1B"/>
          </a:solidFill>
          <a:ln w="9525">
            <a:solidFill>
              <a:srgbClr val="3A403C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E214D6-6917-45D8-9AC7-3FA4F0CAB8DD}"/>
              </a:ext>
            </a:extLst>
          </p:cNvPr>
          <p:cNvSpPr>
            <a:spLocks noGrp="1"/>
          </p:cNvSpPr>
          <p:nvPr/>
        </p:nvSpPr>
        <p:spPr>
          <a:xfrm>
            <a:off x="971550" y="2362200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>
              <a:defRPr sz="900" b="1">
                <a:solidFill>
                  <a:srgbClr val="A9AD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ADA7"/>
                </a:solidFill>
                <a:latin typeface="Aptos"/>
                <a:ea typeface="Aptos"/>
                <a:cs typeface="Aptos"/>
              </a:rPr>
              <a:t>REVIEW 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F7C749-AFF2-47A4-AD16-E92A2EB71461}"/>
              </a:ext>
            </a:extLst>
          </p:cNvPr>
          <p:cNvSpPr>
            <a:spLocks noGrp="1"/>
          </p:cNvSpPr>
          <p:nvPr/>
        </p:nvSpPr>
        <p:spPr>
          <a:xfrm>
            <a:off x="1000125" y="2809875"/>
            <a:ext cx="95250" cy="95250"/>
          </a:xfrm>
          <a:prstGeom prst="ellipse">
            <a:avLst/>
          </a:prstGeom>
          <a:solidFill>
            <a:srgbClr val="A9ADA7"/>
          </a:solidFill>
          <a:ln w="0">
            <a:solidFill>
              <a:srgbClr val="A9ADA7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2AD438-F6A8-4081-A46C-3B1CEB0F0108}"/>
              </a:ext>
            </a:extLst>
          </p:cNvPr>
          <p:cNvSpPr>
            <a:spLocks noGrp="1"/>
          </p:cNvSpPr>
          <p:nvPr/>
        </p:nvSpPr>
        <p:spPr>
          <a:xfrm>
            <a:off x="1238250" y="27336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Literature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26B337DB-AF24-4C44-A631-6FF842CCFECB}"/>
              </a:ext>
            </a:extLst>
          </p:cNvPr>
          <p:cNvSpPr>
            <a:spLocks noGrp="1"/>
          </p:cNvSpPr>
          <p:nvPr/>
        </p:nvSpPr>
        <p:spPr>
          <a:xfrm>
            <a:off x="1047750" y="2952750"/>
            <a:ext cx="9525" cy="247650"/>
          </a:xfrm>
          <a:prstGeom prst="line">
            <a:avLst/>
          </a:prstGeom>
          <a:noFill/>
          <a:ln w="19050">
            <a:solidFill>
              <a:srgbClr val="C8A968"/>
            </a:solidFill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30A8393-077A-4E66-B3DD-CE7665618BB1}"/>
              </a:ext>
            </a:extLst>
          </p:cNvPr>
          <p:cNvSpPr>
            <a:spLocks noGrp="1"/>
          </p:cNvSpPr>
          <p:nvPr/>
        </p:nvSpPr>
        <p:spPr>
          <a:xfrm>
            <a:off x="1009650" y="3162300"/>
            <a:ext cx="76200" cy="7620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73F5CDD-9E69-4D7C-B240-49F8A2491502}"/>
              </a:ext>
            </a:extLst>
          </p:cNvPr>
          <p:cNvSpPr>
            <a:spLocks noGrp="1"/>
          </p:cNvSpPr>
          <p:nvPr/>
        </p:nvSpPr>
        <p:spPr>
          <a:xfrm>
            <a:off x="1000125" y="3248025"/>
            <a:ext cx="95250" cy="95250"/>
          </a:xfrm>
          <a:prstGeom prst="ellipse">
            <a:avLst/>
          </a:prstGeom>
          <a:solidFill>
            <a:srgbClr val="A9ADA7"/>
          </a:solidFill>
          <a:ln w="0">
            <a:solidFill>
              <a:srgbClr val="A9ADA7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74680D-C3C1-43C3-B47D-5CFD141BA78D}"/>
              </a:ext>
            </a:extLst>
          </p:cNvPr>
          <p:cNvSpPr>
            <a:spLocks noGrp="1"/>
          </p:cNvSpPr>
          <p:nvPr/>
        </p:nvSpPr>
        <p:spPr>
          <a:xfrm>
            <a:off x="1238250" y="317182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0E8"/>
                </a:solidFill>
                <a:latin typeface="Aptos"/>
                <a:ea typeface="Aptos"/>
                <a:cs typeface="Aptos"/>
              </a:rPr>
              <a:t>Research gap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5B5DEDFB-E6C3-425A-863E-2896B02D4B9E}"/>
              </a:ext>
            </a:extLst>
          </p:cNvPr>
          <p:cNvSpPr>
            <a:spLocks noGrp="1"/>
          </p:cNvSpPr>
          <p:nvPr/>
        </p:nvSpPr>
        <p:spPr>
          <a:xfrm>
            <a:off x="1047750" y="3390900"/>
            <a:ext cx="9525" cy="247650"/>
          </a:xfrm>
          <a:prstGeom prst="line">
            <a:avLst/>
          </a:prstGeom>
          <a:noFill/>
          <a:ln w="19050">
            <a:solidFill>
              <a:srgbClr val="C8A968"/>
            </a:solidFill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C3B3005-45EF-4D9D-8C76-1897FB32810E}"/>
              </a:ext>
            </a:extLst>
          </p:cNvPr>
          <p:cNvSpPr>
            <a:spLocks noGrp="1"/>
          </p:cNvSpPr>
          <p:nvPr/>
        </p:nvSpPr>
        <p:spPr>
          <a:xfrm>
            <a:off x="1009650" y="3600450"/>
            <a:ext cx="76200" cy="7620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7F28B61-9F13-49C9-99D8-0E63FEA91CCC}"/>
              </a:ext>
            </a:extLst>
          </p:cNvPr>
          <p:cNvSpPr>
            <a:spLocks noGrp="1"/>
          </p:cNvSpPr>
          <p:nvPr/>
        </p:nvSpPr>
        <p:spPr>
          <a:xfrm>
            <a:off x="1000125" y="3686175"/>
            <a:ext cx="95250" cy="95250"/>
          </a:xfrm>
          <a:prstGeom prst="ellipse">
            <a:avLst/>
          </a:prstGeom>
          <a:solidFill>
            <a:srgbClr val="A9ADA7"/>
          </a:solidFill>
          <a:ln w="0">
            <a:solidFill>
              <a:srgbClr val="A9ADA7"/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1A8547-6645-4AAE-9BE5-B318867DFADF}"/>
              </a:ext>
            </a:extLst>
          </p:cNvPr>
          <p:cNvSpPr>
            <a:spLocks noGrp="1"/>
          </p:cNvSpPr>
          <p:nvPr/>
        </p:nvSpPr>
        <p:spPr>
          <a:xfrm>
            <a:off x="1238250" y="36099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0E8"/>
                </a:solidFill>
                <a:latin typeface="Aptos"/>
                <a:ea typeface="Aptos"/>
                <a:cs typeface="Aptos"/>
              </a:rPr>
              <a:t>Proposed framework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B13F4813-475C-40CE-9A02-5BDA1048E07B}"/>
              </a:ext>
            </a:extLst>
          </p:cNvPr>
          <p:cNvSpPr>
            <a:spLocks noGrp="1"/>
          </p:cNvSpPr>
          <p:nvPr/>
        </p:nvSpPr>
        <p:spPr>
          <a:xfrm>
            <a:off x="1047750" y="3829050"/>
            <a:ext cx="9525" cy="247650"/>
          </a:xfrm>
          <a:prstGeom prst="line">
            <a:avLst/>
          </a:prstGeom>
          <a:noFill/>
          <a:ln w="19050">
            <a:solidFill>
              <a:srgbClr val="C8A968"/>
            </a:solidFill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3F41BDB-4F7E-4262-94B4-11AEAF65B999}"/>
              </a:ext>
            </a:extLst>
          </p:cNvPr>
          <p:cNvSpPr>
            <a:spLocks noGrp="1"/>
          </p:cNvSpPr>
          <p:nvPr/>
        </p:nvSpPr>
        <p:spPr>
          <a:xfrm>
            <a:off x="1009650" y="4038600"/>
            <a:ext cx="76200" cy="7620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A341140-95A9-4BC5-95CC-D43EFFC1023F}"/>
              </a:ext>
            </a:extLst>
          </p:cNvPr>
          <p:cNvSpPr>
            <a:spLocks noGrp="1"/>
          </p:cNvSpPr>
          <p:nvPr/>
        </p:nvSpPr>
        <p:spPr>
          <a:xfrm>
            <a:off x="5638800" y="2095500"/>
            <a:ext cx="4191000" cy="2362200"/>
          </a:xfrm>
          <a:prstGeom prst="roundRect">
            <a:avLst>
              <a:gd name="adj" fmla="val 3226"/>
            </a:avLst>
          </a:prstGeom>
          <a:solidFill>
            <a:srgbClr val="222624"/>
          </a:solidFill>
          <a:ln w="9525">
            <a:solidFill>
              <a:srgbClr val="C8A968"/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D13DE4-913A-4926-AD1F-7B7EDF4CBD63}"/>
              </a:ext>
            </a:extLst>
          </p:cNvPr>
          <p:cNvSpPr>
            <a:spLocks noGrp="1"/>
          </p:cNvSpPr>
          <p:nvPr/>
        </p:nvSpPr>
        <p:spPr>
          <a:xfrm>
            <a:off x="5924550" y="2362200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>
              <a:defRPr sz="900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REVIEW 3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A943DDC-046B-402D-A842-051B9200CAF2}"/>
              </a:ext>
            </a:extLst>
          </p:cNvPr>
          <p:cNvSpPr>
            <a:spLocks noGrp="1"/>
          </p:cNvSpPr>
          <p:nvPr/>
        </p:nvSpPr>
        <p:spPr>
          <a:xfrm>
            <a:off x="5953125" y="2809875"/>
            <a:ext cx="95250" cy="9525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2897A34-C876-417A-94F7-30FED641FE97}"/>
              </a:ext>
            </a:extLst>
          </p:cNvPr>
          <p:cNvSpPr>
            <a:spLocks noGrp="1"/>
          </p:cNvSpPr>
          <p:nvPr/>
        </p:nvSpPr>
        <p:spPr>
          <a:xfrm>
            <a:off x="6191250" y="27336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Implementation evidence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00E5F933-EE27-4440-B288-EDF1531B3F0B}"/>
              </a:ext>
            </a:extLst>
          </p:cNvPr>
          <p:cNvSpPr>
            <a:spLocks noGrp="1"/>
          </p:cNvSpPr>
          <p:nvPr/>
        </p:nvSpPr>
        <p:spPr>
          <a:xfrm>
            <a:off x="6000750" y="2952750"/>
            <a:ext cx="9525" cy="247650"/>
          </a:xfrm>
          <a:prstGeom prst="line">
            <a:avLst/>
          </a:prstGeom>
          <a:noFill/>
          <a:ln w="19050">
            <a:solidFill>
              <a:srgbClr val="C8A968"/>
            </a:solidFill>
          </a:ln>
        </p:spPr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0998976-44B6-4EE8-B3E6-96F99272D94E}"/>
              </a:ext>
            </a:extLst>
          </p:cNvPr>
          <p:cNvSpPr>
            <a:spLocks noGrp="1"/>
          </p:cNvSpPr>
          <p:nvPr/>
        </p:nvSpPr>
        <p:spPr>
          <a:xfrm>
            <a:off x="5962650" y="3162300"/>
            <a:ext cx="76200" cy="7620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922C83E-C917-494E-82EE-66D55A4CB1F8}"/>
              </a:ext>
            </a:extLst>
          </p:cNvPr>
          <p:cNvSpPr>
            <a:spLocks noGrp="1"/>
          </p:cNvSpPr>
          <p:nvPr/>
        </p:nvSpPr>
        <p:spPr>
          <a:xfrm>
            <a:off x="5953125" y="3248025"/>
            <a:ext cx="95250" cy="9525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CBB6A5A-0DB1-4CF6-83F1-B8FF7DBA58D6}"/>
              </a:ext>
            </a:extLst>
          </p:cNvPr>
          <p:cNvSpPr>
            <a:spLocks noGrp="1"/>
          </p:cNvSpPr>
          <p:nvPr/>
        </p:nvSpPr>
        <p:spPr>
          <a:xfrm>
            <a:off x="6191250" y="317182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0E8"/>
                </a:solidFill>
                <a:latin typeface="Aptos"/>
                <a:ea typeface="Aptos"/>
                <a:cs typeface="Aptos"/>
              </a:rPr>
              <a:t>Algorithm integration</a:t>
            </a:r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0FD761DA-BF3F-4BE7-AE8F-1E2844A95D72}"/>
              </a:ext>
            </a:extLst>
          </p:cNvPr>
          <p:cNvSpPr>
            <a:spLocks noGrp="1"/>
          </p:cNvSpPr>
          <p:nvPr/>
        </p:nvSpPr>
        <p:spPr>
          <a:xfrm>
            <a:off x="6000750" y="3390900"/>
            <a:ext cx="9525" cy="247650"/>
          </a:xfrm>
          <a:prstGeom prst="line">
            <a:avLst/>
          </a:prstGeom>
          <a:noFill/>
          <a:ln w="19050">
            <a:solidFill>
              <a:srgbClr val="C8A968"/>
            </a:solidFill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7B7F890-E4FD-4006-902D-91151AFB6CB1}"/>
              </a:ext>
            </a:extLst>
          </p:cNvPr>
          <p:cNvSpPr>
            <a:spLocks noGrp="1"/>
          </p:cNvSpPr>
          <p:nvPr/>
        </p:nvSpPr>
        <p:spPr>
          <a:xfrm>
            <a:off x="5962650" y="3600450"/>
            <a:ext cx="76200" cy="7620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74DD2BD-0A3A-4FF2-80AD-5C7FC9ED464A}"/>
              </a:ext>
            </a:extLst>
          </p:cNvPr>
          <p:cNvSpPr>
            <a:spLocks noGrp="1"/>
          </p:cNvSpPr>
          <p:nvPr/>
        </p:nvSpPr>
        <p:spPr>
          <a:xfrm>
            <a:off x="5953125" y="3686175"/>
            <a:ext cx="95250" cy="9525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4CBD574-F13C-4EF4-B4CE-F0C8894CAED6}"/>
              </a:ext>
            </a:extLst>
          </p:cNvPr>
          <p:cNvSpPr>
            <a:spLocks noGrp="1"/>
          </p:cNvSpPr>
          <p:nvPr/>
        </p:nvSpPr>
        <p:spPr>
          <a:xfrm>
            <a:off x="6191250" y="36099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0E8"/>
                </a:solidFill>
                <a:latin typeface="Aptos"/>
                <a:ea typeface="Aptos"/>
                <a:cs typeface="Aptos"/>
              </a:rPr>
              <a:t>Evaluation readiness</a:t>
            </a:r>
          </a:p>
        </p:txBody>
      </p:sp>
      <p:sp>
        <p:nvSpPr>
          <p:cNvPr id="34" name="Straight Connector 33">
            <a:extLst>
              <a:ext uri="{FF2B5EF4-FFF2-40B4-BE49-F238E27FC236}">
                <a16:creationId xmlns:a16="http://schemas.microsoft.com/office/drawing/2014/main" id="{246375D1-38B0-423E-8602-6AA6F805038C}"/>
              </a:ext>
            </a:extLst>
          </p:cNvPr>
          <p:cNvSpPr>
            <a:spLocks noGrp="1"/>
          </p:cNvSpPr>
          <p:nvPr/>
        </p:nvSpPr>
        <p:spPr>
          <a:xfrm>
            <a:off x="6000750" y="3829050"/>
            <a:ext cx="9525" cy="247650"/>
          </a:xfrm>
          <a:prstGeom prst="line">
            <a:avLst/>
          </a:prstGeom>
          <a:noFill/>
          <a:ln w="19050">
            <a:solidFill>
              <a:srgbClr val="C8A968"/>
            </a:solidFill>
          </a:ln>
        </p:spPr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C2415A7-FAF7-4443-AC1F-8665AA9AD21F}"/>
              </a:ext>
            </a:extLst>
          </p:cNvPr>
          <p:cNvSpPr>
            <a:spLocks noGrp="1"/>
          </p:cNvSpPr>
          <p:nvPr/>
        </p:nvSpPr>
        <p:spPr>
          <a:xfrm>
            <a:off x="5962650" y="4038600"/>
            <a:ext cx="76200" cy="7620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A26EE21-638D-4B4A-BB94-560E3784C9F1}"/>
              </a:ext>
            </a:extLst>
          </p:cNvPr>
          <p:cNvSpPr>
            <a:spLocks noGrp="1"/>
          </p:cNvSpPr>
          <p:nvPr/>
        </p:nvSpPr>
        <p:spPr>
          <a:xfrm>
            <a:off x="5953125" y="4124325"/>
            <a:ext cx="95250" cy="9525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F38C52C-1053-4AD5-B4FA-70E1CCE720A4}"/>
              </a:ext>
            </a:extLst>
          </p:cNvPr>
          <p:cNvSpPr>
            <a:spLocks noGrp="1"/>
          </p:cNvSpPr>
          <p:nvPr/>
        </p:nvSpPr>
        <p:spPr>
          <a:xfrm>
            <a:off x="6191250" y="404812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0E8"/>
                </a:solidFill>
                <a:latin typeface="Aptos"/>
                <a:ea typeface="Aptos"/>
                <a:cs typeface="Aptos"/>
              </a:rPr>
              <a:t>Results / placeholders</a:t>
            </a:r>
          </a:p>
        </p:txBody>
      </p:sp>
      <p:sp>
        <p:nvSpPr>
          <p:cNvPr id="38" name="Straight Connector 37">
            <a:extLst>
              <a:ext uri="{FF2B5EF4-FFF2-40B4-BE49-F238E27FC236}">
                <a16:creationId xmlns:a16="http://schemas.microsoft.com/office/drawing/2014/main" id="{47C0012C-D377-43A7-9B7F-F776F09BA1DA}"/>
              </a:ext>
            </a:extLst>
          </p:cNvPr>
          <p:cNvSpPr>
            <a:spLocks noGrp="1"/>
          </p:cNvSpPr>
          <p:nvPr/>
        </p:nvSpPr>
        <p:spPr>
          <a:xfrm>
            <a:off x="4953000" y="3276600"/>
            <a:ext cx="523875" cy="9525"/>
          </a:xfrm>
          <a:prstGeom prst="line">
            <a:avLst/>
          </a:prstGeom>
          <a:noFill/>
          <a:ln w="19050">
            <a:solidFill>
              <a:srgbClr val="C8A968"/>
            </a:solidFill>
          </a:ln>
        </p:spPr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3CD7AC9-CBD2-4CBF-AD52-AD8984B156AE}"/>
              </a:ext>
            </a:extLst>
          </p:cNvPr>
          <p:cNvSpPr>
            <a:spLocks noGrp="1"/>
          </p:cNvSpPr>
          <p:nvPr/>
        </p:nvSpPr>
        <p:spPr>
          <a:xfrm>
            <a:off x="5438775" y="3238500"/>
            <a:ext cx="76200" cy="7620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1EBE768-48DA-49BD-8424-F6C8DB0B063E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>
              <a:defRPr sz="97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SYSTEM-DRIVEN REVIEW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65CFA7D-4266-47E4-B562-589898AD8330}"/>
              </a:ext>
            </a:extLst>
          </p:cNvPr>
          <p:cNvSpPr>
            <a:spLocks noGrp="1"/>
          </p:cNvSpPr>
          <p:nvPr/>
        </p:nvSpPr>
        <p:spPr>
          <a:xfrm>
            <a:off x="685800" y="5257800"/>
            <a:ext cx="9525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521"/>
          </a:bodyPr>
          <a:lstStyle/>
          <a:p>
            <a:pPr>
              <a:defRPr sz="1275" b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0E8"/>
                </a:solidFill>
                <a:latin typeface="Aptos"/>
                <a:ea typeface="Aptos"/>
                <a:cs typeface="Aptos"/>
              </a:rPr>
              <a:t>The algorithm family remains consistent with Review 2: matching, assignment, network flow, graph routing, TSP, approximation, tie-breaking and ETA.</a:t>
            </a:r>
          </a:p>
        </p:txBody>
      </p:sp>
    </p:spTree>
    <p:extLst>
      <p:ext uri="{BB962C8B-B14F-4D97-AF65-F5344CB8AC3E}">
        <p14:creationId xmlns:p14="http://schemas.microsoft.com/office/powerpoint/2010/main" val="1214941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AE9BEF2A-E682-47FE-A010-32E374E91C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C8A96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526FA0-D51B-4096-A437-AE30B07570D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>
              <a:defRPr sz="82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D27C13-7C22-4459-B773-F735B28AD19C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2870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473"/>
          </a:bodyPr>
          <a:lstStyle/>
          <a:p>
            <a:pPr>
              <a:defRPr sz="232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THE DECISION PROBLEM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9768C2-BD0B-4D15-8371-855A050A2D25}"/>
              </a:ext>
            </a:extLst>
          </p:cNvPr>
          <p:cNvSpPr>
            <a:spLocks noGrp="1"/>
          </p:cNvSpPr>
          <p:nvPr/>
        </p:nvSpPr>
        <p:spPr>
          <a:xfrm>
            <a:off x="685800" y="1143000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667"/>
          </a:bodyPr>
          <a:lstStyle/>
          <a:p>
            <a:pPr>
              <a:defRPr sz="1050" b="0">
                <a:solidFill>
                  <a:srgbClr val="A9ADA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ADA7"/>
                </a:solidFill>
                <a:latin typeface="Aptos"/>
                <a:ea typeface="Aptos"/>
                <a:cs typeface="Aptos"/>
              </a:rPr>
              <a:t>Each delivery requires a feasible rider, a capacity-aware allocation, a route and an ETA.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CD4031F1-DB91-49A2-BF8E-DEB871EAED1F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10820400" cy="9525"/>
          </a:xfrm>
          <a:prstGeom prst="line">
            <a:avLst/>
          </a:prstGeom>
          <a:noFill/>
          <a:ln w="9525">
            <a:solidFill>
              <a:srgbClr val="8C7440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F4326A-8DC4-4C88-8DA8-F1A48EB44495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4095750" cy="133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40741"/>
          </a:bodyPr>
          <a:lstStyle/>
          <a:p>
            <a:pPr>
              <a:defRPr sz="675" b="0">
                <a:solidFill>
                  <a:srgbClr val="A9AD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9ADA7"/>
                </a:solidFill>
                <a:latin typeface="Aptos"/>
                <a:ea typeface="Aptos"/>
                <a:cs typeface="Aptos"/>
              </a:rPr>
              <a:t>FOOD DELIVERY ROUTE OPTIMIZATION  /  REVIEW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3255FC-F287-4028-B333-381CE908E094}"/>
              </a:ext>
            </a:extLst>
          </p:cNvPr>
          <p:cNvSpPr>
            <a:spLocks noGrp="1"/>
          </p:cNvSpPr>
          <p:nvPr/>
        </p:nvSpPr>
        <p:spPr>
          <a:xfrm>
            <a:off x="11068050" y="6515100"/>
            <a:ext cx="438150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48485"/>
          </a:bodyPr>
          <a:lstStyle/>
          <a:p>
            <a:pPr>
              <a:defRPr sz="82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7A7E190-1166-42DD-A7E6-6A0F2D40B850}"/>
              </a:ext>
            </a:extLst>
          </p:cNvPr>
          <p:cNvSpPr>
            <a:spLocks noGrp="1"/>
          </p:cNvSpPr>
          <p:nvPr/>
        </p:nvSpPr>
        <p:spPr>
          <a:xfrm>
            <a:off x="1123950" y="2286000"/>
            <a:ext cx="1666875" cy="990600"/>
          </a:xfrm>
          <a:prstGeom prst="roundRect">
            <a:avLst>
              <a:gd name="adj" fmla="val 7692"/>
            </a:avLst>
          </a:prstGeom>
          <a:solidFill>
            <a:srgbClr val="1A1D1B"/>
          </a:solidFill>
          <a:ln w="9525">
            <a:solidFill>
              <a:srgbClr val="8C7440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10518C-0868-41ED-AF77-FF983161A6F6}"/>
              </a:ext>
            </a:extLst>
          </p:cNvPr>
          <p:cNvSpPr>
            <a:spLocks noGrp="1"/>
          </p:cNvSpPr>
          <p:nvPr/>
        </p:nvSpPr>
        <p:spPr>
          <a:xfrm>
            <a:off x="1276350" y="2533650"/>
            <a:ext cx="13525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118"/>
          </a:bodyPr>
          <a:lstStyle/>
          <a:p>
            <a:pPr>
              <a:defRPr sz="127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MULTIPLE</a:t>
            </a:r>
          </a:p>
          <a:p>
            <a:pPr>
              <a:defRPr sz="127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ORDERS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88F09821-F27F-49EC-B8A8-4E8F1F16C70D}"/>
              </a:ext>
            </a:extLst>
          </p:cNvPr>
          <p:cNvSpPr>
            <a:spLocks noGrp="1"/>
          </p:cNvSpPr>
          <p:nvPr/>
        </p:nvSpPr>
        <p:spPr>
          <a:xfrm>
            <a:off x="2790825" y="2781300"/>
            <a:ext cx="323850" cy="9525"/>
          </a:xfrm>
          <a:prstGeom prst="line">
            <a:avLst/>
          </a:prstGeom>
          <a:noFill/>
          <a:ln w="19050">
            <a:solidFill>
              <a:srgbClr val="C8A968"/>
            </a:solidFill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C15DDED-150B-4748-9112-A198E97D8671}"/>
              </a:ext>
            </a:extLst>
          </p:cNvPr>
          <p:cNvSpPr>
            <a:spLocks noGrp="1"/>
          </p:cNvSpPr>
          <p:nvPr/>
        </p:nvSpPr>
        <p:spPr>
          <a:xfrm>
            <a:off x="3076575" y="2743200"/>
            <a:ext cx="76200" cy="7620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310F58A-F2D2-4B5E-A406-CC395EDA6BEA}"/>
              </a:ext>
            </a:extLst>
          </p:cNvPr>
          <p:cNvSpPr>
            <a:spLocks noGrp="1"/>
          </p:cNvSpPr>
          <p:nvPr/>
        </p:nvSpPr>
        <p:spPr>
          <a:xfrm>
            <a:off x="3276600" y="2286000"/>
            <a:ext cx="1666875" cy="990600"/>
          </a:xfrm>
          <a:prstGeom prst="roundRect">
            <a:avLst>
              <a:gd name="adj" fmla="val 7692"/>
            </a:avLst>
          </a:prstGeom>
          <a:solidFill>
            <a:srgbClr val="1A1D1B"/>
          </a:solidFill>
          <a:ln w="9525">
            <a:solidFill>
              <a:srgbClr val="8C7440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305BC4-341E-4FA8-9D30-4C55C2D06F5F}"/>
              </a:ext>
            </a:extLst>
          </p:cNvPr>
          <p:cNvSpPr>
            <a:spLocks noGrp="1"/>
          </p:cNvSpPr>
          <p:nvPr/>
        </p:nvSpPr>
        <p:spPr>
          <a:xfrm>
            <a:off x="3429000" y="2533650"/>
            <a:ext cx="13525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118"/>
          </a:bodyPr>
          <a:lstStyle/>
          <a:p>
            <a:pPr>
              <a:defRPr sz="127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AVAILABLE</a:t>
            </a:r>
          </a:p>
          <a:p>
            <a:pPr>
              <a:defRPr sz="127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RIDERS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EA1DABA1-7E4A-45CD-B28D-EBCC2FB63CFA}"/>
              </a:ext>
            </a:extLst>
          </p:cNvPr>
          <p:cNvSpPr>
            <a:spLocks noGrp="1"/>
          </p:cNvSpPr>
          <p:nvPr/>
        </p:nvSpPr>
        <p:spPr>
          <a:xfrm>
            <a:off x="4943475" y="2781300"/>
            <a:ext cx="323850" cy="9525"/>
          </a:xfrm>
          <a:prstGeom prst="line">
            <a:avLst/>
          </a:prstGeom>
          <a:noFill/>
          <a:ln w="19050">
            <a:solidFill>
              <a:srgbClr val="C8A968"/>
            </a:solidFill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8B8FB7A-1674-4A0D-B44A-6CA1E0E31FEF}"/>
              </a:ext>
            </a:extLst>
          </p:cNvPr>
          <p:cNvSpPr>
            <a:spLocks noGrp="1"/>
          </p:cNvSpPr>
          <p:nvPr/>
        </p:nvSpPr>
        <p:spPr>
          <a:xfrm>
            <a:off x="5229225" y="2743200"/>
            <a:ext cx="76200" cy="7620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DD3D5CA-C093-4191-A380-6C0277B1B110}"/>
              </a:ext>
            </a:extLst>
          </p:cNvPr>
          <p:cNvSpPr>
            <a:spLocks noGrp="1"/>
          </p:cNvSpPr>
          <p:nvPr/>
        </p:nvSpPr>
        <p:spPr>
          <a:xfrm>
            <a:off x="5429250" y="2286000"/>
            <a:ext cx="1666875" cy="990600"/>
          </a:xfrm>
          <a:prstGeom prst="roundRect">
            <a:avLst>
              <a:gd name="adj" fmla="val 7692"/>
            </a:avLst>
          </a:prstGeom>
          <a:solidFill>
            <a:srgbClr val="1A1D1B"/>
          </a:solidFill>
          <a:ln w="9525">
            <a:solidFill>
              <a:srgbClr val="5AC7D8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873771-53EE-4705-AB9E-2A98AE910C0C}"/>
              </a:ext>
            </a:extLst>
          </p:cNvPr>
          <p:cNvSpPr>
            <a:spLocks noGrp="1"/>
          </p:cNvSpPr>
          <p:nvPr/>
        </p:nvSpPr>
        <p:spPr>
          <a:xfrm>
            <a:off x="5581650" y="2533650"/>
            <a:ext cx="13525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118"/>
          </a:bodyPr>
          <a:lstStyle/>
          <a:p>
            <a:pPr>
              <a:defRPr sz="127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ROAD</a:t>
            </a:r>
          </a:p>
          <a:p>
            <a:pPr>
              <a:defRPr sz="127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NETWORK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00909791-BC04-478B-BAE7-50BDDB88082F}"/>
              </a:ext>
            </a:extLst>
          </p:cNvPr>
          <p:cNvSpPr>
            <a:spLocks noGrp="1"/>
          </p:cNvSpPr>
          <p:nvPr/>
        </p:nvSpPr>
        <p:spPr>
          <a:xfrm>
            <a:off x="7096125" y="2781300"/>
            <a:ext cx="323850" cy="9525"/>
          </a:xfrm>
          <a:prstGeom prst="line">
            <a:avLst/>
          </a:prstGeom>
          <a:noFill/>
          <a:ln w="19050">
            <a:solidFill>
              <a:srgbClr val="C8A968"/>
            </a:solidFill>
          </a:ln>
        </p:spPr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CBB8891-DCC2-4D35-A1B0-0C82A573A96B}"/>
              </a:ext>
            </a:extLst>
          </p:cNvPr>
          <p:cNvSpPr>
            <a:spLocks noGrp="1"/>
          </p:cNvSpPr>
          <p:nvPr/>
        </p:nvSpPr>
        <p:spPr>
          <a:xfrm>
            <a:off x="7381875" y="2743200"/>
            <a:ext cx="76200" cy="7620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4BF72BB-66F5-4C1A-870A-D6EEB8812DFA}"/>
              </a:ext>
            </a:extLst>
          </p:cNvPr>
          <p:cNvSpPr>
            <a:spLocks noGrp="1"/>
          </p:cNvSpPr>
          <p:nvPr/>
        </p:nvSpPr>
        <p:spPr>
          <a:xfrm>
            <a:off x="7581900" y="2286000"/>
            <a:ext cx="1666875" cy="990600"/>
          </a:xfrm>
          <a:prstGeom prst="roundRect">
            <a:avLst>
              <a:gd name="adj" fmla="val 7692"/>
            </a:avLst>
          </a:prstGeom>
          <a:solidFill>
            <a:srgbClr val="1A1D1B"/>
          </a:solidFill>
          <a:ln w="9525">
            <a:solidFill>
              <a:srgbClr val="8C7440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B55C35F-2B04-44A7-961E-F65E919791D0}"/>
              </a:ext>
            </a:extLst>
          </p:cNvPr>
          <p:cNvSpPr>
            <a:spLocks noGrp="1"/>
          </p:cNvSpPr>
          <p:nvPr/>
        </p:nvSpPr>
        <p:spPr>
          <a:xfrm>
            <a:off x="7734300" y="2533650"/>
            <a:ext cx="13525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118"/>
          </a:bodyPr>
          <a:lstStyle/>
          <a:p>
            <a:pPr>
              <a:defRPr sz="127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CAPACITY</a:t>
            </a:r>
          </a:p>
          <a:p>
            <a:pPr>
              <a:defRPr sz="127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LIMITS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9BD35B6-86BF-458C-A9E6-27CA79524560}"/>
              </a:ext>
            </a:extLst>
          </p:cNvPr>
          <p:cNvSpPr>
            <a:spLocks noGrp="1"/>
          </p:cNvSpPr>
          <p:nvPr/>
        </p:nvSpPr>
        <p:spPr>
          <a:xfrm>
            <a:off x="1476375" y="3943350"/>
            <a:ext cx="8286750" cy="1447800"/>
          </a:xfrm>
          <a:prstGeom prst="roundRect">
            <a:avLst>
              <a:gd name="adj" fmla="val 5263"/>
            </a:avLst>
          </a:prstGeom>
          <a:solidFill>
            <a:srgbClr val="1B201E"/>
          </a:solidFill>
          <a:ln w="9525">
            <a:solidFill>
              <a:srgbClr val="8C7440"/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1F13313-3372-426E-9086-1EAB783F080E}"/>
              </a:ext>
            </a:extLst>
          </p:cNvPr>
          <p:cNvSpPr>
            <a:spLocks noGrp="1"/>
          </p:cNvSpPr>
          <p:nvPr/>
        </p:nvSpPr>
        <p:spPr>
          <a:xfrm>
            <a:off x="1743075" y="419100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>
              <a:defRPr sz="82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OPTIMIZATION TARGET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EF526A-A595-4FB0-BC41-66B8132E3D79}"/>
              </a:ext>
            </a:extLst>
          </p:cNvPr>
          <p:cNvSpPr>
            <a:spLocks noGrp="1"/>
          </p:cNvSpPr>
          <p:nvPr/>
        </p:nvSpPr>
        <p:spPr>
          <a:xfrm>
            <a:off x="1743075" y="4486275"/>
            <a:ext cx="66675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8263"/>
          </a:bodyPr>
          <a:lstStyle/>
          <a:p>
            <a:pPr>
              <a:defRPr sz="172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Select a feasible rider and route that respect capacity while minimizing delivery cost and estimated time.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09D6F15-7609-4758-B893-A82D39EA1EDF}"/>
              </a:ext>
            </a:extLst>
          </p:cNvPr>
          <p:cNvSpPr>
            <a:spLocks noGrp="1"/>
          </p:cNvSpPr>
          <p:nvPr/>
        </p:nvSpPr>
        <p:spPr>
          <a:xfrm>
            <a:off x="762000" y="5762625"/>
            <a:ext cx="1857375" cy="381000"/>
          </a:xfrm>
          <a:prstGeom prst="roundRect">
            <a:avLst>
              <a:gd name="adj" fmla="val 20000"/>
            </a:avLst>
          </a:prstGeom>
          <a:solidFill>
            <a:srgbClr val="222624"/>
          </a:solidFill>
          <a:ln w="9525">
            <a:solidFill>
              <a:srgbClr val="3A403C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0CE8103-0153-4D7F-8125-9766CCCF0A8C}"/>
              </a:ext>
            </a:extLst>
          </p:cNvPr>
          <p:cNvSpPr>
            <a:spLocks noGrp="1"/>
          </p:cNvSpPr>
          <p:nvPr/>
        </p:nvSpPr>
        <p:spPr>
          <a:xfrm>
            <a:off x="838200" y="586740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>
              <a:defRPr sz="825" b="0">
                <a:solidFill>
                  <a:srgbClr val="D7D1C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7D1C4"/>
                </a:solidFill>
                <a:latin typeface="Aptos"/>
                <a:ea typeface="Aptos"/>
                <a:cs typeface="Aptos"/>
              </a:rPr>
              <a:t>Feasible assignment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132B7CE-FD10-43D7-8B5A-519D3A477ED2}"/>
              </a:ext>
            </a:extLst>
          </p:cNvPr>
          <p:cNvSpPr>
            <a:spLocks noGrp="1"/>
          </p:cNvSpPr>
          <p:nvPr/>
        </p:nvSpPr>
        <p:spPr>
          <a:xfrm>
            <a:off x="2895600" y="5762625"/>
            <a:ext cx="1857375" cy="381000"/>
          </a:xfrm>
          <a:prstGeom prst="roundRect">
            <a:avLst>
              <a:gd name="adj" fmla="val 20000"/>
            </a:avLst>
          </a:prstGeom>
          <a:solidFill>
            <a:srgbClr val="222624"/>
          </a:solidFill>
          <a:ln w="9525">
            <a:solidFill>
              <a:srgbClr val="3A403C"/>
            </a:solidFill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3E15B00-2619-4F54-8C10-CB9E8C55975F}"/>
              </a:ext>
            </a:extLst>
          </p:cNvPr>
          <p:cNvSpPr>
            <a:spLocks noGrp="1"/>
          </p:cNvSpPr>
          <p:nvPr/>
        </p:nvSpPr>
        <p:spPr>
          <a:xfrm>
            <a:off x="2971800" y="586740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>
              <a:defRPr sz="825" b="0">
                <a:solidFill>
                  <a:srgbClr val="D7D1C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7D1C4"/>
                </a:solidFill>
                <a:latin typeface="Aptos"/>
                <a:ea typeface="Aptos"/>
                <a:cs typeface="Aptos"/>
              </a:rPr>
              <a:t>Lower route cost / time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3FB4E5A-5B84-467F-949B-079B76DB9313}"/>
              </a:ext>
            </a:extLst>
          </p:cNvPr>
          <p:cNvSpPr>
            <a:spLocks noGrp="1"/>
          </p:cNvSpPr>
          <p:nvPr/>
        </p:nvSpPr>
        <p:spPr>
          <a:xfrm>
            <a:off x="5029200" y="5762625"/>
            <a:ext cx="1857375" cy="381000"/>
          </a:xfrm>
          <a:prstGeom prst="roundRect">
            <a:avLst>
              <a:gd name="adj" fmla="val 20000"/>
            </a:avLst>
          </a:prstGeom>
          <a:solidFill>
            <a:srgbClr val="222624"/>
          </a:solidFill>
          <a:ln w="9525">
            <a:solidFill>
              <a:srgbClr val="3A403C"/>
            </a:solidFill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6E019A-AA57-4907-B76C-CF98E0D1E7E0}"/>
              </a:ext>
            </a:extLst>
          </p:cNvPr>
          <p:cNvSpPr>
            <a:spLocks noGrp="1"/>
          </p:cNvSpPr>
          <p:nvPr/>
        </p:nvSpPr>
        <p:spPr>
          <a:xfrm>
            <a:off x="5105400" y="586740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>
              <a:defRPr sz="825" b="0">
                <a:solidFill>
                  <a:srgbClr val="D7D1C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7D1C4"/>
                </a:solidFill>
                <a:latin typeface="Aptos"/>
                <a:ea typeface="Aptos"/>
                <a:cs typeface="Aptos"/>
              </a:rPr>
              <a:t>Capacity handling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A3563F6-14B9-47A6-8D96-F6C39C6B0555}"/>
              </a:ext>
            </a:extLst>
          </p:cNvPr>
          <p:cNvSpPr>
            <a:spLocks noGrp="1"/>
          </p:cNvSpPr>
          <p:nvPr/>
        </p:nvSpPr>
        <p:spPr>
          <a:xfrm>
            <a:off x="7162800" y="5762625"/>
            <a:ext cx="1857375" cy="381000"/>
          </a:xfrm>
          <a:prstGeom prst="roundRect">
            <a:avLst>
              <a:gd name="adj" fmla="val 20000"/>
            </a:avLst>
          </a:prstGeom>
          <a:solidFill>
            <a:srgbClr val="222624"/>
          </a:solidFill>
          <a:ln w="9525">
            <a:solidFill>
              <a:srgbClr val="3A403C"/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07E18E5-6CEE-44AD-9565-50F867D57FDF}"/>
              </a:ext>
            </a:extLst>
          </p:cNvPr>
          <p:cNvSpPr>
            <a:spLocks noGrp="1"/>
          </p:cNvSpPr>
          <p:nvPr/>
        </p:nvSpPr>
        <p:spPr>
          <a:xfrm>
            <a:off x="7239000" y="586740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>
              <a:defRPr sz="825" b="0">
                <a:solidFill>
                  <a:srgbClr val="D7D1C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7D1C4"/>
                </a:solidFill>
                <a:latin typeface="Aptos"/>
                <a:ea typeface="Aptos"/>
                <a:cs typeface="Aptos"/>
              </a:rPr>
              <a:t>ETA estimation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96F42BA-596D-486C-A0D5-D06A5C2F870C}"/>
              </a:ext>
            </a:extLst>
          </p:cNvPr>
          <p:cNvSpPr>
            <a:spLocks noGrp="1"/>
          </p:cNvSpPr>
          <p:nvPr/>
        </p:nvSpPr>
        <p:spPr>
          <a:xfrm>
            <a:off x="9296400" y="5762625"/>
            <a:ext cx="1857375" cy="381000"/>
          </a:xfrm>
          <a:prstGeom prst="roundRect">
            <a:avLst>
              <a:gd name="adj" fmla="val 20000"/>
            </a:avLst>
          </a:prstGeom>
          <a:solidFill>
            <a:srgbClr val="222624"/>
          </a:solidFill>
          <a:ln w="9525">
            <a:solidFill>
              <a:srgbClr val="3A403C"/>
            </a:solidFill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7BD8C0F-B8B6-4541-BC11-CD793BC57C5E}"/>
              </a:ext>
            </a:extLst>
          </p:cNvPr>
          <p:cNvSpPr>
            <a:spLocks noGrp="1"/>
          </p:cNvSpPr>
          <p:nvPr/>
        </p:nvSpPr>
        <p:spPr>
          <a:xfrm>
            <a:off x="9372600" y="586740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>
              <a:defRPr sz="825" b="0">
                <a:solidFill>
                  <a:srgbClr val="D7D1C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7D1C4"/>
                </a:solidFill>
                <a:latin typeface="Aptos"/>
                <a:ea typeface="Aptos"/>
                <a:cs typeface="Aptos"/>
              </a:rPr>
              <a:t>Practical scalability</a:t>
            </a:r>
          </a:p>
        </p:txBody>
      </p:sp>
    </p:spTree>
    <p:extLst>
      <p:ext uri="{BB962C8B-B14F-4D97-AF65-F5344CB8AC3E}">
        <p14:creationId xmlns:p14="http://schemas.microsoft.com/office/powerpoint/2010/main" val="1763259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E1472825-6244-4F6D-A206-EEA4CEFEF7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C8A96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BB9247-D182-4375-9797-69FBBC6FE16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>
              <a:defRPr sz="82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METHODOLOGY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104D51-4CAA-4A43-8E61-64487B118451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2870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473"/>
          </a:bodyPr>
          <a:lstStyle/>
          <a:p>
            <a:pPr>
              <a:defRPr sz="232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INTEGRATED DSA DELIVERY ENGINE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ABFFE2-93BC-4EFF-AD69-378D1B3BE67A}"/>
              </a:ext>
            </a:extLst>
          </p:cNvPr>
          <p:cNvSpPr>
            <a:spLocks noGrp="1"/>
          </p:cNvSpPr>
          <p:nvPr/>
        </p:nvSpPr>
        <p:spPr>
          <a:xfrm>
            <a:off x="685800" y="1143000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667"/>
          </a:bodyPr>
          <a:lstStyle/>
          <a:p>
            <a:pPr>
              <a:defRPr sz="1050" b="0">
                <a:solidFill>
                  <a:srgbClr val="A9ADA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ADA7"/>
                </a:solidFill>
                <a:latin typeface="Aptos"/>
                <a:ea typeface="Aptos"/>
                <a:cs typeface="Aptos"/>
              </a:rPr>
              <a:t>A single pipeline connects data, feasibility, allocation, routing and ETA calculation.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C4FC8A4F-0A14-41A7-A909-63A8B431BDB2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10820400" cy="9525"/>
          </a:xfrm>
          <a:prstGeom prst="line">
            <a:avLst/>
          </a:prstGeom>
          <a:noFill/>
          <a:ln w="9525">
            <a:solidFill>
              <a:srgbClr val="8C7440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FBD3C1-FA64-4263-9C7B-B9819745FC88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4095750" cy="133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40741"/>
          </a:bodyPr>
          <a:lstStyle/>
          <a:p>
            <a:pPr>
              <a:defRPr sz="675" b="0">
                <a:solidFill>
                  <a:srgbClr val="A9AD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9ADA7"/>
                </a:solidFill>
                <a:latin typeface="Aptos"/>
                <a:ea typeface="Aptos"/>
                <a:cs typeface="Aptos"/>
              </a:rPr>
              <a:t>FOOD DELIVERY ROUTE OPTIMIZATION  /  REVIEW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979DF1-AF34-4A3A-9509-E491D02CD192}"/>
              </a:ext>
            </a:extLst>
          </p:cNvPr>
          <p:cNvSpPr>
            <a:spLocks noGrp="1"/>
          </p:cNvSpPr>
          <p:nvPr/>
        </p:nvSpPr>
        <p:spPr>
          <a:xfrm>
            <a:off x="11068050" y="6515100"/>
            <a:ext cx="438150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48485"/>
          </a:bodyPr>
          <a:lstStyle/>
          <a:p>
            <a:pPr>
              <a:defRPr sz="82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2446D5D-9597-4A00-B9D7-772668552930}"/>
              </a:ext>
            </a:extLst>
          </p:cNvPr>
          <p:cNvSpPr>
            <a:spLocks noGrp="1"/>
          </p:cNvSpPr>
          <p:nvPr/>
        </p:nvSpPr>
        <p:spPr>
          <a:xfrm>
            <a:off x="1638300" y="1733550"/>
            <a:ext cx="8915400" cy="361950"/>
          </a:xfrm>
          <a:prstGeom prst="roundRect">
            <a:avLst>
              <a:gd name="adj" fmla="val 21053"/>
            </a:avLst>
          </a:prstGeom>
          <a:solidFill>
            <a:srgbClr val="252A27"/>
          </a:solidFill>
          <a:ln w="9525">
            <a:solidFill>
              <a:srgbClr val="A9ADA7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33FC5E-781A-429E-B3EA-3CE4E32EA271}"/>
              </a:ext>
            </a:extLst>
          </p:cNvPr>
          <p:cNvSpPr>
            <a:spLocks noGrp="1"/>
          </p:cNvSpPr>
          <p:nvPr/>
        </p:nvSpPr>
        <p:spPr>
          <a:xfrm>
            <a:off x="1847850" y="1838325"/>
            <a:ext cx="1476375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3333"/>
          </a:bodyPr>
          <a:lstStyle/>
          <a:p>
            <a:pPr>
              <a:defRPr sz="750" b="1">
                <a:solidFill>
                  <a:srgbClr val="A9ADA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ADA7"/>
                </a:solidFill>
                <a:latin typeface="Aptos"/>
                <a:ea typeface="Aptos"/>
                <a:cs typeface="Aptos"/>
              </a:rPr>
              <a:t>INPUT LAYER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55AC4C-6843-4DA5-A637-B5AC189DAB15}"/>
              </a:ext>
            </a:extLst>
          </p:cNvPr>
          <p:cNvSpPr>
            <a:spLocks noGrp="1"/>
          </p:cNvSpPr>
          <p:nvPr/>
        </p:nvSpPr>
        <p:spPr>
          <a:xfrm>
            <a:off x="3524250" y="1819275"/>
            <a:ext cx="6667500" cy="1809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0256"/>
          </a:bodyPr>
          <a:lstStyle/>
          <a:p>
            <a:pPr>
              <a:defRPr sz="97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Orders  |  Riders  |  Restaurants  |  Customers  |  Road data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59D8CAB1-9AA9-4F7A-93D1-5577FFCE5959}"/>
              </a:ext>
            </a:extLst>
          </p:cNvPr>
          <p:cNvSpPr>
            <a:spLocks noGrp="1"/>
          </p:cNvSpPr>
          <p:nvPr/>
        </p:nvSpPr>
        <p:spPr>
          <a:xfrm>
            <a:off x="6096000" y="2105025"/>
            <a:ext cx="9525" cy="76200"/>
          </a:xfrm>
          <a:prstGeom prst="line">
            <a:avLst/>
          </a:prstGeom>
          <a:noFill/>
          <a:ln w="19050">
            <a:solidFill>
              <a:srgbClr val="C8A968"/>
            </a:solidFill>
          </a:ln>
        </p:spPr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637A9E-9FE7-4F2B-808B-89D1DA40826C}"/>
              </a:ext>
            </a:extLst>
          </p:cNvPr>
          <p:cNvSpPr>
            <a:spLocks noGrp="1"/>
          </p:cNvSpPr>
          <p:nvPr/>
        </p:nvSpPr>
        <p:spPr>
          <a:xfrm>
            <a:off x="6057900" y="2143125"/>
            <a:ext cx="76200" cy="7620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6E5B3B9-4B3B-4295-BAE9-4BD5B4A97845}"/>
              </a:ext>
            </a:extLst>
          </p:cNvPr>
          <p:cNvSpPr>
            <a:spLocks noGrp="1"/>
          </p:cNvSpPr>
          <p:nvPr/>
        </p:nvSpPr>
        <p:spPr>
          <a:xfrm>
            <a:off x="1638300" y="2200275"/>
            <a:ext cx="8915400" cy="361950"/>
          </a:xfrm>
          <a:prstGeom prst="roundRect">
            <a:avLst>
              <a:gd name="adj" fmla="val 21053"/>
            </a:avLst>
          </a:prstGeom>
          <a:solidFill>
            <a:srgbClr val="1A1D1B"/>
          </a:solidFill>
          <a:ln w="9525">
            <a:solidFill>
              <a:srgbClr val="5AC7D8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51D821-F8CC-40A5-B1A1-E4B6D004A838}"/>
              </a:ext>
            </a:extLst>
          </p:cNvPr>
          <p:cNvSpPr>
            <a:spLocks noGrp="1"/>
          </p:cNvSpPr>
          <p:nvPr/>
        </p:nvSpPr>
        <p:spPr>
          <a:xfrm>
            <a:off x="1847850" y="2305050"/>
            <a:ext cx="1476375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3333"/>
          </a:bodyPr>
          <a:lstStyle/>
          <a:p>
            <a:pPr>
              <a:defRPr sz="750" b="1">
                <a:solidFill>
                  <a:srgbClr val="5AC7D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AC7D8"/>
                </a:solidFill>
                <a:latin typeface="Aptos"/>
                <a:ea typeface="Aptos"/>
                <a:cs typeface="Aptos"/>
              </a:rPr>
              <a:t>FEASIBILITY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29381C-74FE-419F-BB4A-269838F8F60D}"/>
              </a:ext>
            </a:extLst>
          </p:cNvPr>
          <p:cNvSpPr>
            <a:spLocks noGrp="1"/>
          </p:cNvSpPr>
          <p:nvPr/>
        </p:nvSpPr>
        <p:spPr>
          <a:xfrm>
            <a:off x="3524250" y="2286000"/>
            <a:ext cx="6667500" cy="1809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0256"/>
          </a:bodyPr>
          <a:lstStyle/>
          <a:p>
            <a:pPr>
              <a:defRPr sz="975" b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F0E8"/>
                </a:solidFill>
                <a:latin typeface="Aptos"/>
                <a:ea typeface="Aptos"/>
                <a:cs typeface="Aptos"/>
              </a:rPr>
              <a:t>Bipartite matching filters viable rider-order pairs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1432CA19-A25C-45B3-A13A-CDE9520384E6}"/>
              </a:ext>
            </a:extLst>
          </p:cNvPr>
          <p:cNvSpPr>
            <a:spLocks noGrp="1"/>
          </p:cNvSpPr>
          <p:nvPr/>
        </p:nvSpPr>
        <p:spPr>
          <a:xfrm>
            <a:off x="6096000" y="2571750"/>
            <a:ext cx="9525" cy="76200"/>
          </a:xfrm>
          <a:prstGeom prst="line">
            <a:avLst/>
          </a:prstGeom>
          <a:noFill/>
          <a:ln w="19050">
            <a:solidFill>
              <a:srgbClr val="C8A968"/>
            </a:solidFill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18606D4-3AD3-460A-A0A0-373D03F57618}"/>
              </a:ext>
            </a:extLst>
          </p:cNvPr>
          <p:cNvSpPr>
            <a:spLocks noGrp="1"/>
          </p:cNvSpPr>
          <p:nvPr/>
        </p:nvSpPr>
        <p:spPr>
          <a:xfrm>
            <a:off x="6057900" y="2609850"/>
            <a:ext cx="76200" cy="7620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1BD95E2-24EE-4EEE-B8FD-7EB81FF91A5E}"/>
              </a:ext>
            </a:extLst>
          </p:cNvPr>
          <p:cNvSpPr>
            <a:spLocks noGrp="1"/>
          </p:cNvSpPr>
          <p:nvPr/>
        </p:nvSpPr>
        <p:spPr>
          <a:xfrm>
            <a:off x="1638300" y="2667000"/>
            <a:ext cx="8915400" cy="361950"/>
          </a:xfrm>
          <a:prstGeom prst="roundRect">
            <a:avLst>
              <a:gd name="adj" fmla="val 21053"/>
            </a:avLst>
          </a:prstGeom>
          <a:solidFill>
            <a:srgbClr val="1A1D1B"/>
          </a:solidFill>
          <a:ln w="9525">
            <a:solidFill>
              <a:srgbClr val="C8A968"/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2B51CE-79F0-4768-8DE0-AC205A7BF92A}"/>
              </a:ext>
            </a:extLst>
          </p:cNvPr>
          <p:cNvSpPr>
            <a:spLocks noGrp="1"/>
          </p:cNvSpPr>
          <p:nvPr/>
        </p:nvSpPr>
        <p:spPr>
          <a:xfrm>
            <a:off x="1847850" y="2771775"/>
            <a:ext cx="1476375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3333"/>
          </a:bodyPr>
          <a:lstStyle/>
          <a:p>
            <a:pPr>
              <a:defRPr sz="750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ASSIGNMENT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BCB4271-F1DB-463D-8D49-8AF28248E706}"/>
              </a:ext>
            </a:extLst>
          </p:cNvPr>
          <p:cNvSpPr>
            <a:spLocks noGrp="1"/>
          </p:cNvSpPr>
          <p:nvPr/>
        </p:nvSpPr>
        <p:spPr>
          <a:xfrm>
            <a:off x="3524250" y="2752725"/>
            <a:ext cx="6667500" cy="1809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0256"/>
          </a:bodyPr>
          <a:lstStyle/>
          <a:p>
            <a:pPr>
              <a:defRPr sz="975" b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F0E8"/>
                </a:solidFill>
                <a:latin typeface="Aptos"/>
                <a:ea typeface="Aptos"/>
                <a:cs typeface="Aptos"/>
              </a:rPr>
              <a:t>Cost matrix + assignment optimization choose a candidate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693999F4-B666-4666-85DC-5F0EDD0F9F10}"/>
              </a:ext>
            </a:extLst>
          </p:cNvPr>
          <p:cNvSpPr>
            <a:spLocks noGrp="1"/>
          </p:cNvSpPr>
          <p:nvPr/>
        </p:nvSpPr>
        <p:spPr>
          <a:xfrm>
            <a:off x="6096000" y="3038475"/>
            <a:ext cx="9525" cy="76200"/>
          </a:xfrm>
          <a:prstGeom prst="line">
            <a:avLst/>
          </a:prstGeom>
          <a:noFill/>
          <a:ln w="19050">
            <a:solidFill>
              <a:srgbClr val="C8A968"/>
            </a:solidFill>
          </a:ln>
        </p:spPr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ABEF068-3822-4FAD-83AE-49668DF608D3}"/>
              </a:ext>
            </a:extLst>
          </p:cNvPr>
          <p:cNvSpPr>
            <a:spLocks noGrp="1"/>
          </p:cNvSpPr>
          <p:nvPr/>
        </p:nvSpPr>
        <p:spPr>
          <a:xfrm>
            <a:off x="6057900" y="3076575"/>
            <a:ext cx="76200" cy="7620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558AD33-E723-4B29-BCF3-7C1FCC90FA0D}"/>
              </a:ext>
            </a:extLst>
          </p:cNvPr>
          <p:cNvSpPr>
            <a:spLocks noGrp="1"/>
          </p:cNvSpPr>
          <p:nvPr/>
        </p:nvSpPr>
        <p:spPr>
          <a:xfrm>
            <a:off x="1638300" y="3133725"/>
            <a:ext cx="8915400" cy="361950"/>
          </a:xfrm>
          <a:prstGeom prst="roundRect">
            <a:avLst>
              <a:gd name="adj" fmla="val 21053"/>
            </a:avLst>
          </a:prstGeom>
          <a:solidFill>
            <a:srgbClr val="1A1D1B"/>
          </a:solidFill>
          <a:ln w="9525">
            <a:solidFill>
              <a:srgbClr val="5AC7D8"/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4B2354C-8121-458B-8256-065EE310D48E}"/>
              </a:ext>
            </a:extLst>
          </p:cNvPr>
          <p:cNvSpPr>
            <a:spLocks noGrp="1"/>
          </p:cNvSpPr>
          <p:nvPr/>
        </p:nvSpPr>
        <p:spPr>
          <a:xfrm>
            <a:off x="1847850" y="3238500"/>
            <a:ext cx="1476375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3333"/>
          </a:bodyPr>
          <a:lstStyle/>
          <a:p>
            <a:pPr>
              <a:defRPr sz="750" b="1">
                <a:solidFill>
                  <a:srgbClr val="5AC7D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AC7D8"/>
                </a:solidFill>
                <a:latin typeface="Aptos"/>
                <a:ea typeface="Aptos"/>
                <a:cs typeface="Aptos"/>
              </a:rPr>
              <a:t>CAPACITY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52DDCD9-90ED-47FE-AAFD-E8CE377A04DC}"/>
              </a:ext>
            </a:extLst>
          </p:cNvPr>
          <p:cNvSpPr>
            <a:spLocks noGrp="1"/>
          </p:cNvSpPr>
          <p:nvPr/>
        </p:nvSpPr>
        <p:spPr>
          <a:xfrm>
            <a:off x="3524250" y="3219450"/>
            <a:ext cx="6667500" cy="1809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0256"/>
          </a:bodyPr>
          <a:lstStyle/>
          <a:p>
            <a:pPr>
              <a:defRPr sz="975" b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F0E8"/>
                </a:solidFill>
                <a:latin typeface="Aptos"/>
                <a:ea typeface="Aptos"/>
                <a:cs typeface="Aptos"/>
              </a:rPr>
              <a:t>Network flow checks rider capacity constraints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D37471C5-26EA-4357-A832-5FDC044E32C5}"/>
              </a:ext>
            </a:extLst>
          </p:cNvPr>
          <p:cNvSpPr>
            <a:spLocks noGrp="1"/>
          </p:cNvSpPr>
          <p:nvPr/>
        </p:nvSpPr>
        <p:spPr>
          <a:xfrm>
            <a:off x="6096000" y="3505200"/>
            <a:ext cx="9525" cy="76200"/>
          </a:xfrm>
          <a:prstGeom prst="line">
            <a:avLst/>
          </a:prstGeom>
          <a:noFill/>
          <a:ln w="19050">
            <a:solidFill>
              <a:srgbClr val="C8A968"/>
            </a:solidFill>
          </a:ln>
        </p:spPr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C7CF86E-F1D9-44AC-B012-05C23F1DCD0E}"/>
              </a:ext>
            </a:extLst>
          </p:cNvPr>
          <p:cNvSpPr>
            <a:spLocks noGrp="1"/>
          </p:cNvSpPr>
          <p:nvPr/>
        </p:nvSpPr>
        <p:spPr>
          <a:xfrm>
            <a:off x="6057900" y="3543300"/>
            <a:ext cx="76200" cy="7620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90C0800-42BF-4DD2-8849-3565EA11CD51}"/>
              </a:ext>
            </a:extLst>
          </p:cNvPr>
          <p:cNvSpPr>
            <a:spLocks noGrp="1"/>
          </p:cNvSpPr>
          <p:nvPr/>
        </p:nvSpPr>
        <p:spPr>
          <a:xfrm>
            <a:off x="1638300" y="3600450"/>
            <a:ext cx="8915400" cy="361950"/>
          </a:xfrm>
          <a:prstGeom prst="roundRect">
            <a:avLst>
              <a:gd name="adj" fmla="val 21053"/>
            </a:avLst>
          </a:prstGeom>
          <a:solidFill>
            <a:srgbClr val="1A1D1B"/>
          </a:solidFill>
          <a:ln w="9525">
            <a:solidFill>
              <a:srgbClr val="C8A968"/>
            </a:solidFill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B381CD7-F7E1-484E-A2BD-976E260E4B64}"/>
              </a:ext>
            </a:extLst>
          </p:cNvPr>
          <p:cNvSpPr>
            <a:spLocks noGrp="1"/>
          </p:cNvSpPr>
          <p:nvPr/>
        </p:nvSpPr>
        <p:spPr>
          <a:xfrm>
            <a:off x="1847850" y="3705225"/>
            <a:ext cx="1476375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3333"/>
          </a:bodyPr>
          <a:lstStyle/>
          <a:p>
            <a:pPr>
              <a:defRPr sz="750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ROUTING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FD23B7D-668A-485F-8605-7DF9049EA090}"/>
              </a:ext>
            </a:extLst>
          </p:cNvPr>
          <p:cNvSpPr>
            <a:spLocks noGrp="1"/>
          </p:cNvSpPr>
          <p:nvPr/>
        </p:nvSpPr>
        <p:spPr>
          <a:xfrm>
            <a:off x="3524250" y="3686175"/>
            <a:ext cx="6667500" cy="1809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0256"/>
          </a:bodyPr>
          <a:lstStyle/>
          <a:p>
            <a:pPr>
              <a:defRPr sz="975" b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F0E8"/>
                </a:solidFill>
                <a:latin typeface="Aptos"/>
                <a:ea typeface="Aptos"/>
                <a:cs typeface="Aptos"/>
              </a:rPr>
              <a:t>Weighted graph + Dijkstra derive shortest path</a:t>
            </a:r>
          </a:p>
        </p:txBody>
      </p:sp>
      <p:sp>
        <p:nvSpPr>
          <p:cNvPr id="31" name="Straight Connector 30">
            <a:extLst>
              <a:ext uri="{FF2B5EF4-FFF2-40B4-BE49-F238E27FC236}">
                <a16:creationId xmlns:a16="http://schemas.microsoft.com/office/drawing/2014/main" id="{FD7E39D8-188D-43DE-B459-98B73573589E}"/>
              </a:ext>
            </a:extLst>
          </p:cNvPr>
          <p:cNvSpPr>
            <a:spLocks noGrp="1"/>
          </p:cNvSpPr>
          <p:nvPr/>
        </p:nvSpPr>
        <p:spPr>
          <a:xfrm>
            <a:off x="6096000" y="3971925"/>
            <a:ext cx="9525" cy="76200"/>
          </a:xfrm>
          <a:prstGeom prst="line">
            <a:avLst/>
          </a:prstGeom>
          <a:noFill/>
          <a:ln w="19050">
            <a:solidFill>
              <a:srgbClr val="C8A968"/>
            </a:solidFill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F6FACF3-2E53-479F-A832-92B0DBA1D05E}"/>
              </a:ext>
            </a:extLst>
          </p:cNvPr>
          <p:cNvSpPr>
            <a:spLocks noGrp="1"/>
          </p:cNvSpPr>
          <p:nvPr/>
        </p:nvSpPr>
        <p:spPr>
          <a:xfrm>
            <a:off x="6057900" y="4010025"/>
            <a:ext cx="76200" cy="7620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88991B7-E1D0-473A-8AAE-3367FB2AF656}"/>
              </a:ext>
            </a:extLst>
          </p:cNvPr>
          <p:cNvSpPr>
            <a:spLocks noGrp="1"/>
          </p:cNvSpPr>
          <p:nvPr/>
        </p:nvSpPr>
        <p:spPr>
          <a:xfrm>
            <a:off x="1638300" y="4067175"/>
            <a:ext cx="8915400" cy="361950"/>
          </a:xfrm>
          <a:prstGeom prst="roundRect">
            <a:avLst>
              <a:gd name="adj" fmla="val 21053"/>
            </a:avLst>
          </a:prstGeom>
          <a:solidFill>
            <a:srgbClr val="1A1D1B"/>
          </a:solidFill>
          <a:ln w="9525">
            <a:solidFill>
              <a:srgbClr val="5AC7D8"/>
            </a:solidFill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A211421-D461-4379-B997-0603C3F75944}"/>
              </a:ext>
            </a:extLst>
          </p:cNvPr>
          <p:cNvSpPr>
            <a:spLocks noGrp="1"/>
          </p:cNvSpPr>
          <p:nvPr/>
        </p:nvSpPr>
        <p:spPr>
          <a:xfrm>
            <a:off x="1847850" y="4171950"/>
            <a:ext cx="1476375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3333"/>
          </a:bodyPr>
          <a:lstStyle/>
          <a:p>
            <a:pPr>
              <a:defRPr sz="750" b="1">
                <a:solidFill>
                  <a:srgbClr val="5AC7D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AC7D8"/>
                </a:solidFill>
                <a:latin typeface="Aptos"/>
                <a:ea typeface="Aptos"/>
                <a:cs typeface="Aptos"/>
              </a:rPr>
              <a:t>MULTI-STOP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4157095-C18E-464F-8DD0-CC7F97FB2D07}"/>
              </a:ext>
            </a:extLst>
          </p:cNvPr>
          <p:cNvSpPr>
            <a:spLocks noGrp="1"/>
          </p:cNvSpPr>
          <p:nvPr/>
        </p:nvSpPr>
        <p:spPr>
          <a:xfrm>
            <a:off x="3524250" y="4152900"/>
            <a:ext cx="6667500" cy="1809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0256"/>
          </a:bodyPr>
          <a:lstStyle/>
          <a:p>
            <a:pPr>
              <a:defRPr sz="975" b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F0E8"/>
                </a:solidFill>
                <a:latin typeface="Aptos"/>
                <a:ea typeface="Aptos"/>
                <a:cs typeface="Aptos"/>
              </a:rPr>
              <a:t>TSP + approximation sequence larger routes</a:t>
            </a:r>
          </a:p>
        </p:txBody>
      </p:sp>
      <p:sp>
        <p:nvSpPr>
          <p:cNvPr id="36" name="Straight Connector 35">
            <a:extLst>
              <a:ext uri="{FF2B5EF4-FFF2-40B4-BE49-F238E27FC236}">
                <a16:creationId xmlns:a16="http://schemas.microsoft.com/office/drawing/2014/main" id="{3FF366B4-2DCE-426C-AC0D-16BB399744CC}"/>
              </a:ext>
            </a:extLst>
          </p:cNvPr>
          <p:cNvSpPr>
            <a:spLocks noGrp="1"/>
          </p:cNvSpPr>
          <p:nvPr/>
        </p:nvSpPr>
        <p:spPr>
          <a:xfrm>
            <a:off x="6096000" y="4438650"/>
            <a:ext cx="9525" cy="76200"/>
          </a:xfrm>
          <a:prstGeom prst="line">
            <a:avLst/>
          </a:prstGeom>
          <a:noFill/>
          <a:ln w="19050">
            <a:solidFill>
              <a:srgbClr val="C8A968"/>
            </a:solidFill>
          </a:ln>
        </p:spPr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6843992-76E4-4FE2-8AF4-E0AF71C02B54}"/>
              </a:ext>
            </a:extLst>
          </p:cNvPr>
          <p:cNvSpPr>
            <a:spLocks noGrp="1"/>
          </p:cNvSpPr>
          <p:nvPr/>
        </p:nvSpPr>
        <p:spPr>
          <a:xfrm>
            <a:off x="6057900" y="4476750"/>
            <a:ext cx="76200" cy="7620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28C2E66-363D-4790-B857-7B4DF68191D1}"/>
              </a:ext>
            </a:extLst>
          </p:cNvPr>
          <p:cNvSpPr>
            <a:spLocks noGrp="1"/>
          </p:cNvSpPr>
          <p:nvPr/>
        </p:nvSpPr>
        <p:spPr>
          <a:xfrm>
            <a:off x="1638300" y="4533900"/>
            <a:ext cx="8915400" cy="361950"/>
          </a:xfrm>
          <a:prstGeom prst="roundRect">
            <a:avLst>
              <a:gd name="adj" fmla="val 21053"/>
            </a:avLst>
          </a:prstGeom>
          <a:solidFill>
            <a:srgbClr val="1A1D1B"/>
          </a:solidFill>
          <a:ln w="9525">
            <a:solidFill>
              <a:srgbClr val="C8A968"/>
            </a:solidFill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FAA15E0-6CB8-425E-BCEC-728E827C7825}"/>
              </a:ext>
            </a:extLst>
          </p:cNvPr>
          <p:cNvSpPr>
            <a:spLocks noGrp="1"/>
          </p:cNvSpPr>
          <p:nvPr/>
        </p:nvSpPr>
        <p:spPr>
          <a:xfrm>
            <a:off x="1847850" y="4638675"/>
            <a:ext cx="1476375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3333"/>
          </a:bodyPr>
          <a:lstStyle/>
          <a:p>
            <a:pPr>
              <a:defRPr sz="750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FA7FE81-C827-4CD1-876B-DC1C97E03E53}"/>
              </a:ext>
            </a:extLst>
          </p:cNvPr>
          <p:cNvSpPr>
            <a:spLocks noGrp="1"/>
          </p:cNvSpPr>
          <p:nvPr/>
        </p:nvSpPr>
        <p:spPr>
          <a:xfrm>
            <a:off x="3524250" y="4619625"/>
            <a:ext cx="6667500" cy="1809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0256"/>
          </a:bodyPr>
          <a:lstStyle/>
          <a:p>
            <a:pPr>
              <a:defRPr sz="975" b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F0E8"/>
                </a:solidFill>
                <a:latin typeface="Aptos"/>
                <a:ea typeface="Aptos"/>
                <a:cs typeface="Aptos"/>
              </a:rPr>
              <a:t>Randomized tie-breaking resolves similar alternatives</a:t>
            </a:r>
          </a:p>
        </p:txBody>
      </p:sp>
      <p:sp>
        <p:nvSpPr>
          <p:cNvPr id="41" name="Straight Connector 40">
            <a:extLst>
              <a:ext uri="{FF2B5EF4-FFF2-40B4-BE49-F238E27FC236}">
                <a16:creationId xmlns:a16="http://schemas.microsoft.com/office/drawing/2014/main" id="{610900D2-4D60-4F74-8954-C44C72BD9DA8}"/>
              </a:ext>
            </a:extLst>
          </p:cNvPr>
          <p:cNvSpPr>
            <a:spLocks noGrp="1"/>
          </p:cNvSpPr>
          <p:nvPr/>
        </p:nvSpPr>
        <p:spPr>
          <a:xfrm>
            <a:off x="6096000" y="4905375"/>
            <a:ext cx="9525" cy="76200"/>
          </a:xfrm>
          <a:prstGeom prst="line">
            <a:avLst/>
          </a:prstGeom>
          <a:noFill/>
          <a:ln w="19050">
            <a:solidFill>
              <a:srgbClr val="C8A968"/>
            </a:solidFill>
          </a:ln>
        </p:spPr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4B85801-6A19-4500-B05A-2A7E2F566F8E}"/>
              </a:ext>
            </a:extLst>
          </p:cNvPr>
          <p:cNvSpPr>
            <a:spLocks noGrp="1"/>
          </p:cNvSpPr>
          <p:nvPr/>
        </p:nvSpPr>
        <p:spPr>
          <a:xfrm>
            <a:off x="6057900" y="4943475"/>
            <a:ext cx="76200" cy="7620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73D0295-E2D8-4D6C-9903-CBA7733DB168}"/>
              </a:ext>
            </a:extLst>
          </p:cNvPr>
          <p:cNvSpPr>
            <a:spLocks noGrp="1"/>
          </p:cNvSpPr>
          <p:nvPr/>
        </p:nvSpPr>
        <p:spPr>
          <a:xfrm>
            <a:off x="1638300" y="5000625"/>
            <a:ext cx="8915400" cy="361950"/>
          </a:xfrm>
          <a:prstGeom prst="roundRect">
            <a:avLst>
              <a:gd name="adj" fmla="val 21053"/>
            </a:avLst>
          </a:prstGeom>
          <a:solidFill>
            <a:srgbClr val="1A1D1B"/>
          </a:solidFill>
          <a:ln w="9525">
            <a:solidFill>
              <a:srgbClr val="5AC7D8"/>
            </a:solidFill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02B32FA-8C11-45C6-96A9-DE114E5B06A9}"/>
              </a:ext>
            </a:extLst>
          </p:cNvPr>
          <p:cNvSpPr>
            <a:spLocks noGrp="1"/>
          </p:cNvSpPr>
          <p:nvPr/>
        </p:nvSpPr>
        <p:spPr>
          <a:xfrm>
            <a:off x="1847850" y="5105400"/>
            <a:ext cx="1476375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3333"/>
          </a:bodyPr>
          <a:lstStyle/>
          <a:p>
            <a:pPr>
              <a:defRPr sz="750" b="1">
                <a:solidFill>
                  <a:srgbClr val="5AC7D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AC7D8"/>
                </a:solidFill>
                <a:latin typeface="Aptos"/>
                <a:ea typeface="Aptos"/>
                <a:cs typeface="Aptos"/>
              </a:rPr>
              <a:t>ETA ENGINE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7F6D11E-F3D5-4F1A-8870-D60AC7E627A1}"/>
              </a:ext>
            </a:extLst>
          </p:cNvPr>
          <p:cNvSpPr>
            <a:spLocks noGrp="1"/>
          </p:cNvSpPr>
          <p:nvPr/>
        </p:nvSpPr>
        <p:spPr>
          <a:xfrm>
            <a:off x="3524250" y="5086350"/>
            <a:ext cx="6667500" cy="1809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0256"/>
          </a:bodyPr>
          <a:lstStyle/>
          <a:p>
            <a:pPr>
              <a:defRPr sz="975" b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F0E8"/>
                </a:solidFill>
                <a:latin typeface="Aptos"/>
                <a:ea typeface="Aptos"/>
                <a:cs typeface="Aptos"/>
              </a:rPr>
              <a:t>Travel time + speed + traffic factor + preparation time</a:t>
            </a:r>
          </a:p>
        </p:txBody>
      </p:sp>
      <p:sp>
        <p:nvSpPr>
          <p:cNvPr id="46" name="Straight Connector 45">
            <a:extLst>
              <a:ext uri="{FF2B5EF4-FFF2-40B4-BE49-F238E27FC236}">
                <a16:creationId xmlns:a16="http://schemas.microsoft.com/office/drawing/2014/main" id="{F74779F0-335C-4F1D-BDF2-D151F6C03963}"/>
              </a:ext>
            </a:extLst>
          </p:cNvPr>
          <p:cNvSpPr>
            <a:spLocks noGrp="1"/>
          </p:cNvSpPr>
          <p:nvPr/>
        </p:nvSpPr>
        <p:spPr>
          <a:xfrm>
            <a:off x="6096000" y="5372100"/>
            <a:ext cx="9525" cy="76200"/>
          </a:xfrm>
          <a:prstGeom prst="line">
            <a:avLst/>
          </a:prstGeom>
          <a:noFill/>
          <a:ln w="19050">
            <a:solidFill>
              <a:srgbClr val="C8A968"/>
            </a:solidFill>
          </a:ln>
        </p:spPr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BBBF1B7-DE67-4C1A-95E5-123BFE0DD954}"/>
              </a:ext>
            </a:extLst>
          </p:cNvPr>
          <p:cNvSpPr>
            <a:spLocks noGrp="1"/>
          </p:cNvSpPr>
          <p:nvPr/>
        </p:nvSpPr>
        <p:spPr>
          <a:xfrm>
            <a:off x="6057900" y="5410200"/>
            <a:ext cx="76200" cy="7620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7B3DCC32-3E4F-4DCB-BC60-6092293B8F9F}"/>
              </a:ext>
            </a:extLst>
          </p:cNvPr>
          <p:cNvSpPr>
            <a:spLocks noGrp="1"/>
          </p:cNvSpPr>
          <p:nvPr/>
        </p:nvSpPr>
        <p:spPr>
          <a:xfrm>
            <a:off x="1638300" y="5467350"/>
            <a:ext cx="8915400" cy="361950"/>
          </a:xfrm>
          <a:prstGeom prst="roundRect">
            <a:avLst>
              <a:gd name="adj" fmla="val 21053"/>
            </a:avLst>
          </a:prstGeom>
          <a:solidFill>
            <a:srgbClr val="252A27"/>
          </a:solidFill>
          <a:ln w="9525">
            <a:solidFill>
              <a:srgbClr val="C8A968"/>
            </a:solidFill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C11C56D-0624-404A-9207-7836E0EEEC24}"/>
              </a:ext>
            </a:extLst>
          </p:cNvPr>
          <p:cNvSpPr>
            <a:spLocks noGrp="1"/>
          </p:cNvSpPr>
          <p:nvPr/>
        </p:nvSpPr>
        <p:spPr>
          <a:xfrm>
            <a:off x="1847850" y="5572125"/>
            <a:ext cx="1476375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3333"/>
          </a:bodyPr>
          <a:lstStyle/>
          <a:p>
            <a:pPr>
              <a:defRPr sz="750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40C84DF-9305-467B-9C63-3BB485992C2F}"/>
              </a:ext>
            </a:extLst>
          </p:cNvPr>
          <p:cNvSpPr>
            <a:spLocks noGrp="1"/>
          </p:cNvSpPr>
          <p:nvPr/>
        </p:nvSpPr>
        <p:spPr>
          <a:xfrm>
            <a:off x="3524250" y="5553075"/>
            <a:ext cx="6667500" cy="1809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0256"/>
          </a:bodyPr>
          <a:lstStyle/>
          <a:p>
            <a:pPr>
              <a:defRPr sz="97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Rider  |  Route  |  ETA  |  Distance  |  Workload</a:t>
            </a:r>
          </a:p>
        </p:txBody>
      </p:sp>
    </p:spTree>
    <p:extLst>
      <p:ext uri="{BB962C8B-B14F-4D97-AF65-F5344CB8AC3E}">
        <p14:creationId xmlns:p14="http://schemas.microsoft.com/office/powerpoint/2010/main" val="132848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55F5D577-D060-42C6-9A4D-FCB5D9E3B0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C8A96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7648B6-F113-4D5F-AEAF-4FCE851075F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>
              <a:defRPr sz="82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NOVELTY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5CE13D-BE6E-4FBD-B8A4-4229B7F6CD7C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2870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473"/>
          </a:bodyPr>
          <a:lstStyle/>
          <a:p>
            <a:pPr>
              <a:defRPr sz="232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WHAT MAKES OUR APPROACH DISTINCT?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9768ED-538F-41F4-8E73-7A40E0E7F657}"/>
              </a:ext>
            </a:extLst>
          </p:cNvPr>
          <p:cNvSpPr>
            <a:spLocks noGrp="1"/>
          </p:cNvSpPr>
          <p:nvPr/>
        </p:nvSpPr>
        <p:spPr>
          <a:xfrm>
            <a:off x="685800" y="1143000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667"/>
          </a:bodyPr>
          <a:lstStyle/>
          <a:p>
            <a:pPr>
              <a:defRPr sz="1050" b="0">
                <a:solidFill>
                  <a:srgbClr val="A9ADA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ADA7"/>
                </a:solidFill>
                <a:latin typeface="Aptos"/>
                <a:ea typeface="Aptos"/>
                <a:cs typeface="Aptos"/>
              </a:rPr>
              <a:t>Project-level methodological integration, not a claim that individual algorithms are new.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6DBE67C1-CE3E-4037-A697-DB4A960E741A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10820400" cy="9525"/>
          </a:xfrm>
          <a:prstGeom prst="line">
            <a:avLst/>
          </a:prstGeom>
          <a:noFill/>
          <a:ln w="9525">
            <a:solidFill>
              <a:srgbClr val="8C7440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15B262-CF23-46B2-B165-E90A6066E1B4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4095750" cy="133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40741"/>
          </a:bodyPr>
          <a:lstStyle/>
          <a:p>
            <a:pPr>
              <a:defRPr sz="675" b="0">
                <a:solidFill>
                  <a:srgbClr val="A9AD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9ADA7"/>
                </a:solidFill>
                <a:latin typeface="Aptos"/>
                <a:ea typeface="Aptos"/>
                <a:cs typeface="Aptos"/>
              </a:rPr>
              <a:t>FOOD DELIVERY ROUTE OPTIMIZATION  /  REVIEW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5EDC43-E48A-4184-A078-4491A963D2AB}"/>
              </a:ext>
            </a:extLst>
          </p:cNvPr>
          <p:cNvSpPr>
            <a:spLocks noGrp="1"/>
          </p:cNvSpPr>
          <p:nvPr/>
        </p:nvSpPr>
        <p:spPr>
          <a:xfrm>
            <a:off x="11068050" y="6515100"/>
            <a:ext cx="438150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48485"/>
          </a:bodyPr>
          <a:lstStyle/>
          <a:p>
            <a:pPr>
              <a:defRPr sz="82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BD4C25C-FB7D-452E-9893-D520B2C9231B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3714750" cy="3143250"/>
          </a:xfrm>
          <a:prstGeom prst="roundRect">
            <a:avLst>
              <a:gd name="adj" fmla="val 2424"/>
            </a:avLst>
          </a:prstGeom>
          <a:solidFill>
            <a:srgbClr val="1A1D1B"/>
          </a:solidFill>
          <a:ln w="9525">
            <a:solidFill>
              <a:srgbClr val="3A403C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64E94E-A01D-4CA3-AD54-F54683BFC435}"/>
              </a:ext>
            </a:extLst>
          </p:cNvPr>
          <p:cNvSpPr>
            <a:spLocks noGrp="1"/>
          </p:cNvSpPr>
          <p:nvPr/>
        </p:nvSpPr>
        <p:spPr>
          <a:xfrm>
            <a:off x="952500" y="2286000"/>
            <a:ext cx="2857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>
              <a:defRPr sz="825" b="1">
                <a:solidFill>
                  <a:srgbClr val="A9ADA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ADA7"/>
                </a:solidFill>
                <a:latin typeface="Aptos"/>
                <a:ea typeface="Aptos"/>
                <a:cs typeface="Aptos"/>
              </a:rPr>
              <a:t>CONVENTIONAL ISOLATED APPROACH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A2D4813-FFB7-479A-990F-2097187F3DBB}"/>
              </a:ext>
            </a:extLst>
          </p:cNvPr>
          <p:cNvSpPr>
            <a:spLocks noGrp="1"/>
          </p:cNvSpPr>
          <p:nvPr/>
        </p:nvSpPr>
        <p:spPr>
          <a:xfrm>
            <a:off x="1000125" y="2781300"/>
            <a:ext cx="2857500" cy="419100"/>
          </a:xfrm>
          <a:prstGeom prst="roundRect">
            <a:avLst>
              <a:gd name="adj" fmla="val 18182"/>
            </a:avLst>
          </a:prstGeom>
          <a:solidFill>
            <a:srgbClr val="202321"/>
          </a:solidFill>
          <a:ln w="9525">
            <a:solidFill>
              <a:srgbClr val="3A403C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C0ED16-595B-482F-9E57-A4B6072D9269}"/>
              </a:ext>
            </a:extLst>
          </p:cNvPr>
          <p:cNvSpPr>
            <a:spLocks noGrp="1"/>
          </p:cNvSpPr>
          <p:nvPr/>
        </p:nvSpPr>
        <p:spPr>
          <a:xfrm>
            <a:off x="1219200" y="2905125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4167"/>
          </a:bodyPr>
          <a:lstStyle/>
          <a:p>
            <a:pPr>
              <a:defRPr sz="1200" b="0">
                <a:solidFill>
                  <a:srgbClr val="D7D1C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7D1C4"/>
                </a:solidFill>
                <a:latin typeface="Aptos"/>
                <a:ea typeface="Aptos"/>
                <a:cs typeface="Aptos"/>
              </a:rPr>
              <a:t>Routing only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F410803-C41B-48F7-B6B8-9DE040979332}"/>
              </a:ext>
            </a:extLst>
          </p:cNvPr>
          <p:cNvSpPr>
            <a:spLocks noGrp="1"/>
          </p:cNvSpPr>
          <p:nvPr/>
        </p:nvSpPr>
        <p:spPr>
          <a:xfrm>
            <a:off x="1000125" y="3400425"/>
            <a:ext cx="2857500" cy="419100"/>
          </a:xfrm>
          <a:prstGeom prst="roundRect">
            <a:avLst>
              <a:gd name="adj" fmla="val 18182"/>
            </a:avLst>
          </a:prstGeom>
          <a:solidFill>
            <a:srgbClr val="202321"/>
          </a:solidFill>
          <a:ln w="9525">
            <a:solidFill>
              <a:srgbClr val="3A403C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109168-51F6-4DA3-99E0-6C0DF413675F}"/>
              </a:ext>
            </a:extLst>
          </p:cNvPr>
          <p:cNvSpPr>
            <a:spLocks noGrp="1"/>
          </p:cNvSpPr>
          <p:nvPr/>
        </p:nvSpPr>
        <p:spPr>
          <a:xfrm>
            <a:off x="1219200" y="3524250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4167"/>
          </a:bodyPr>
          <a:lstStyle/>
          <a:p>
            <a:pPr>
              <a:defRPr sz="1200" b="0">
                <a:solidFill>
                  <a:srgbClr val="D7D1C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7D1C4"/>
                </a:solidFill>
                <a:latin typeface="Aptos"/>
                <a:ea typeface="Aptos"/>
                <a:cs typeface="Aptos"/>
              </a:rPr>
              <a:t>Assignment only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17A2DAD-0549-43E7-968E-5FAD3212D4BB}"/>
              </a:ext>
            </a:extLst>
          </p:cNvPr>
          <p:cNvSpPr>
            <a:spLocks noGrp="1"/>
          </p:cNvSpPr>
          <p:nvPr/>
        </p:nvSpPr>
        <p:spPr>
          <a:xfrm>
            <a:off x="1000125" y="4019550"/>
            <a:ext cx="2857500" cy="419100"/>
          </a:xfrm>
          <a:prstGeom prst="roundRect">
            <a:avLst>
              <a:gd name="adj" fmla="val 18182"/>
            </a:avLst>
          </a:prstGeom>
          <a:solidFill>
            <a:srgbClr val="202321"/>
          </a:solidFill>
          <a:ln w="9525">
            <a:solidFill>
              <a:srgbClr val="3A403C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FCF0E9-4DA6-424F-AAB6-E269DB084445}"/>
              </a:ext>
            </a:extLst>
          </p:cNvPr>
          <p:cNvSpPr>
            <a:spLocks noGrp="1"/>
          </p:cNvSpPr>
          <p:nvPr/>
        </p:nvSpPr>
        <p:spPr>
          <a:xfrm>
            <a:off x="1219200" y="4143375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4167"/>
          </a:bodyPr>
          <a:lstStyle/>
          <a:p>
            <a:pPr>
              <a:defRPr sz="1200" b="0">
                <a:solidFill>
                  <a:srgbClr val="D7D1C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7D1C4"/>
                </a:solidFill>
                <a:latin typeface="Aptos"/>
                <a:ea typeface="Aptos"/>
                <a:cs typeface="Aptos"/>
              </a:rPr>
              <a:t>Capacity only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37E20DD-5E68-4B6F-8743-F71A8C12EFDC}"/>
              </a:ext>
            </a:extLst>
          </p:cNvPr>
          <p:cNvSpPr>
            <a:spLocks noGrp="1"/>
          </p:cNvSpPr>
          <p:nvPr/>
        </p:nvSpPr>
        <p:spPr>
          <a:xfrm>
            <a:off x="5219700" y="2000250"/>
            <a:ext cx="6286500" cy="3143250"/>
          </a:xfrm>
          <a:prstGeom prst="roundRect">
            <a:avLst>
              <a:gd name="adj" fmla="val 2424"/>
            </a:avLst>
          </a:prstGeom>
          <a:solidFill>
            <a:srgbClr val="1A211F"/>
          </a:solidFill>
          <a:ln w="9525">
            <a:solidFill>
              <a:srgbClr val="8C7440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779D2D-8A5A-4C8F-872A-2B9E25BB0986}"/>
              </a:ext>
            </a:extLst>
          </p:cNvPr>
          <p:cNvSpPr>
            <a:spLocks noGrp="1"/>
          </p:cNvSpPr>
          <p:nvPr/>
        </p:nvSpPr>
        <p:spPr>
          <a:xfrm>
            <a:off x="5505450" y="228600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>
              <a:defRPr sz="82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OUR INTEGRATED FRAMEWORK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A818A1B-6070-4D11-949A-ACF08217B0D7}"/>
              </a:ext>
            </a:extLst>
          </p:cNvPr>
          <p:cNvSpPr>
            <a:spLocks noGrp="1"/>
          </p:cNvSpPr>
          <p:nvPr/>
        </p:nvSpPr>
        <p:spPr>
          <a:xfrm>
            <a:off x="5505450" y="2781300"/>
            <a:ext cx="1581150" cy="457200"/>
          </a:xfrm>
          <a:prstGeom prst="roundRect">
            <a:avLst>
              <a:gd name="adj" fmla="val 16667"/>
            </a:avLst>
          </a:prstGeom>
          <a:solidFill>
            <a:srgbClr val="222624"/>
          </a:solidFill>
          <a:ln w="9525">
            <a:solidFill>
              <a:srgbClr val="8C7440"/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518637D-60D3-4F62-9DC5-60C761324000}"/>
              </a:ext>
            </a:extLst>
          </p:cNvPr>
          <p:cNvSpPr>
            <a:spLocks noGrp="1"/>
          </p:cNvSpPr>
          <p:nvPr/>
        </p:nvSpPr>
        <p:spPr>
          <a:xfrm>
            <a:off x="5591175" y="2895600"/>
            <a:ext cx="14097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/>
          </a:bodyPr>
          <a:lstStyle/>
          <a:p>
            <a:pPr>
              <a:defRPr sz="90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Feasible filtering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7430137-486C-4E5A-98D8-40243E116646}"/>
              </a:ext>
            </a:extLst>
          </p:cNvPr>
          <p:cNvSpPr>
            <a:spLocks noGrp="1"/>
          </p:cNvSpPr>
          <p:nvPr/>
        </p:nvSpPr>
        <p:spPr>
          <a:xfrm>
            <a:off x="7315200" y="2781300"/>
            <a:ext cx="1581150" cy="457200"/>
          </a:xfrm>
          <a:prstGeom prst="roundRect">
            <a:avLst>
              <a:gd name="adj" fmla="val 16667"/>
            </a:avLst>
          </a:prstGeom>
          <a:solidFill>
            <a:srgbClr val="222624"/>
          </a:solidFill>
          <a:ln w="9525">
            <a:solidFill>
              <a:srgbClr val="8C7440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E384C91-E55B-4152-9FF7-736D60F23B5F}"/>
              </a:ext>
            </a:extLst>
          </p:cNvPr>
          <p:cNvSpPr>
            <a:spLocks noGrp="1"/>
          </p:cNvSpPr>
          <p:nvPr/>
        </p:nvSpPr>
        <p:spPr>
          <a:xfrm>
            <a:off x="7400925" y="2895600"/>
            <a:ext cx="14097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/>
          </a:bodyPr>
          <a:lstStyle/>
          <a:p>
            <a:pPr>
              <a:defRPr sz="90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Cost-aware assignment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9034639-5360-4ABE-91F8-B1A37D9A214B}"/>
              </a:ext>
            </a:extLst>
          </p:cNvPr>
          <p:cNvSpPr>
            <a:spLocks noGrp="1"/>
          </p:cNvSpPr>
          <p:nvPr/>
        </p:nvSpPr>
        <p:spPr>
          <a:xfrm>
            <a:off x="9124950" y="2781300"/>
            <a:ext cx="1581150" cy="457200"/>
          </a:xfrm>
          <a:prstGeom prst="roundRect">
            <a:avLst>
              <a:gd name="adj" fmla="val 16667"/>
            </a:avLst>
          </a:prstGeom>
          <a:solidFill>
            <a:srgbClr val="222624"/>
          </a:solidFill>
          <a:ln w="9525">
            <a:solidFill>
              <a:srgbClr val="8C7440"/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8CA312B-F292-4DB8-A803-77314E31CEAC}"/>
              </a:ext>
            </a:extLst>
          </p:cNvPr>
          <p:cNvSpPr>
            <a:spLocks noGrp="1"/>
          </p:cNvSpPr>
          <p:nvPr/>
        </p:nvSpPr>
        <p:spPr>
          <a:xfrm>
            <a:off x="9210675" y="2895600"/>
            <a:ext cx="14097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/>
          </a:bodyPr>
          <a:lstStyle/>
          <a:p>
            <a:pPr>
              <a:defRPr sz="90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Capacity-aware allocation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E1DF80F-69E7-440E-94B2-25B8F7F0C905}"/>
              </a:ext>
            </a:extLst>
          </p:cNvPr>
          <p:cNvSpPr>
            <a:spLocks noGrp="1"/>
          </p:cNvSpPr>
          <p:nvPr/>
        </p:nvSpPr>
        <p:spPr>
          <a:xfrm>
            <a:off x="5505450" y="3524250"/>
            <a:ext cx="1581150" cy="457200"/>
          </a:xfrm>
          <a:prstGeom prst="roundRect">
            <a:avLst>
              <a:gd name="adj" fmla="val 16667"/>
            </a:avLst>
          </a:prstGeom>
          <a:solidFill>
            <a:srgbClr val="222624"/>
          </a:solidFill>
          <a:ln w="9525">
            <a:solidFill>
              <a:srgbClr val="8C7440"/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E4A06C-F2CB-475B-9530-3265D1CC29BA}"/>
              </a:ext>
            </a:extLst>
          </p:cNvPr>
          <p:cNvSpPr>
            <a:spLocks noGrp="1"/>
          </p:cNvSpPr>
          <p:nvPr/>
        </p:nvSpPr>
        <p:spPr>
          <a:xfrm>
            <a:off x="5591175" y="3638550"/>
            <a:ext cx="14097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/>
          </a:bodyPr>
          <a:lstStyle/>
          <a:p>
            <a:pPr>
              <a:defRPr sz="90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Graph routing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3E8CBD6-E900-4507-A5DB-BE28396EF566}"/>
              </a:ext>
            </a:extLst>
          </p:cNvPr>
          <p:cNvSpPr>
            <a:spLocks noGrp="1"/>
          </p:cNvSpPr>
          <p:nvPr/>
        </p:nvSpPr>
        <p:spPr>
          <a:xfrm>
            <a:off x="7315200" y="3524250"/>
            <a:ext cx="1581150" cy="457200"/>
          </a:xfrm>
          <a:prstGeom prst="roundRect">
            <a:avLst>
              <a:gd name="adj" fmla="val 16667"/>
            </a:avLst>
          </a:prstGeom>
          <a:solidFill>
            <a:srgbClr val="222624"/>
          </a:solidFill>
          <a:ln w="9525">
            <a:solidFill>
              <a:srgbClr val="8C7440"/>
            </a:solidFill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4C31B19-329C-48DC-BB75-3F38A352BF0F}"/>
              </a:ext>
            </a:extLst>
          </p:cNvPr>
          <p:cNvSpPr>
            <a:spLocks noGrp="1"/>
          </p:cNvSpPr>
          <p:nvPr/>
        </p:nvSpPr>
        <p:spPr>
          <a:xfrm>
            <a:off x="7400925" y="3638550"/>
            <a:ext cx="14097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/>
          </a:bodyPr>
          <a:lstStyle/>
          <a:p>
            <a:pPr>
              <a:defRPr sz="90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Multi-stop strategy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7EA61E8-CCA1-44F8-8CD1-72054CD3E8B6}"/>
              </a:ext>
            </a:extLst>
          </p:cNvPr>
          <p:cNvSpPr>
            <a:spLocks noGrp="1"/>
          </p:cNvSpPr>
          <p:nvPr/>
        </p:nvSpPr>
        <p:spPr>
          <a:xfrm>
            <a:off x="9124950" y="3524250"/>
            <a:ext cx="1581150" cy="457200"/>
          </a:xfrm>
          <a:prstGeom prst="roundRect">
            <a:avLst>
              <a:gd name="adj" fmla="val 16667"/>
            </a:avLst>
          </a:prstGeom>
          <a:solidFill>
            <a:srgbClr val="222624"/>
          </a:solidFill>
          <a:ln w="9525">
            <a:solidFill>
              <a:srgbClr val="8C7440"/>
            </a:solidFill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EF6481C-094E-473F-A3A2-2799A0E01683}"/>
              </a:ext>
            </a:extLst>
          </p:cNvPr>
          <p:cNvSpPr>
            <a:spLocks noGrp="1"/>
          </p:cNvSpPr>
          <p:nvPr/>
        </p:nvSpPr>
        <p:spPr>
          <a:xfrm>
            <a:off x="9210675" y="3638550"/>
            <a:ext cx="14097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/>
          </a:bodyPr>
          <a:lstStyle/>
          <a:p>
            <a:pPr>
              <a:defRPr sz="90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ETA estimate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8DFAF56-79E2-45B0-B329-653941A1ED84}"/>
              </a:ext>
            </a:extLst>
          </p:cNvPr>
          <p:cNvSpPr>
            <a:spLocks noGrp="1"/>
          </p:cNvSpPr>
          <p:nvPr/>
        </p:nvSpPr>
        <p:spPr>
          <a:xfrm>
            <a:off x="5505450" y="4267200"/>
            <a:ext cx="1581150" cy="457200"/>
          </a:xfrm>
          <a:prstGeom prst="roundRect">
            <a:avLst>
              <a:gd name="adj" fmla="val 16667"/>
            </a:avLst>
          </a:prstGeom>
          <a:solidFill>
            <a:srgbClr val="222624"/>
          </a:solidFill>
          <a:ln w="9525">
            <a:solidFill>
              <a:srgbClr val="5AC7D8"/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804E3C1-0B56-4074-A2E4-22AA1A00F78E}"/>
              </a:ext>
            </a:extLst>
          </p:cNvPr>
          <p:cNvSpPr>
            <a:spLocks noGrp="1"/>
          </p:cNvSpPr>
          <p:nvPr/>
        </p:nvSpPr>
        <p:spPr>
          <a:xfrm>
            <a:off x="5591175" y="4381500"/>
            <a:ext cx="14097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/>
          </a:bodyPr>
          <a:lstStyle/>
          <a:p>
            <a:pPr>
              <a:defRPr sz="90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Tie-breaking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713185F-7CF8-48BF-B7C6-D8235580CEC7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096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333"/>
          </a:bodyPr>
          <a:lstStyle/>
          <a:p>
            <a:pPr>
              <a:defRPr sz="150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Novelty lies in joining these decision layers into one food-delivery optimization pipeline.</a:t>
            </a:r>
          </a:p>
        </p:txBody>
      </p:sp>
    </p:spTree>
    <p:extLst>
      <p:ext uri="{BB962C8B-B14F-4D97-AF65-F5344CB8AC3E}">
        <p14:creationId xmlns:p14="http://schemas.microsoft.com/office/powerpoint/2010/main" val="1922107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83630815-1513-453A-9E53-8E0D2D38136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C8A96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9DCA73-E5AC-488A-B185-0F06BD24151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>
              <a:defRPr sz="82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DSA MAPPING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55A52A-4A54-46CF-89AD-22606730EAF6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2870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473"/>
          </a:bodyPr>
          <a:lstStyle/>
          <a:p>
            <a:pPr>
              <a:defRPr sz="232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WHY EACH DSA COMPONENT EXISTS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0023D6-6C3E-4B97-9165-7D0DB2EFAA2B}"/>
              </a:ext>
            </a:extLst>
          </p:cNvPr>
          <p:cNvSpPr>
            <a:spLocks noGrp="1"/>
          </p:cNvSpPr>
          <p:nvPr/>
        </p:nvSpPr>
        <p:spPr>
          <a:xfrm>
            <a:off x="685800" y="1143000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667"/>
          </a:bodyPr>
          <a:lstStyle/>
          <a:p>
            <a:pPr>
              <a:defRPr sz="1050" b="0">
                <a:solidFill>
                  <a:srgbClr val="A9ADA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ADA7"/>
                </a:solidFill>
                <a:latin typeface="Aptos"/>
                <a:ea typeface="Aptos"/>
                <a:cs typeface="Aptos"/>
              </a:rPr>
              <a:t>Every component has a defined input, decision role and output.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770F61E9-C3F0-44BA-8737-050FB490BDE5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10820400" cy="9525"/>
          </a:xfrm>
          <a:prstGeom prst="line">
            <a:avLst/>
          </a:prstGeom>
          <a:noFill/>
          <a:ln w="9525">
            <a:solidFill>
              <a:srgbClr val="8C7440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812AB2-1722-418D-8A3F-7B5FAADE243C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4095750" cy="133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40741"/>
          </a:bodyPr>
          <a:lstStyle/>
          <a:p>
            <a:pPr>
              <a:defRPr sz="675" b="0">
                <a:solidFill>
                  <a:srgbClr val="A9AD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9ADA7"/>
                </a:solidFill>
                <a:latin typeface="Aptos"/>
                <a:ea typeface="Aptos"/>
                <a:cs typeface="Aptos"/>
              </a:rPr>
              <a:t>FOOD DELIVERY ROUTE OPTIMIZATION  /  REVIEW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A01D79-F33B-4364-BB12-E97FDABF4828}"/>
              </a:ext>
            </a:extLst>
          </p:cNvPr>
          <p:cNvSpPr>
            <a:spLocks noGrp="1"/>
          </p:cNvSpPr>
          <p:nvPr/>
        </p:nvSpPr>
        <p:spPr>
          <a:xfrm>
            <a:off x="11068050" y="6515100"/>
            <a:ext cx="438150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48485"/>
          </a:bodyPr>
          <a:lstStyle/>
          <a:p>
            <a:pPr>
              <a:defRPr sz="82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0DE31C-9DD1-41F6-82DC-B4D850298AA1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10820400" cy="400050"/>
          </a:xfrm>
          <a:prstGeom prst="rect">
            <a:avLst/>
          </a:prstGeom>
          <a:solidFill>
            <a:srgbClr val="2B2F2C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9B7A61-47D3-4F09-A745-FA468103582F}"/>
              </a:ext>
            </a:extLst>
          </p:cNvPr>
          <p:cNvSpPr>
            <a:spLocks noGrp="1"/>
          </p:cNvSpPr>
          <p:nvPr/>
        </p:nvSpPr>
        <p:spPr>
          <a:xfrm>
            <a:off x="838200" y="1905000"/>
            <a:ext cx="2667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>
              <a:defRPr sz="82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COMPONENT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2C0E21-6FC4-4D12-8D1C-7897E01033CB}"/>
              </a:ext>
            </a:extLst>
          </p:cNvPr>
          <p:cNvSpPr>
            <a:spLocks noGrp="1"/>
          </p:cNvSpPr>
          <p:nvPr/>
        </p:nvSpPr>
        <p:spPr>
          <a:xfrm>
            <a:off x="3714750" y="1905000"/>
            <a:ext cx="3524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>
              <a:defRPr sz="82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41F8EF-D3C9-4F98-832E-FA98E1400A6E}"/>
              </a:ext>
            </a:extLst>
          </p:cNvPr>
          <p:cNvSpPr>
            <a:spLocks noGrp="1"/>
          </p:cNvSpPr>
          <p:nvPr/>
        </p:nvSpPr>
        <p:spPr>
          <a:xfrm>
            <a:off x="7543800" y="1905000"/>
            <a:ext cx="37147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>
              <a:defRPr sz="82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215C75-73BA-4EBC-A87B-8D43E23DA483}"/>
              </a:ext>
            </a:extLst>
          </p:cNvPr>
          <p:cNvSpPr>
            <a:spLocks noGrp="1"/>
          </p:cNvSpPr>
          <p:nvPr/>
        </p:nvSpPr>
        <p:spPr>
          <a:xfrm>
            <a:off x="685800" y="2257425"/>
            <a:ext cx="10820400" cy="400050"/>
          </a:xfrm>
          <a:prstGeom prst="rect">
            <a:avLst/>
          </a:prstGeom>
          <a:solidFill>
            <a:srgbClr val="191C1A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54E2B5-2AA2-48E8-B06C-52E1D0CF7E9C}"/>
              </a:ext>
            </a:extLst>
          </p:cNvPr>
          <p:cNvSpPr>
            <a:spLocks noGrp="1"/>
          </p:cNvSpPr>
          <p:nvPr/>
        </p:nvSpPr>
        <p:spPr>
          <a:xfrm>
            <a:off x="838200" y="2371725"/>
            <a:ext cx="2667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8333"/>
          </a:bodyPr>
          <a:lstStyle/>
          <a:p>
            <a:pPr>
              <a:defRPr sz="90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Graph / adjacency list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1E81DD-951D-4D54-9494-975D052AB4A1}"/>
              </a:ext>
            </a:extLst>
          </p:cNvPr>
          <p:cNvSpPr>
            <a:spLocks noGrp="1"/>
          </p:cNvSpPr>
          <p:nvPr/>
        </p:nvSpPr>
        <p:spPr>
          <a:xfrm>
            <a:off x="3714750" y="2371725"/>
            <a:ext cx="3524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8333"/>
          </a:bodyPr>
          <a:lstStyle/>
          <a:p>
            <a:pPr>
              <a:defRPr sz="900" b="0">
                <a:solidFill>
                  <a:srgbClr val="D7D1C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D1C4"/>
                </a:solidFill>
                <a:latin typeface="Aptos"/>
                <a:ea typeface="Aptos"/>
                <a:cs typeface="Aptos"/>
              </a:rPr>
              <a:t>Road representation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ACCD97-3C58-4C55-98BD-BF403F6960A0}"/>
              </a:ext>
            </a:extLst>
          </p:cNvPr>
          <p:cNvSpPr>
            <a:spLocks noGrp="1"/>
          </p:cNvSpPr>
          <p:nvPr/>
        </p:nvSpPr>
        <p:spPr>
          <a:xfrm>
            <a:off x="7543800" y="2371725"/>
            <a:ext cx="37147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8333"/>
          </a:bodyPr>
          <a:lstStyle/>
          <a:p>
            <a:pPr>
              <a:defRPr sz="900" b="0">
                <a:solidFill>
                  <a:srgbClr val="D7D1C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D1C4"/>
                </a:solidFill>
                <a:latin typeface="Aptos"/>
                <a:ea typeface="Aptos"/>
                <a:cs typeface="Aptos"/>
              </a:rPr>
              <a:t>Reachable paths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6CBC64-650C-4955-8399-34F163541091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10820400" cy="400050"/>
          </a:xfrm>
          <a:prstGeom prst="rect">
            <a:avLst/>
          </a:prstGeom>
          <a:solidFill>
            <a:srgbClr val="202421"/>
          </a:solidFill>
          <a:ln w="0">
            <a:noFill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98CDAB-CF46-4088-90C7-04DBDC592BD5}"/>
              </a:ext>
            </a:extLst>
          </p:cNvPr>
          <p:cNvSpPr>
            <a:spLocks noGrp="1"/>
          </p:cNvSpPr>
          <p:nvPr/>
        </p:nvSpPr>
        <p:spPr>
          <a:xfrm>
            <a:off x="838200" y="2838450"/>
            <a:ext cx="2667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8333"/>
          </a:bodyPr>
          <a:lstStyle/>
          <a:p>
            <a:pPr>
              <a:defRPr sz="90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Bipartite matching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FDA4D0-2C79-4F15-B73B-175A2F37FA6A}"/>
              </a:ext>
            </a:extLst>
          </p:cNvPr>
          <p:cNvSpPr>
            <a:spLocks noGrp="1"/>
          </p:cNvSpPr>
          <p:nvPr/>
        </p:nvSpPr>
        <p:spPr>
          <a:xfrm>
            <a:off x="3714750" y="2838450"/>
            <a:ext cx="3524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8333"/>
          </a:bodyPr>
          <a:lstStyle/>
          <a:p>
            <a:pPr>
              <a:defRPr sz="900" b="0">
                <a:solidFill>
                  <a:srgbClr val="D7D1C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D1C4"/>
                </a:solidFill>
                <a:latin typeface="Aptos"/>
                <a:ea typeface="Aptos"/>
                <a:cs typeface="Aptos"/>
              </a:rPr>
              <a:t>Feasible rider-order pairs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D734429-F541-4087-970B-4F8F8AF13DB3}"/>
              </a:ext>
            </a:extLst>
          </p:cNvPr>
          <p:cNvSpPr>
            <a:spLocks noGrp="1"/>
          </p:cNvSpPr>
          <p:nvPr/>
        </p:nvSpPr>
        <p:spPr>
          <a:xfrm>
            <a:off x="7543800" y="2838450"/>
            <a:ext cx="37147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8333"/>
          </a:bodyPr>
          <a:lstStyle/>
          <a:p>
            <a:pPr>
              <a:defRPr sz="900" b="0">
                <a:solidFill>
                  <a:srgbClr val="D7D1C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D1C4"/>
                </a:solidFill>
                <a:latin typeface="Aptos"/>
                <a:ea typeface="Aptos"/>
                <a:cs typeface="Aptos"/>
              </a:rPr>
              <a:t>Candidate assignments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530B5CE-FDC4-4D6E-98F2-86C508886296}"/>
              </a:ext>
            </a:extLst>
          </p:cNvPr>
          <p:cNvSpPr>
            <a:spLocks noGrp="1"/>
          </p:cNvSpPr>
          <p:nvPr/>
        </p:nvSpPr>
        <p:spPr>
          <a:xfrm>
            <a:off x="685800" y="3190875"/>
            <a:ext cx="10820400" cy="400050"/>
          </a:xfrm>
          <a:prstGeom prst="rect">
            <a:avLst/>
          </a:prstGeom>
          <a:solidFill>
            <a:srgbClr val="191C1A"/>
          </a:solidFill>
          <a:ln w="0">
            <a:noFill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469A37-386A-4C94-91CD-DDC8231FE308}"/>
              </a:ext>
            </a:extLst>
          </p:cNvPr>
          <p:cNvSpPr>
            <a:spLocks noGrp="1"/>
          </p:cNvSpPr>
          <p:nvPr/>
        </p:nvSpPr>
        <p:spPr>
          <a:xfrm>
            <a:off x="838200" y="3305175"/>
            <a:ext cx="2667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8333"/>
          </a:bodyPr>
          <a:lstStyle/>
          <a:p>
            <a:pPr>
              <a:defRPr sz="90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Cost matrix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2EEDAD7-5AD9-4AF8-803D-52F63EA51594}"/>
              </a:ext>
            </a:extLst>
          </p:cNvPr>
          <p:cNvSpPr>
            <a:spLocks noGrp="1"/>
          </p:cNvSpPr>
          <p:nvPr/>
        </p:nvSpPr>
        <p:spPr>
          <a:xfrm>
            <a:off x="3714750" y="3305175"/>
            <a:ext cx="3524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8333"/>
          </a:bodyPr>
          <a:lstStyle/>
          <a:p>
            <a:pPr>
              <a:defRPr sz="900" b="0">
                <a:solidFill>
                  <a:srgbClr val="D7D1C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D1C4"/>
                </a:solidFill>
                <a:latin typeface="Aptos"/>
                <a:ea typeface="Aptos"/>
                <a:cs typeface="Aptos"/>
              </a:rPr>
              <a:t>Assignment cost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0E36AF9-7FD1-4DEC-B9ED-0FC53C18C88B}"/>
              </a:ext>
            </a:extLst>
          </p:cNvPr>
          <p:cNvSpPr>
            <a:spLocks noGrp="1"/>
          </p:cNvSpPr>
          <p:nvPr/>
        </p:nvSpPr>
        <p:spPr>
          <a:xfrm>
            <a:off x="7543800" y="3305175"/>
            <a:ext cx="37147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8333"/>
          </a:bodyPr>
          <a:lstStyle/>
          <a:p>
            <a:pPr>
              <a:defRPr sz="900" b="0">
                <a:solidFill>
                  <a:srgbClr val="D7D1C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D1C4"/>
                </a:solidFill>
                <a:latin typeface="Aptos"/>
                <a:ea typeface="Aptos"/>
                <a:cs typeface="Aptos"/>
              </a:rPr>
              <a:t>Optimization input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70B997-B506-4638-B5F1-D2772B59E6C0}"/>
              </a:ext>
            </a:extLst>
          </p:cNvPr>
          <p:cNvSpPr>
            <a:spLocks noGrp="1"/>
          </p:cNvSpPr>
          <p:nvPr/>
        </p:nvSpPr>
        <p:spPr>
          <a:xfrm>
            <a:off x="685800" y="3657600"/>
            <a:ext cx="10820400" cy="400050"/>
          </a:xfrm>
          <a:prstGeom prst="rect">
            <a:avLst/>
          </a:prstGeom>
          <a:solidFill>
            <a:srgbClr val="202421"/>
          </a:solidFill>
          <a:ln w="0">
            <a:noFill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3381ED-FBA4-43C0-B475-39D5842AFF55}"/>
              </a:ext>
            </a:extLst>
          </p:cNvPr>
          <p:cNvSpPr>
            <a:spLocks noGrp="1"/>
          </p:cNvSpPr>
          <p:nvPr/>
        </p:nvSpPr>
        <p:spPr>
          <a:xfrm>
            <a:off x="838200" y="3771900"/>
            <a:ext cx="2667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8333"/>
          </a:bodyPr>
          <a:lstStyle/>
          <a:p>
            <a:pPr>
              <a:defRPr sz="90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Network flow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989BFF2-EA79-4AEF-97F2-CF8402589A31}"/>
              </a:ext>
            </a:extLst>
          </p:cNvPr>
          <p:cNvSpPr>
            <a:spLocks noGrp="1"/>
          </p:cNvSpPr>
          <p:nvPr/>
        </p:nvSpPr>
        <p:spPr>
          <a:xfrm>
            <a:off x="3714750" y="3771900"/>
            <a:ext cx="3524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8333"/>
          </a:bodyPr>
          <a:lstStyle/>
          <a:p>
            <a:pPr>
              <a:defRPr sz="900" b="0">
                <a:solidFill>
                  <a:srgbClr val="D7D1C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D1C4"/>
                </a:solidFill>
                <a:latin typeface="Aptos"/>
                <a:ea typeface="Aptos"/>
                <a:cs typeface="Aptos"/>
              </a:rPr>
              <a:t>Capacity constraints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41154D7-38C6-46B5-B4A9-B467350ABF83}"/>
              </a:ext>
            </a:extLst>
          </p:cNvPr>
          <p:cNvSpPr>
            <a:spLocks noGrp="1"/>
          </p:cNvSpPr>
          <p:nvPr/>
        </p:nvSpPr>
        <p:spPr>
          <a:xfrm>
            <a:off x="7543800" y="3771900"/>
            <a:ext cx="37147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8333"/>
          </a:bodyPr>
          <a:lstStyle/>
          <a:p>
            <a:pPr>
              <a:defRPr sz="900" b="0">
                <a:solidFill>
                  <a:srgbClr val="D7D1C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D1C4"/>
                </a:solidFill>
                <a:latin typeface="Aptos"/>
                <a:ea typeface="Aptos"/>
                <a:cs typeface="Aptos"/>
              </a:rPr>
              <a:t>Feasible allocation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B74A4FF-2915-4591-A196-BF7ABEB92C5B}"/>
              </a:ext>
            </a:extLst>
          </p:cNvPr>
          <p:cNvSpPr>
            <a:spLocks noGrp="1"/>
          </p:cNvSpPr>
          <p:nvPr/>
        </p:nvSpPr>
        <p:spPr>
          <a:xfrm>
            <a:off x="685800" y="4124325"/>
            <a:ext cx="10820400" cy="400050"/>
          </a:xfrm>
          <a:prstGeom prst="rect">
            <a:avLst/>
          </a:prstGeom>
          <a:solidFill>
            <a:srgbClr val="191C1A"/>
          </a:solidFill>
          <a:ln w="0">
            <a:noFill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A5F27C-1AB7-4B22-9913-12719D51EB46}"/>
              </a:ext>
            </a:extLst>
          </p:cNvPr>
          <p:cNvSpPr>
            <a:spLocks noGrp="1"/>
          </p:cNvSpPr>
          <p:nvPr/>
        </p:nvSpPr>
        <p:spPr>
          <a:xfrm>
            <a:off x="838200" y="4238625"/>
            <a:ext cx="2667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8333"/>
          </a:bodyPr>
          <a:lstStyle/>
          <a:p>
            <a:pPr>
              <a:defRPr sz="90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Priority queue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29D4B01-F645-47CD-B989-634FFF66896A}"/>
              </a:ext>
            </a:extLst>
          </p:cNvPr>
          <p:cNvSpPr>
            <a:spLocks noGrp="1"/>
          </p:cNvSpPr>
          <p:nvPr/>
        </p:nvSpPr>
        <p:spPr>
          <a:xfrm>
            <a:off x="3714750" y="4238625"/>
            <a:ext cx="3524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8333"/>
          </a:bodyPr>
          <a:lstStyle/>
          <a:p>
            <a:pPr>
              <a:defRPr sz="900" b="0">
                <a:solidFill>
                  <a:srgbClr val="D7D1C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D1C4"/>
                </a:solidFill>
                <a:latin typeface="Aptos"/>
                <a:ea typeface="Aptos"/>
                <a:cs typeface="Aptos"/>
              </a:rPr>
              <a:t>Minimum distance / ETA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EB3AFBC-1F3F-4BF7-9410-D14B481D3E3A}"/>
              </a:ext>
            </a:extLst>
          </p:cNvPr>
          <p:cNvSpPr>
            <a:spLocks noGrp="1"/>
          </p:cNvSpPr>
          <p:nvPr/>
        </p:nvSpPr>
        <p:spPr>
          <a:xfrm>
            <a:off x="7543800" y="4238625"/>
            <a:ext cx="37147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8333"/>
          </a:bodyPr>
          <a:lstStyle/>
          <a:p>
            <a:pPr>
              <a:defRPr sz="900" b="0">
                <a:solidFill>
                  <a:srgbClr val="D7D1C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D1C4"/>
                </a:solidFill>
                <a:latin typeface="Aptos"/>
                <a:ea typeface="Aptos"/>
                <a:cs typeface="Aptos"/>
              </a:rPr>
              <a:t>Fast candidate selection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96B7AE7-D89C-4C45-9BF1-51169C2D1FAB}"/>
              </a:ext>
            </a:extLst>
          </p:cNvPr>
          <p:cNvSpPr>
            <a:spLocks noGrp="1"/>
          </p:cNvSpPr>
          <p:nvPr/>
        </p:nvSpPr>
        <p:spPr>
          <a:xfrm>
            <a:off x="685800" y="4591050"/>
            <a:ext cx="10820400" cy="400050"/>
          </a:xfrm>
          <a:prstGeom prst="rect">
            <a:avLst/>
          </a:prstGeom>
          <a:solidFill>
            <a:srgbClr val="202421"/>
          </a:solidFill>
          <a:ln w="0">
            <a:noFill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3600409-C225-4C0E-B8EA-E539A6CBAD7E}"/>
              </a:ext>
            </a:extLst>
          </p:cNvPr>
          <p:cNvSpPr>
            <a:spLocks noGrp="1"/>
          </p:cNvSpPr>
          <p:nvPr/>
        </p:nvSpPr>
        <p:spPr>
          <a:xfrm>
            <a:off x="838200" y="4705350"/>
            <a:ext cx="2667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8333"/>
          </a:bodyPr>
          <a:lstStyle/>
          <a:p>
            <a:pPr>
              <a:defRPr sz="90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Hash map + queue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C33B9EC-B485-47B9-8517-059378B65D95}"/>
              </a:ext>
            </a:extLst>
          </p:cNvPr>
          <p:cNvSpPr>
            <a:spLocks noGrp="1"/>
          </p:cNvSpPr>
          <p:nvPr/>
        </p:nvSpPr>
        <p:spPr>
          <a:xfrm>
            <a:off x="3714750" y="4705350"/>
            <a:ext cx="3524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8333"/>
          </a:bodyPr>
          <a:lstStyle/>
          <a:p>
            <a:pPr>
              <a:defRPr sz="900" b="0">
                <a:solidFill>
                  <a:srgbClr val="D7D1C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D1C4"/>
                </a:solidFill>
                <a:latin typeface="Aptos"/>
                <a:ea typeface="Aptos"/>
                <a:cs typeface="Aptos"/>
              </a:rPr>
              <a:t>Lookup + incoming order handling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F57C7E0-2F05-4A97-8EA4-6A7B9F6E3E8F}"/>
              </a:ext>
            </a:extLst>
          </p:cNvPr>
          <p:cNvSpPr>
            <a:spLocks noGrp="1"/>
          </p:cNvSpPr>
          <p:nvPr/>
        </p:nvSpPr>
        <p:spPr>
          <a:xfrm>
            <a:off x="7543800" y="4705350"/>
            <a:ext cx="37147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8333"/>
          </a:bodyPr>
          <a:lstStyle/>
          <a:p>
            <a:pPr>
              <a:defRPr sz="900" b="0">
                <a:solidFill>
                  <a:srgbClr val="D7D1C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D1C4"/>
                </a:solidFill>
                <a:latin typeface="Aptos"/>
                <a:ea typeface="Aptos"/>
                <a:cs typeface="Aptos"/>
              </a:rPr>
              <a:t>Fast retrieval / order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4EBD0B5-101B-4ECD-AA0B-A445CA7A5890}"/>
              </a:ext>
            </a:extLst>
          </p:cNvPr>
          <p:cNvSpPr>
            <a:spLocks noGrp="1"/>
          </p:cNvSpPr>
          <p:nvPr/>
        </p:nvSpPr>
        <p:spPr>
          <a:xfrm>
            <a:off x="685800" y="5057775"/>
            <a:ext cx="10820400" cy="400050"/>
          </a:xfrm>
          <a:prstGeom prst="rect">
            <a:avLst/>
          </a:prstGeom>
          <a:solidFill>
            <a:srgbClr val="191C1A"/>
          </a:solidFill>
          <a:ln w="0">
            <a:noFill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803E027-4287-4F0E-8E9B-BDD5C8C5892F}"/>
              </a:ext>
            </a:extLst>
          </p:cNvPr>
          <p:cNvSpPr>
            <a:spLocks noGrp="1"/>
          </p:cNvSpPr>
          <p:nvPr/>
        </p:nvSpPr>
        <p:spPr>
          <a:xfrm>
            <a:off x="838200" y="5172075"/>
            <a:ext cx="2667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8333"/>
          </a:bodyPr>
          <a:lstStyle/>
          <a:p>
            <a:pPr>
              <a:defRPr sz="90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TSP + approximation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B2C4C41-3330-49FC-B842-618C001CB3F8}"/>
              </a:ext>
            </a:extLst>
          </p:cNvPr>
          <p:cNvSpPr>
            <a:spLocks noGrp="1"/>
          </p:cNvSpPr>
          <p:nvPr/>
        </p:nvSpPr>
        <p:spPr>
          <a:xfrm>
            <a:off x="3714750" y="5172075"/>
            <a:ext cx="3524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8333"/>
          </a:bodyPr>
          <a:lstStyle/>
          <a:p>
            <a:pPr>
              <a:defRPr sz="900" b="0">
                <a:solidFill>
                  <a:srgbClr val="D7D1C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D1C4"/>
                </a:solidFill>
                <a:latin typeface="Aptos"/>
                <a:ea typeface="Aptos"/>
                <a:cs typeface="Aptos"/>
              </a:rPr>
              <a:t>Multi-stop sequencing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7C76867-FA2F-4914-99A4-00024F31D1D4}"/>
              </a:ext>
            </a:extLst>
          </p:cNvPr>
          <p:cNvSpPr>
            <a:spLocks noGrp="1"/>
          </p:cNvSpPr>
          <p:nvPr/>
        </p:nvSpPr>
        <p:spPr>
          <a:xfrm>
            <a:off x="7543800" y="5172075"/>
            <a:ext cx="37147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8333"/>
          </a:bodyPr>
          <a:lstStyle/>
          <a:p>
            <a:pPr>
              <a:defRPr sz="900" b="0">
                <a:solidFill>
                  <a:srgbClr val="D7D1C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D1C4"/>
                </a:solidFill>
                <a:latin typeface="Aptos"/>
                <a:ea typeface="Aptos"/>
                <a:cs typeface="Aptos"/>
              </a:rPr>
              <a:t>Scalable route order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C18BA2E-BABD-4425-957B-ECC722DBD0A3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10820400" cy="400050"/>
          </a:xfrm>
          <a:prstGeom prst="rect">
            <a:avLst/>
          </a:prstGeom>
          <a:solidFill>
            <a:srgbClr val="202421"/>
          </a:solidFill>
          <a:ln w="0">
            <a:noFill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59CFEAE-F7E5-498D-B75F-C38C56988235}"/>
              </a:ext>
            </a:extLst>
          </p:cNvPr>
          <p:cNvSpPr>
            <a:spLocks noGrp="1"/>
          </p:cNvSpPr>
          <p:nvPr/>
        </p:nvSpPr>
        <p:spPr>
          <a:xfrm>
            <a:off x="838200" y="5638800"/>
            <a:ext cx="2667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8333"/>
          </a:bodyPr>
          <a:lstStyle/>
          <a:p>
            <a:pPr>
              <a:defRPr sz="90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Randomized selection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3711BA3-2974-4A13-B52F-A621F480A373}"/>
              </a:ext>
            </a:extLst>
          </p:cNvPr>
          <p:cNvSpPr>
            <a:spLocks noGrp="1"/>
          </p:cNvSpPr>
          <p:nvPr/>
        </p:nvSpPr>
        <p:spPr>
          <a:xfrm>
            <a:off x="3714750" y="5638800"/>
            <a:ext cx="3524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8333"/>
          </a:bodyPr>
          <a:lstStyle/>
          <a:p>
            <a:pPr>
              <a:defRPr sz="900" b="0">
                <a:solidFill>
                  <a:srgbClr val="D7D1C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D1C4"/>
                </a:solidFill>
                <a:latin typeface="Aptos"/>
                <a:ea typeface="Aptos"/>
                <a:cs typeface="Aptos"/>
              </a:rPr>
              <a:t>Tie-breaking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1496875-95F2-4941-9DE5-A59CE272C2E1}"/>
              </a:ext>
            </a:extLst>
          </p:cNvPr>
          <p:cNvSpPr>
            <a:spLocks noGrp="1"/>
          </p:cNvSpPr>
          <p:nvPr/>
        </p:nvSpPr>
        <p:spPr>
          <a:xfrm>
            <a:off x="7543800" y="5638800"/>
            <a:ext cx="37147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8333"/>
          </a:bodyPr>
          <a:lstStyle/>
          <a:p>
            <a:pPr>
              <a:defRPr sz="900" b="0">
                <a:solidFill>
                  <a:srgbClr val="D7D1C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D1C4"/>
                </a:solidFill>
                <a:latin typeface="Aptos"/>
                <a:ea typeface="Aptos"/>
                <a:cs typeface="Aptos"/>
              </a:rPr>
              <a:t>Alternative selection</a:t>
            </a:r>
          </a:p>
        </p:txBody>
      </p:sp>
    </p:spTree>
    <p:extLst>
      <p:ext uri="{BB962C8B-B14F-4D97-AF65-F5344CB8AC3E}">
        <p14:creationId xmlns:p14="http://schemas.microsoft.com/office/powerpoint/2010/main" val="990117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53AFDC4D-965A-4FF3-8C37-0FEDAA431AC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C8A96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E05021-A79E-4ABC-9DFB-BAD96E493E6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>
              <a:defRPr sz="82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EXECUTION LOGIC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975248-57F1-472A-95DE-E9E6B6EB30D5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2870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473"/>
          </a:bodyPr>
          <a:lstStyle/>
          <a:p>
            <a:pPr>
              <a:defRPr sz="232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HOW ONE ORDER IS PROCESSED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13E5BF-431B-4BE1-9CEB-4A8B6F14A90D}"/>
              </a:ext>
            </a:extLst>
          </p:cNvPr>
          <p:cNvSpPr>
            <a:spLocks noGrp="1"/>
          </p:cNvSpPr>
          <p:nvPr/>
        </p:nvSpPr>
        <p:spPr>
          <a:xfrm>
            <a:off x="685800" y="1143000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667"/>
          </a:bodyPr>
          <a:lstStyle/>
          <a:p>
            <a:pPr>
              <a:defRPr sz="1050" b="0">
                <a:solidFill>
                  <a:srgbClr val="A9ADA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ADA7"/>
                </a:solidFill>
                <a:latin typeface="Aptos"/>
                <a:ea typeface="Aptos"/>
                <a:cs typeface="Aptos"/>
              </a:rPr>
              <a:t>Illustrative workflow only. Replace with a measured worked example when execution data is available.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CC53A3DA-673B-46A4-ADA5-09EF2A0B3290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10820400" cy="9525"/>
          </a:xfrm>
          <a:prstGeom prst="line">
            <a:avLst/>
          </a:prstGeom>
          <a:noFill/>
          <a:ln w="9525">
            <a:solidFill>
              <a:srgbClr val="8C7440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AC7E58-AB5F-4FC0-9380-FB6EE145F7CC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4095750" cy="133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40741"/>
          </a:bodyPr>
          <a:lstStyle/>
          <a:p>
            <a:pPr>
              <a:defRPr sz="675" b="0">
                <a:solidFill>
                  <a:srgbClr val="A9AD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9ADA7"/>
                </a:solidFill>
                <a:latin typeface="Aptos"/>
                <a:ea typeface="Aptos"/>
                <a:cs typeface="Aptos"/>
              </a:rPr>
              <a:t>FOOD DELIVERY ROUTE OPTIMIZATION  /  REVIEW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D7BE57-1846-4FE9-B156-D22DC0C3FC57}"/>
              </a:ext>
            </a:extLst>
          </p:cNvPr>
          <p:cNvSpPr>
            <a:spLocks noGrp="1"/>
          </p:cNvSpPr>
          <p:nvPr/>
        </p:nvSpPr>
        <p:spPr>
          <a:xfrm>
            <a:off x="11068050" y="6515100"/>
            <a:ext cx="438150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48485"/>
          </a:bodyPr>
          <a:lstStyle/>
          <a:p>
            <a:pPr>
              <a:defRPr sz="82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D56766E-97FC-4237-9D5B-EB19482E9DAD}"/>
              </a:ext>
            </a:extLst>
          </p:cNvPr>
          <p:cNvSpPr>
            <a:spLocks noGrp="1"/>
          </p:cNvSpPr>
          <p:nvPr/>
        </p:nvSpPr>
        <p:spPr>
          <a:xfrm>
            <a:off x="781050" y="1866900"/>
            <a:ext cx="2247900" cy="590550"/>
          </a:xfrm>
          <a:prstGeom prst="roundRect">
            <a:avLst>
              <a:gd name="adj" fmla="val 12903"/>
            </a:avLst>
          </a:prstGeom>
          <a:solidFill>
            <a:srgbClr val="1A1D1B"/>
          </a:solidFill>
          <a:ln w="9525">
            <a:solidFill>
              <a:srgbClr val="8C7440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751AE8-13E6-4EFA-8020-D1C42FA429CF}"/>
              </a:ext>
            </a:extLst>
          </p:cNvPr>
          <p:cNvSpPr>
            <a:spLocks noGrp="1"/>
          </p:cNvSpPr>
          <p:nvPr/>
        </p:nvSpPr>
        <p:spPr>
          <a:xfrm>
            <a:off x="923925" y="1990725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2286"/>
          </a:bodyPr>
          <a:lstStyle/>
          <a:p>
            <a:pPr>
              <a:defRPr sz="82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0E895F-2D89-4A1D-A738-821194291018}"/>
              </a:ext>
            </a:extLst>
          </p:cNvPr>
          <p:cNvSpPr>
            <a:spLocks noGrp="1"/>
          </p:cNvSpPr>
          <p:nvPr/>
        </p:nvSpPr>
        <p:spPr>
          <a:xfrm>
            <a:off x="1238250" y="1981200"/>
            <a:ext cx="16192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05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Receive order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80EF4188-DEC0-46D6-80EB-3F215280A01D}"/>
              </a:ext>
            </a:extLst>
          </p:cNvPr>
          <p:cNvSpPr>
            <a:spLocks noGrp="1"/>
          </p:cNvSpPr>
          <p:nvPr/>
        </p:nvSpPr>
        <p:spPr>
          <a:xfrm>
            <a:off x="3028950" y="2162175"/>
            <a:ext cx="361950" cy="9525"/>
          </a:xfrm>
          <a:prstGeom prst="line">
            <a:avLst/>
          </a:prstGeom>
          <a:noFill/>
          <a:ln w="19050">
            <a:solidFill>
              <a:srgbClr val="C8A968"/>
            </a:solidFill>
          </a:ln>
        </p:spPr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F0530A8-B2D6-4D86-9E69-8F23E003E7B9}"/>
              </a:ext>
            </a:extLst>
          </p:cNvPr>
          <p:cNvSpPr>
            <a:spLocks noGrp="1"/>
          </p:cNvSpPr>
          <p:nvPr/>
        </p:nvSpPr>
        <p:spPr>
          <a:xfrm>
            <a:off x="3352800" y="2124075"/>
            <a:ext cx="76200" cy="7620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FF1E1E2-148F-4DDE-9204-F1842DFFC5E3}"/>
              </a:ext>
            </a:extLst>
          </p:cNvPr>
          <p:cNvSpPr>
            <a:spLocks noGrp="1"/>
          </p:cNvSpPr>
          <p:nvPr/>
        </p:nvSpPr>
        <p:spPr>
          <a:xfrm>
            <a:off x="3505200" y="1866900"/>
            <a:ext cx="2247900" cy="590550"/>
          </a:xfrm>
          <a:prstGeom prst="roundRect">
            <a:avLst>
              <a:gd name="adj" fmla="val 12903"/>
            </a:avLst>
          </a:prstGeom>
          <a:solidFill>
            <a:srgbClr val="1A1D1B"/>
          </a:solidFill>
          <a:ln w="9525">
            <a:solidFill>
              <a:srgbClr val="8C7440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917AD1-78DB-4C78-BFA0-A3C83D416F8B}"/>
              </a:ext>
            </a:extLst>
          </p:cNvPr>
          <p:cNvSpPr>
            <a:spLocks noGrp="1"/>
          </p:cNvSpPr>
          <p:nvPr/>
        </p:nvSpPr>
        <p:spPr>
          <a:xfrm>
            <a:off x="3648075" y="1990725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2286"/>
          </a:bodyPr>
          <a:lstStyle/>
          <a:p>
            <a:pPr>
              <a:defRPr sz="82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421F4E-A40A-41BB-9069-1FA54197D2E0}"/>
              </a:ext>
            </a:extLst>
          </p:cNvPr>
          <p:cNvSpPr>
            <a:spLocks noGrp="1"/>
          </p:cNvSpPr>
          <p:nvPr/>
        </p:nvSpPr>
        <p:spPr>
          <a:xfrm>
            <a:off x="3962400" y="1981200"/>
            <a:ext cx="16192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568"/>
          </a:bodyPr>
          <a:lstStyle/>
          <a:p>
            <a:pPr>
              <a:defRPr sz="105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Identify restaurant + customer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3BC93979-900E-4D61-8AE3-4BD9B7315C38}"/>
              </a:ext>
            </a:extLst>
          </p:cNvPr>
          <p:cNvSpPr>
            <a:spLocks noGrp="1"/>
          </p:cNvSpPr>
          <p:nvPr/>
        </p:nvSpPr>
        <p:spPr>
          <a:xfrm>
            <a:off x="5753100" y="2162175"/>
            <a:ext cx="361950" cy="9525"/>
          </a:xfrm>
          <a:prstGeom prst="line">
            <a:avLst/>
          </a:prstGeom>
          <a:noFill/>
          <a:ln w="19050">
            <a:solidFill>
              <a:srgbClr val="C8A968"/>
            </a:solidFill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886A12D-B3E4-4931-9AF8-DD03F3BC8D45}"/>
              </a:ext>
            </a:extLst>
          </p:cNvPr>
          <p:cNvSpPr>
            <a:spLocks noGrp="1"/>
          </p:cNvSpPr>
          <p:nvPr/>
        </p:nvSpPr>
        <p:spPr>
          <a:xfrm>
            <a:off x="6076950" y="2124075"/>
            <a:ext cx="76200" cy="7620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CE2ED4B-219D-4DE6-9321-A380A46FAEC4}"/>
              </a:ext>
            </a:extLst>
          </p:cNvPr>
          <p:cNvSpPr>
            <a:spLocks noGrp="1"/>
          </p:cNvSpPr>
          <p:nvPr/>
        </p:nvSpPr>
        <p:spPr>
          <a:xfrm>
            <a:off x="6229350" y="1866900"/>
            <a:ext cx="2247900" cy="590550"/>
          </a:xfrm>
          <a:prstGeom prst="roundRect">
            <a:avLst>
              <a:gd name="adj" fmla="val 12903"/>
            </a:avLst>
          </a:prstGeom>
          <a:solidFill>
            <a:srgbClr val="1A1D1B"/>
          </a:solidFill>
          <a:ln w="9525">
            <a:solidFill>
              <a:srgbClr val="8C7440"/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514399-AE64-4CCF-B212-C3D5505A9809}"/>
              </a:ext>
            </a:extLst>
          </p:cNvPr>
          <p:cNvSpPr>
            <a:spLocks noGrp="1"/>
          </p:cNvSpPr>
          <p:nvPr/>
        </p:nvSpPr>
        <p:spPr>
          <a:xfrm>
            <a:off x="6372225" y="1990725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2286"/>
          </a:bodyPr>
          <a:lstStyle/>
          <a:p>
            <a:pPr>
              <a:defRPr sz="82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E655C05-FCEE-4D61-9357-611538938CCD}"/>
              </a:ext>
            </a:extLst>
          </p:cNvPr>
          <p:cNvSpPr>
            <a:spLocks noGrp="1"/>
          </p:cNvSpPr>
          <p:nvPr/>
        </p:nvSpPr>
        <p:spPr>
          <a:xfrm>
            <a:off x="6686550" y="1981200"/>
            <a:ext cx="16192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05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Find available riders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3694E315-B43E-45E8-8DAF-A89C25A70577}"/>
              </a:ext>
            </a:extLst>
          </p:cNvPr>
          <p:cNvSpPr>
            <a:spLocks noGrp="1"/>
          </p:cNvSpPr>
          <p:nvPr/>
        </p:nvSpPr>
        <p:spPr>
          <a:xfrm>
            <a:off x="8477250" y="2162175"/>
            <a:ext cx="361950" cy="9525"/>
          </a:xfrm>
          <a:prstGeom prst="line">
            <a:avLst/>
          </a:prstGeom>
          <a:noFill/>
          <a:ln w="19050">
            <a:solidFill>
              <a:srgbClr val="C8A968"/>
            </a:solidFill>
          </a:ln>
        </p:spPr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38ABEDF-C9F7-426C-B793-140A5716FEF1}"/>
              </a:ext>
            </a:extLst>
          </p:cNvPr>
          <p:cNvSpPr>
            <a:spLocks noGrp="1"/>
          </p:cNvSpPr>
          <p:nvPr/>
        </p:nvSpPr>
        <p:spPr>
          <a:xfrm>
            <a:off x="8801100" y="2124075"/>
            <a:ext cx="76200" cy="7620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83F732F-1D2E-44EF-9831-632A03E0D672}"/>
              </a:ext>
            </a:extLst>
          </p:cNvPr>
          <p:cNvSpPr>
            <a:spLocks noGrp="1"/>
          </p:cNvSpPr>
          <p:nvPr/>
        </p:nvSpPr>
        <p:spPr>
          <a:xfrm>
            <a:off x="8953500" y="1866900"/>
            <a:ext cx="2247900" cy="590550"/>
          </a:xfrm>
          <a:prstGeom prst="roundRect">
            <a:avLst>
              <a:gd name="adj" fmla="val 12903"/>
            </a:avLst>
          </a:prstGeom>
          <a:solidFill>
            <a:srgbClr val="1A1D1B"/>
          </a:solidFill>
          <a:ln w="9525">
            <a:solidFill>
              <a:srgbClr val="8C7440"/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3D3156C-B4FF-44C6-B0DC-ED15DC48034A}"/>
              </a:ext>
            </a:extLst>
          </p:cNvPr>
          <p:cNvSpPr>
            <a:spLocks noGrp="1"/>
          </p:cNvSpPr>
          <p:nvPr/>
        </p:nvSpPr>
        <p:spPr>
          <a:xfrm>
            <a:off x="9096375" y="1990725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2286"/>
          </a:bodyPr>
          <a:lstStyle/>
          <a:p>
            <a:pPr>
              <a:defRPr sz="82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27CF66-63D2-4ED9-BC97-915F668BC01E}"/>
              </a:ext>
            </a:extLst>
          </p:cNvPr>
          <p:cNvSpPr>
            <a:spLocks noGrp="1"/>
          </p:cNvSpPr>
          <p:nvPr/>
        </p:nvSpPr>
        <p:spPr>
          <a:xfrm>
            <a:off x="9410700" y="1981200"/>
            <a:ext cx="16192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05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Build feasible pairs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9894461F-07B1-4133-8C6E-6E28B65C0CF2}"/>
              </a:ext>
            </a:extLst>
          </p:cNvPr>
          <p:cNvSpPr>
            <a:spLocks noGrp="1"/>
          </p:cNvSpPr>
          <p:nvPr/>
        </p:nvSpPr>
        <p:spPr>
          <a:xfrm>
            <a:off x="10077450" y="2457450"/>
            <a:ext cx="9525" cy="361950"/>
          </a:xfrm>
          <a:prstGeom prst="line">
            <a:avLst/>
          </a:prstGeom>
          <a:noFill/>
          <a:ln w="19050">
            <a:solidFill>
              <a:srgbClr val="C8A968"/>
            </a:solidFill>
          </a:ln>
        </p:spPr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2878187-D78D-40A0-B1AD-7EDDC6A4DD32}"/>
              </a:ext>
            </a:extLst>
          </p:cNvPr>
          <p:cNvSpPr>
            <a:spLocks noGrp="1"/>
          </p:cNvSpPr>
          <p:nvPr/>
        </p:nvSpPr>
        <p:spPr>
          <a:xfrm>
            <a:off x="10039350" y="2781300"/>
            <a:ext cx="76200" cy="7620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8BE717E-40B9-4AB3-8A2B-EAD9E1B06015}"/>
              </a:ext>
            </a:extLst>
          </p:cNvPr>
          <p:cNvSpPr>
            <a:spLocks noGrp="1"/>
          </p:cNvSpPr>
          <p:nvPr/>
        </p:nvSpPr>
        <p:spPr>
          <a:xfrm>
            <a:off x="781050" y="2933700"/>
            <a:ext cx="2247900" cy="590550"/>
          </a:xfrm>
          <a:prstGeom prst="roundRect">
            <a:avLst>
              <a:gd name="adj" fmla="val 12903"/>
            </a:avLst>
          </a:prstGeom>
          <a:solidFill>
            <a:srgbClr val="1A1D1B"/>
          </a:solidFill>
          <a:ln w="9525">
            <a:solidFill>
              <a:srgbClr val="8C7440"/>
            </a:solidFill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0E3BA03-F791-4D9D-9A76-0E6AA75F5BE9}"/>
              </a:ext>
            </a:extLst>
          </p:cNvPr>
          <p:cNvSpPr>
            <a:spLocks noGrp="1"/>
          </p:cNvSpPr>
          <p:nvPr/>
        </p:nvSpPr>
        <p:spPr>
          <a:xfrm>
            <a:off x="923925" y="3057525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2286"/>
          </a:bodyPr>
          <a:lstStyle/>
          <a:p>
            <a:pPr>
              <a:defRPr sz="82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FD4A7D7-745B-47F1-94DA-53C3FB31668F}"/>
              </a:ext>
            </a:extLst>
          </p:cNvPr>
          <p:cNvSpPr>
            <a:spLocks noGrp="1"/>
          </p:cNvSpPr>
          <p:nvPr/>
        </p:nvSpPr>
        <p:spPr>
          <a:xfrm>
            <a:off x="1238250" y="3048000"/>
            <a:ext cx="16192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05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Calculate assignment cost</a:t>
            </a:r>
          </a:p>
        </p:txBody>
      </p:sp>
      <p:sp>
        <p:nvSpPr>
          <p:cNvPr id="31" name="Straight Connector 30">
            <a:extLst>
              <a:ext uri="{FF2B5EF4-FFF2-40B4-BE49-F238E27FC236}">
                <a16:creationId xmlns:a16="http://schemas.microsoft.com/office/drawing/2014/main" id="{C2E3E100-8064-4177-9EE1-5822D61497A7}"/>
              </a:ext>
            </a:extLst>
          </p:cNvPr>
          <p:cNvSpPr>
            <a:spLocks noGrp="1"/>
          </p:cNvSpPr>
          <p:nvPr/>
        </p:nvSpPr>
        <p:spPr>
          <a:xfrm>
            <a:off x="3028950" y="3228975"/>
            <a:ext cx="361950" cy="9525"/>
          </a:xfrm>
          <a:prstGeom prst="line">
            <a:avLst/>
          </a:prstGeom>
          <a:noFill/>
          <a:ln w="19050">
            <a:solidFill>
              <a:srgbClr val="C8A968"/>
            </a:solidFill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552DE2A-D1C5-4FE6-B9C3-1C6CF19EECA0}"/>
              </a:ext>
            </a:extLst>
          </p:cNvPr>
          <p:cNvSpPr>
            <a:spLocks noGrp="1"/>
          </p:cNvSpPr>
          <p:nvPr/>
        </p:nvSpPr>
        <p:spPr>
          <a:xfrm>
            <a:off x="3352800" y="3190875"/>
            <a:ext cx="76200" cy="7620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733C594-BADC-45F5-979E-87ED162235BE}"/>
              </a:ext>
            </a:extLst>
          </p:cNvPr>
          <p:cNvSpPr>
            <a:spLocks noGrp="1"/>
          </p:cNvSpPr>
          <p:nvPr/>
        </p:nvSpPr>
        <p:spPr>
          <a:xfrm>
            <a:off x="3505200" y="2933700"/>
            <a:ext cx="2247900" cy="590550"/>
          </a:xfrm>
          <a:prstGeom prst="roundRect">
            <a:avLst>
              <a:gd name="adj" fmla="val 12903"/>
            </a:avLst>
          </a:prstGeom>
          <a:solidFill>
            <a:srgbClr val="1A1D1B"/>
          </a:solidFill>
          <a:ln w="9525">
            <a:solidFill>
              <a:srgbClr val="8C7440"/>
            </a:solidFill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C332F10-CBFA-4C29-853A-AAAF3FD916D7}"/>
              </a:ext>
            </a:extLst>
          </p:cNvPr>
          <p:cNvSpPr>
            <a:spLocks noGrp="1"/>
          </p:cNvSpPr>
          <p:nvPr/>
        </p:nvSpPr>
        <p:spPr>
          <a:xfrm>
            <a:off x="3648075" y="3057525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2286"/>
          </a:bodyPr>
          <a:lstStyle/>
          <a:p>
            <a:pPr>
              <a:defRPr sz="82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2A30671-2411-41A9-A0DD-847610995D38}"/>
              </a:ext>
            </a:extLst>
          </p:cNvPr>
          <p:cNvSpPr>
            <a:spLocks noGrp="1"/>
          </p:cNvSpPr>
          <p:nvPr/>
        </p:nvSpPr>
        <p:spPr>
          <a:xfrm>
            <a:off x="3962400" y="3048000"/>
            <a:ext cx="16192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05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Select rider</a:t>
            </a:r>
          </a:p>
        </p:txBody>
      </p:sp>
      <p:sp>
        <p:nvSpPr>
          <p:cNvPr id="36" name="Straight Connector 35">
            <a:extLst>
              <a:ext uri="{FF2B5EF4-FFF2-40B4-BE49-F238E27FC236}">
                <a16:creationId xmlns:a16="http://schemas.microsoft.com/office/drawing/2014/main" id="{A4577208-0614-4F39-9A31-592F20661818}"/>
              </a:ext>
            </a:extLst>
          </p:cNvPr>
          <p:cNvSpPr>
            <a:spLocks noGrp="1"/>
          </p:cNvSpPr>
          <p:nvPr/>
        </p:nvSpPr>
        <p:spPr>
          <a:xfrm>
            <a:off x="5753100" y="3228975"/>
            <a:ext cx="361950" cy="9525"/>
          </a:xfrm>
          <a:prstGeom prst="line">
            <a:avLst/>
          </a:prstGeom>
          <a:noFill/>
          <a:ln w="19050">
            <a:solidFill>
              <a:srgbClr val="C8A968"/>
            </a:solidFill>
          </a:ln>
        </p:spPr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F12A9E0-19D4-44A8-955B-0A5818BC709E}"/>
              </a:ext>
            </a:extLst>
          </p:cNvPr>
          <p:cNvSpPr>
            <a:spLocks noGrp="1"/>
          </p:cNvSpPr>
          <p:nvPr/>
        </p:nvSpPr>
        <p:spPr>
          <a:xfrm>
            <a:off x="6076950" y="3190875"/>
            <a:ext cx="76200" cy="7620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11D7A6F-E17F-494B-A524-D4611AF514CB}"/>
              </a:ext>
            </a:extLst>
          </p:cNvPr>
          <p:cNvSpPr>
            <a:spLocks noGrp="1"/>
          </p:cNvSpPr>
          <p:nvPr/>
        </p:nvSpPr>
        <p:spPr>
          <a:xfrm>
            <a:off x="6229350" y="2933700"/>
            <a:ext cx="2247900" cy="590550"/>
          </a:xfrm>
          <a:prstGeom prst="roundRect">
            <a:avLst>
              <a:gd name="adj" fmla="val 12903"/>
            </a:avLst>
          </a:prstGeom>
          <a:solidFill>
            <a:srgbClr val="1A1D1B"/>
          </a:solidFill>
          <a:ln w="9525">
            <a:solidFill>
              <a:srgbClr val="8C7440"/>
            </a:solidFill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7F7415F-6CFA-4E19-9811-F7CE2D055A5A}"/>
              </a:ext>
            </a:extLst>
          </p:cNvPr>
          <p:cNvSpPr>
            <a:spLocks noGrp="1"/>
          </p:cNvSpPr>
          <p:nvPr/>
        </p:nvSpPr>
        <p:spPr>
          <a:xfrm>
            <a:off x="6372225" y="3057525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2286"/>
          </a:bodyPr>
          <a:lstStyle/>
          <a:p>
            <a:pPr>
              <a:defRPr sz="82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B78A1BB-0222-4F47-B4A3-7868B4EF236E}"/>
              </a:ext>
            </a:extLst>
          </p:cNvPr>
          <p:cNvSpPr>
            <a:spLocks noGrp="1"/>
          </p:cNvSpPr>
          <p:nvPr/>
        </p:nvSpPr>
        <p:spPr>
          <a:xfrm>
            <a:off x="6686550" y="3048000"/>
            <a:ext cx="16192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05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Check capacity</a:t>
            </a:r>
          </a:p>
        </p:txBody>
      </p:sp>
      <p:sp>
        <p:nvSpPr>
          <p:cNvPr id="41" name="Straight Connector 40">
            <a:extLst>
              <a:ext uri="{FF2B5EF4-FFF2-40B4-BE49-F238E27FC236}">
                <a16:creationId xmlns:a16="http://schemas.microsoft.com/office/drawing/2014/main" id="{4ADA34A8-3BAE-441A-BCED-FDB1174A870B}"/>
              </a:ext>
            </a:extLst>
          </p:cNvPr>
          <p:cNvSpPr>
            <a:spLocks noGrp="1"/>
          </p:cNvSpPr>
          <p:nvPr/>
        </p:nvSpPr>
        <p:spPr>
          <a:xfrm>
            <a:off x="8477250" y="3228975"/>
            <a:ext cx="361950" cy="9525"/>
          </a:xfrm>
          <a:prstGeom prst="line">
            <a:avLst/>
          </a:prstGeom>
          <a:noFill/>
          <a:ln w="19050">
            <a:solidFill>
              <a:srgbClr val="C8A968"/>
            </a:solidFill>
          </a:ln>
        </p:spPr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365BF3D-10EB-4FA3-8ACE-DEE2B6FC0D0E}"/>
              </a:ext>
            </a:extLst>
          </p:cNvPr>
          <p:cNvSpPr>
            <a:spLocks noGrp="1"/>
          </p:cNvSpPr>
          <p:nvPr/>
        </p:nvSpPr>
        <p:spPr>
          <a:xfrm>
            <a:off x="8801100" y="3190875"/>
            <a:ext cx="76200" cy="7620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6DA2EE9-B757-4487-8C6B-668F03B8EF46}"/>
              </a:ext>
            </a:extLst>
          </p:cNvPr>
          <p:cNvSpPr>
            <a:spLocks noGrp="1"/>
          </p:cNvSpPr>
          <p:nvPr/>
        </p:nvSpPr>
        <p:spPr>
          <a:xfrm>
            <a:off x="8953500" y="2933700"/>
            <a:ext cx="2247900" cy="590550"/>
          </a:xfrm>
          <a:prstGeom prst="roundRect">
            <a:avLst>
              <a:gd name="adj" fmla="val 12903"/>
            </a:avLst>
          </a:prstGeom>
          <a:solidFill>
            <a:srgbClr val="1A1D1B"/>
          </a:solidFill>
          <a:ln w="9525">
            <a:solidFill>
              <a:srgbClr val="8C7440"/>
            </a:solidFill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002C967-7C6B-40B0-9C70-5040E2D12A8F}"/>
              </a:ext>
            </a:extLst>
          </p:cNvPr>
          <p:cNvSpPr>
            <a:spLocks noGrp="1"/>
          </p:cNvSpPr>
          <p:nvPr/>
        </p:nvSpPr>
        <p:spPr>
          <a:xfrm>
            <a:off x="9096375" y="3057525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2286"/>
          </a:bodyPr>
          <a:lstStyle/>
          <a:p>
            <a:pPr>
              <a:defRPr sz="82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C2CD1D5-2684-45AD-94B1-7D76CC147A21}"/>
              </a:ext>
            </a:extLst>
          </p:cNvPr>
          <p:cNvSpPr>
            <a:spLocks noGrp="1"/>
          </p:cNvSpPr>
          <p:nvPr/>
        </p:nvSpPr>
        <p:spPr>
          <a:xfrm>
            <a:off x="9410700" y="3048000"/>
            <a:ext cx="16192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05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Build road graph</a:t>
            </a:r>
          </a:p>
        </p:txBody>
      </p:sp>
      <p:sp>
        <p:nvSpPr>
          <p:cNvPr id="46" name="Straight Connector 45">
            <a:extLst>
              <a:ext uri="{FF2B5EF4-FFF2-40B4-BE49-F238E27FC236}">
                <a16:creationId xmlns:a16="http://schemas.microsoft.com/office/drawing/2014/main" id="{399CEE51-06A9-40AA-9FB7-462016879B0F}"/>
              </a:ext>
            </a:extLst>
          </p:cNvPr>
          <p:cNvSpPr>
            <a:spLocks noGrp="1"/>
          </p:cNvSpPr>
          <p:nvPr/>
        </p:nvSpPr>
        <p:spPr>
          <a:xfrm>
            <a:off x="10077450" y="3524250"/>
            <a:ext cx="9525" cy="361950"/>
          </a:xfrm>
          <a:prstGeom prst="line">
            <a:avLst/>
          </a:prstGeom>
          <a:noFill/>
          <a:ln w="19050">
            <a:solidFill>
              <a:srgbClr val="C8A968"/>
            </a:solidFill>
          </a:ln>
        </p:spPr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E6423EB-2CE5-4991-AA2C-8B2582C80CB1}"/>
              </a:ext>
            </a:extLst>
          </p:cNvPr>
          <p:cNvSpPr>
            <a:spLocks noGrp="1"/>
          </p:cNvSpPr>
          <p:nvPr/>
        </p:nvSpPr>
        <p:spPr>
          <a:xfrm>
            <a:off x="10039350" y="3848100"/>
            <a:ext cx="76200" cy="7620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3FCC4490-679D-41D1-A316-752A31EF61FA}"/>
              </a:ext>
            </a:extLst>
          </p:cNvPr>
          <p:cNvSpPr>
            <a:spLocks noGrp="1"/>
          </p:cNvSpPr>
          <p:nvPr/>
        </p:nvSpPr>
        <p:spPr>
          <a:xfrm>
            <a:off x="781050" y="4000500"/>
            <a:ext cx="2247900" cy="590550"/>
          </a:xfrm>
          <a:prstGeom prst="roundRect">
            <a:avLst>
              <a:gd name="adj" fmla="val 12903"/>
            </a:avLst>
          </a:prstGeom>
          <a:solidFill>
            <a:srgbClr val="1A1D1B"/>
          </a:solidFill>
          <a:ln w="9525">
            <a:solidFill>
              <a:srgbClr val="8C7440"/>
            </a:solidFill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9851DAC-DBCA-4433-A182-055BC6B4CBF7}"/>
              </a:ext>
            </a:extLst>
          </p:cNvPr>
          <p:cNvSpPr>
            <a:spLocks noGrp="1"/>
          </p:cNvSpPr>
          <p:nvPr/>
        </p:nvSpPr>
        <p:spPr>
          <a:xfrm>
            <a:off x="923925" y="4124325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2286"/>
          </a:bodyPr>
          <a:lstStyle/>
          <a:p>
            <a:pPr>
              <a:defRPr sz="82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A368682-F0F3-49C3-8072-18F6E613103F}"/>
              </a:ext>
            </a:extLst>
          </p:cNvPr>
          <p:cNvSpPr>
            <a:spLocks noGrp="1"/>
          </p:cNvSpPr>
          <p:nvPr/>
        </p:nvSpPr>
        <p:spPr>
          <a:xfrm>
            <a:off x="1238250" y="4114800"/>
            <a:ext cx="16192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05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Find route</a:t>
            </a:r>
          </a:p>
        </p:txBody>
      </p:sp>
      <p:sp>
        <p:nvSpPr>
          <p:cNvPr id="51" name="Straight Connector 50">
            <a:extLst>
              <a:ext uri="{FF2B5EF4-FFF2-40B4-BE49-F238E27FC236}">
                <a16:creationId xmlns:a16="http://schemas.microsoft.com/office/drawing/2014/main" id="{20917B70-540E-4EF4-8DA8-9200726885CE}"/>
              </a:ext>
            </a:extLst>
          </p:cNvPr>
          <p:cNvSpPr>
            <a:spLocks noGrp="1"/>
          </p:cNvSpPr>
          <p:nvPr/>
        </p:nvSpPr>
        <p:spPr>
          <a:xfrm>
            <a:off x="3028950" y="4295775"/>
            <a:ext cx="361950" cy="9525"/>
          </a:xfrm>
          <a:prstGeom prst="line">
            <a:avLst/>
          </a:prstGeom>
          <a:noFill/>
          <a:ln w="19050">
            <a:solidFill>
              <a:srgbClr val="C8A968"/>
            </a:solidFill>
          </a:ln>
        </p:spPr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FBD2443-DC8B-4ADD-805B-4A904FB8A3B9}"/>
              </a:ext>
            </a:extLst>
          </p:cNvPr>
          <p:cNvSpPr>
            <a:spLocks noGrp="1"/>
          </p:cNvSpPr>
          <p:nvPr/>
        </p:nvSpPr>
        <p:spPr>
          <a:xfrm>
            <a:off x="3352800" y="4257675"/>
            <a:ext cx="76200" cy="7620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A28FE8AF-E4AB-4B37-A34D-4CBAB1C3EE3D}"/>
              </a:ext>
            </a:extLst>
          </p:cNvPr>
          <p:cNvSpPr>
            <a:spLocks noGrp="1"/>
          </p:cNvSpPr>
          <p:nvPr/>
        </p:nvSpPr>
        <p:spPr>
          <a:xfrm>
            <a:off x="3505200" y="4000500"/>
            <a:ext cx="2247900" cy="590550"/>
          </a:xfrm>
          <a:prstGeom prst="roundRect">
            <a:avLst>
              <a:gd name="adj" fmla="val 12903"/>
            </a:avLst>
          </a:prstGeom>
          <a:solidFill>
            <a:srgbClr val="1A1D1B"/>
          </a:solidFill>
          <a:ln w="9525">
            <a:solidFill>
              <a:srgbClr val="8C7440"/>
            </a:solidFill>
          </a:ln>
        </p:spPr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0A00EEE-B865-4B2E-BE3F-C37A54A6B1AE}"/>
              </a:ext>
            </a:extLst>
          </p:cNvPr>
          <p:cNvSpPr>
            <a:spLocks noGrp="1"/>
          </p:cNvSpPr>
          <p:nvPr/>
        </p:nvSpPr>
        <p:spPr>
          <a:xfrm>
            <a:off x="3648075" y="4124325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2286"/>
          </a:bodyPr>
          <a:lstStyle/>
          <a:p>
            <a:pPr>
              <a:defRPr sz="82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7DE1884-F931-4124-9004-A7761F41DADA}"/>
              </a:ext>
            </a:extLst>
          </p:cNvPr>
          <p:cNvSpPr>
            <a:spLocks noGrp="1"/>
          </p:cNvSpPr>
          <p:nvPr/>
        </p:nvSpPr>
        <p:spPr>
          <a:xfrm>
            <a:off x="3962400" y="4114800"/>
            <a:ext cx="16192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05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Calculate ETA</a:t>
            </a:r>
          </a:p>
        </p:txBody>
      </p:sp>
      <p:sp>
        <p:nvSpPr>
          <p:cNvPr id="56" name="Straight Connector 55">
            <a:extLst>
              <a:ext uri="{FF2B5EF4-FFF2-40B4-BE49-F238E27FC236}">
                <a16:creationId xmlns:a16="http://schemas.microsoft.com/office/drawing/2014/main" id="{0E152057-A28E-4D66-B4DD-17D29AC7F46E}"/>
              </a:ext>
            </a:extLst>
          </p:cNvPr>
          <p:cNvSpPr>
            <a:spLocks noGrp="1"/>
          </p:cNvSpPr>
          <p:nvPr/>
        </p:nvSpPr>
        <p:spPr>
          <a:xfrm>
            <a:off x="5753100" y="4295775"/>
            <a:ext cx="361950" cy="9525"/>
          </a:xfrm>
          <a:prstGeom prst="line">
            <a:avLst/>
          </a:prstGeom>
          <a:noFill/>
          <a:ln w="19050">
            <a:solidFill>
              <a:srgbClr val="C8A968"/>
            </a:solidFill>
          </a:ln>
        </p:spPr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238ECEEE-EEB6-468A-976C-E0F5A1CB29E0}"/>
              </a:ext>
            </a:extLst>
          </p:cNvPr>
          <p:cNvSpPr>
            <a:spLocks noGrp="1"/>
          </p:cNvSpPr>
          <p:nvPr/>
        </p:nvSpPr>
        <p:spPr>
          <a:xfrm>
            <a:off x="6076950" y="4257675"/>
            <a:ext cx="76200" cy="7620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C3F872A7-0505-4E4D-9133-AB9018CEB5ED}"/>
              </a:ext>
            </a:extLst>
          </p:cNvPr>
          <p:cNvSpPr>
            <a:spLocks noGrp="1"/>
          </p:cNvSpPr>
          <p:nvPr/>
        </p:nvSpPr>
        <p:spPr>
          <a:xfrm>
            <a:off x="6229350" y="4000500"/>
            <a:ext cx="2247900" cy="590550"/>
          </a:xfrm>
          <a:prstGeom prst="roundRect">
            <a:avLst>
              <a:gd name="adj" fmla="val 12903"/>
            </a:avLst>
          </a:prstGeom>
          <a:solidFill>
            <a:srgbClr val="1A1D1B"/>
          </a:solidFill>
          <a:ln w="9525">
            <a:solidFill>
              <a:srgbClr val="5AC7D8"/>
            </a:solidFill>
          </a:ln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F3434E2-69BD-4B4C-B9ED-B49491384696}"/>
              </a:ext>
            </a:extLst>
          </p:cNvPr>
          <p:cNvSpPr>
            <a:spLocks noGrp="1"/>
          </p:cNvSpPr>
          <p:nvPr/>
        </p:nvSpPr>
        <p:spPr>
          <a:xfrm>
            <a:off x="6372225" y="4124325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2286"/>
          </a:bodyPr>
          <a:lstStyle/>
          <a:p>
            <a:pPr>
              <a:defRPr sz="82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31EF84F-8437-410F-91A6-240836187AD8}"/>
              </a:ext>
            </a:extLst>
          </p:cNvPr>
          <p:cNvSpPr>
            <a:spLocks noGrp="1"/>
          </p:cNvSpPr>
          <p:nvPr/>
        </p:nvSpPr>
        <p:spPr>
          <a:xfrm>
            <a:off x="6686550" y="4114800"/>
            <a:ext cx="16192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05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Return delivery plan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1EA8B650-8DED-4921-B81D-15B08FB270BA}"/>
              </a:ext>
            </a:extLst>
          </p:cNvPr>
          <p:cNvSpPr>
            <a:spLocks noGrp="1"/>
          </p:cNvSpPr>
          <p:nvPr/>
        </p:nvSpPr>
        <p:spPr>
          <a:xfrm>
            <a:off x="781050" y="5267325"/>
            <a:ext cx="10725150" cy="723900"/>
          </a:xfrm>
          <a:prstGeom prst="roundRect">
            <a:avLst>
              <a:gd name="adj" fmla="val 10526"/>
            </a:avLst>
          </a:prstGeom>
          <a:solidFill>
            <a:srgbClr val="202421"/>
          </a:solidFill>
          <a:ln w="9525">
            <a:solidFill>
              <a:srgbClr val="8C7440"/>
            </a:solidFill>
          </a:ln>
        </p:spPr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9886443-2FAF-448D-96ED-08D61B21CDB2}"/>
              </a:ext>
            </a:extLst>
          </p:cNvPr>
          <p:cNvSpPr>
            <a:spLocks noGrp="1"/>
          </p:cNvSpPr>
          <p:nvPr/>
        </p:nvSpPr>
        <p:spPr>
          <a:xfrm>
            <a:off x="1009650" y="5429250"/>
            <a:ext cx="1714500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3333"/>
          </a:bodyPr>
          <a:lstStyle/>
          <a:p>
            <a:pPr>
              <a:defRPr sz="750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ILLUSTRATIVE EXAMPLE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88CADFB-0484-43E6-AC81-7D17A7BD61FC}"/>
              </a:ext>
            </a:extLst>
          </p:cNvPr>
          <p:cNvSpPr>
            <a:spLocks noGrp="1"/>
          </p:cNvSpPr>
          <p:nvPr/>
        </p:nvSpPr>
        <p:spPr>
          <a:xfrm>
            <a:off x="1009650" y="5676900"/>
            <a:ext cx="9334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0000"/>
          </a:bodyPr>
          <a:lstStyle/>
          <a:p>
            <a:pPr>
              <a:defRPr sz="1050" b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F0E8"/>
                </a:solidFill>
                <a:latin typeface="Aptos"/>
                <a:ea typeface="Aptos"/>
                <a:cs typeface="Aptos"/>
              </a:rPr>
              <a:t>Order O1 → feasible riders → selected rider → route → ETA.  [INSERT ACTUAL EXECUTION RESULT FOR REVIEW 3]</a:t>
            </a:r>
          </a:p>
        </p:txBody>
      </p:sp>
    </p:spTree>
    <p:extLst>
      <p:ext uri="{BB962C8B-B14F-4D97-AF65-F5344CB8AC3E}">
        <p14:creationId xmlns:p14="http://schemas.microsoft.com/office/powerpoint/2010/main" val="1693971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25388228-AFD4-4507-B596-38FF23FC2E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C8A96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14987E-EA80-4DD3-9701-7CD4CC9FBC0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>
              <a:defRPr sz="82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5D8AC8-D1B4-4D22-BEA7-47DE81EF23E1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2870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473"/>
          </a:bodyPr>
          <a:lstStyle/>
          <a:p>
            <a:pPr>
              <a:defRPr sz="232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HOW WE EVALUATE THE 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21E5F0-5712-4B61-8655-8EE81CC81742}"/>
              </a:ext>
            </a:extLst>
          </p:cNvPr>
          <p:cNvSpPr>
            <a:spLocks noGrp="1"/>
          </p:cNvSpPr>
          <p:nvPr/>
        </p:nvSpPr>
        <p:spPr>
          <a:xfrm>
            <a:off x="685800" y="1143000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667"/>
          </a:bodyPr>
          <a:lstStyle/>
          <a:p>
            <a:pPr>
              <a:defRPr sz="1050" b="0">
                <a:solidFill>
                  <a:srgbClr val="A9ADA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ADA7"/>
                </a:solidFill>
                <a:latin typeface="Aptos"/>
                <a:ea typeface="Aptos"/>
                <a:cs typeface="Aptos"/>
              </a:rPr>
              <a:t>A repeatable test framework converts each run into measurable technical evidence.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0B21D928-A790-42EF-AEA4-E0A655357C27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10820400" cy="9525"/>
          </a:xfrm>
          <a:prstGeom prst="line">
            <a:avLst/>
          </a:prstGeom>
          <a:noFill/>
          <a:ln w="9525">
            <a:solidFill>
              <a:srgbClr val="8C7440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53511E-084D-4464-BA22-F2BAB6767496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4095750" cy="133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40741"/>
          </a:bodyPr>
          <a:lstStyle/>
          <a:p>
            <a:pPr>
              <a:defRPr sz="675" b="0">
                <a:solidFill>
                  <a:srgbClr val="A9AD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9ADA7"/>
                </a:solidFill>
                <a:latin typeface="Aptos"/>
                <a:ea typeface="Aptos"/>
                <a:cs typeface="Aptos"/>
              </a:rPr>
              <a:t>FOOD DELIVERY ROUTE OPTIMIZATION  /  REVIEW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158EEA-E0F1-40F5-B3D0-44907456C718}"/>
              </a:ext>
            </a:extLst>
          </p:cNvPr>
          <p:cNvSpPr>
            <a:spLocks noGrp="1"/>
          </p:cNvSpPr>
          <p:nvPr/>
        </p:nvSpPr>
        <p:spPr>
          <a:xfrm>
            <a:off x="11068050" y="6515100"/>
            <a:ext cx="438150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48485"/>
          </a:bodyPr>
          <a:lstStyle/>
          <a:p>
            <a:pPr>
              <a:defRPr sz="82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4E48C04-CDBF-4171-86CC-EC75EDE60C4A}"/>
              </a:ext>
            </a:extLst>
          </p:cNvPr>
          <p:cNvSpPr>
            <a:spLocks noGrp="1"/>
          </p:cNvSpPr>
          <p:nvPr/>
        </p:nvSpPr>
        <p:spPr>
          <a:xfrm>
            <a:off x="781050" y="2190750"/>
            <a:ext cx="1524000" cy="666750"/>
          </a:xfrm>
          <a:prstGeom prst="roundRect">
            <a:avLst>
              <a:gd name="adj" fmla="val 11429"/>
            </a:avLst>
          </a:prstGeom>
          <a:solidFill>
            <a:srgbClr val="1A1D1B"/>
          </a:solidFill>
          <a:ln w="9525">
            <a:solidFill>
              <a:srgbClr val="8C7440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68A612-7843-4139-A7A5-7A4B73D2A2F7}"/>
              </a:ext>
            </a:extLst>
          </p:cNvPr>
          <p:cNvSpPr>
            <a:spLocks noGrp="1"/>
          </p:cNvSpPr>
          <p:nvPr/>
        </p:nvSpPr>
        <p:spPr>
          <a:xfrm>
            <a:off x="876300" y="2428875"/>
            <a:ext cx="1333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>
              <a:defRPr sz="97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TEST CASE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9FC7274F-6774-4DB7-A751-0BEA7562662D}"/>
              </a:ext>
            </a:extLst>
          </p:cNvPr>
          <p:cNvSpPr>
            <a:spLocks noGrp="1"/>
          </p:cNvSpPr>
          <p:nvPr/>
        </p:nvSpPr>
        <p:spPr>
          <a:xfrm>
            <a:off x="2305050" y="2524125"/>
            <a:ext cx="228600" cy="9525"/>
          </a:xfrm>
          <a:prstGeom prst="line">
            <a:avLst/>
          </a:prstGeom>
          <a:noFill/>
          <a:ln w="19050">
            <a:solidFill>
              <a:srgbClr val="C8A968"/>
            </a:solidFill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8C7E703-64AA-486B-AEA1-73F013E8ACB0}"/>
              </a:ext>
            </a:extLst>
          </p:cNvPr>
          <p:cNvSpPr>
            <a:spLocks noGrp="1"/>
          </p:cNvSpPr>
          <p:nvPr/>
        </p:nvSpPr>
        <p:spPr>
          <a:xfrm>
            <a:off x="2495550" y="2486025"/>
            <a:ext cx="76200" cy="7620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8E66785-9A5B-40CB-A3FC-01BF1C0982C5}"/>
              </a:ext>
            </a:extLst>
          </p:cNvPr>
          <p:cNvSpPr>
            <a:spLocks noGrp="1"/>
          </p:cNvSpPr>
          <p:nvPr/>
        </p:nvSpPr>
        <p:spPr>
          <a:xfrm>
            <a:off x="2619375" y="2190750"/>
            <a:ext cx="1524000" cy="666750"/>
          </a:xfrm>
          <a:prstGeom prst="roundRect">
            <a:avLst>
              <a:gd name="adj" fmla="val 11429"/>
            </a:avLst>
          </a:prstGeom>
          <a:solidFill>
            <a:srgbClr val="1A1D1B"/>
          </a:solidFill>
          <a:ln w="9525">
            <a:solidFill>
              <a:srgbClr val="8C7440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6A7EA2-D013-48F2-B767-AEAB6B5EC9F4}"/>
              </a:ext>
            </a:extLst>
          </p:cNvPr>
          <p:cNvSpPr>
            <a:spLocks noGrp="1"/>
          </p:cNvSpPr>
          <p:nvPr/>
        </p:nvSpPr>
        <p:spPr>
          <a:xfrm>
            <a:off x="2714625" y="2428875"/>
            <a:ext cx="1333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>
              <a:defRPr sz="97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INPUT SIZE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060BAAF4-D300-4707-8F63-2B665033AEFE}"/>
              </a:ext>
            </a:extLst>
          </p:cNvPr>
          <p:cNvSpPr>
            <a:spLocks noGrp="1"/>
          </p:cNvSpPr>
          <p:nvPr/>
        </p:nvSpPr>
        <p:spPr>
          <a:xfrm>
            <a:off x="4143375" y="2524125"/>
            <a:ext cx="228600" cy="9525"/>
          </a:xfrm>
          <a:prstGeom prst="line">
            <a:avLst/>
          </a:prstGeom>
          <a:noFill/>
          <a:ln w="19050">
            <a:solidFill>
              <a:srgbClr val="C8A968"/>
            </a:solidFill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FC10A90-00CB-42B7-9ED0-C2DDA2664CD6}"/>
              </a:ext>
            </a:extLst>
          </p:cNvPr>
          <p:cNvSpPr>
            <a:spLocks noGrp="1"/>
          </p:cNvSpPr>
          <p:nvPr/>
        </p:nvSpPr>
        <p:spPr>
          <a:xfrm>
            <a:off x="4333875" y="2486025"/>
            <a:ext cx="76200" cy="7620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58FC007-A0A8-4490-8CD7-EDF21684E0F7}"/>
              </a:ext>
            </a:extLst>
          </p:cNvPr>
          <p:cNvSpPr>
            <a:spLocks noGrp="1"/>
          </p:cNvSpPr>
          <p:nvPr/>
        </p:nvSpPr>
        <p:spPr>
          <a:xfrm>
            <a:off x="4457700" y="2190750"/>
            <a:ext cx="1524000" cy="666750"/>
          </a:xfrm>
          <a:prstGeom prst="roundRect">
            <a:avLst>
              <a:gd name="adj" fmla="val 11429"/>
            </a:avLst>
          </a:prstGeom>
          <a:solidFill>
            <a:srgbClr val="1A1D1B"/>
          </a:solidFill>
          <a:ln w="9525">
            <a:solidFill>
              <a:srgbClr val="8C7440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00EADB-9FE6-4D71-B9DF-902BCF1BFB63}"/>
              </a:ext>
            </a:extLst>
          </p:cNvPr>
          <p:cNvSpPr>
            <a:spLocks noGrp="1"/>
          </p:cNvSpPr>
          <p:nvPr/>
        </p:nvSpPr>
        <p:spPr>
          <a:xfrm>
            <a:off x="4552950" y="2428875"/>
            <a:ext cx="1333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>
              <a:defRPr sz="97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ALGORITHM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5C7471CE-70DA-4249-8C3F-1225D538E59E}"/>
              </a:ext>
            </a:extLst>
          </p:cNvPr>
          <p:cNvSpPr>
            <a:spLocks noGrp="1"/>
          </p:cNvSpPr>
          <p:nvPr/>
        </p:nvSpPr>
        <p:spPr>
          <a:xfrm>
            <a:off x="5981700" y="2524125"/>
            <a:ext cx="228600" cy="9525"/>
          </a:xfrm>
          <a:prstGeom prst="line">
            <a:avLst/>
          </a:prstGeom>
          <a:noFill/>
          <a:ln w="19050">
            <a:solidFill>
              <a:srgbClr val="C8A968"/>
            </a:solidFill>
          </a:ln>
        </p:spPr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64CCB0E-9D0B-439F-BB2D-BC53B20CEC96}"/>
              </a:ext>
            </a:extLst>
          </p:cNvPr>
          <p:cNvSpPr>
            <a:spLocks noGrp="1"/>
          </p:cNvSpPr>
          <p:nvPr/>
        </p:nvSpPr>
        <p:spPr>
          <a:xfrm>
            <a:off x="6172200" y="2486025"/>
            <a:ext cx="76200" cy="7620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1B8EBEA-5C64-487D-85CC-59A801DD082F}"/>
              </a:ext>
            </a:extLst>
          </p:cNvPr>
          <p:cNvSpPr>
            <a:spLocks noGrp="1"/>
          </p:cNvSpPr>
          <p:nvPr/>
        </p:nvSpPr>
        <p:spPr>
          <a:xfrm>
            <a:off x="6296025" y="2190750"/>
            <a:ext cx="1524000" cy="666750"/>
          </a:xfrm>
          <a:prstGeom prst="roundRect">
            <a:avLst>
              <a:gd name="adj" fmla="val 11429"/>
            </a:avLst>
          </a:prstGeom>
          <a:solidFill>
            <a:srgbClr val="1A1D1B"/>
          </a:solidFill>
          <a:ln w="9525">
            <a:solidFill>
              <a:srgbClr val="8C7440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F7DA294-20FA-412E-A355-9FEC094E3D8F}"/>
              </a:ext>
            </a:extLst>
          </p:cNvPr>
          <p:cNvSpPr>
            <a:spLocks noGrp="1"/>
          </p:cNvSpPr>
          <p:nvPr/>
        </p:nvSpPr>
        <p:spPr>
          <a:xfrm>
            <a:off x="6391275" y="2428875"/>
            <a:ext cx="1333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>
              <a:defRPr sz="97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B95FC0A0-F778-4DD9-ABBE-662F2BE66396}"/>
              </a:ext>
            </a:extLst>
          </p:cNvPr>
          <p:cNvSpPr>
            <a:spLocks noGrp="1"/>
          </p:cNvSpPr>
          <p:nvPr/>
        </p:nvSpPr>
        <p:spPr>
          <a:xfrm>
            <a:off x="7820025" y="2524125"/>
            <a:ext cx="228600" cy="9525"/>
          </a:xfrm>
          <a:prstGeom prst="line">
            <a:avLst/>
          </a:prstGeom>
          <a:noFill/>
          <a:ln w="19050">
            <a:solidFill>
              <a:srgbClr val="C8A968"/>
            </a:solidFill>
          </a:ln>
        </p:spPr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D2CC883-5983-4866-B319-97D880F57DC1}"/>
              </a:ext>
            </a:extLst>
          </p:cNvPr>
          <p:cNvSpPr>
            <a:spLocks noGrp="1"/>
          </p:cNvSpPr>
          <p:nvPr/>
        </p:nvSpPr>
        <p:spPr>
          <a:xfrm>
            <a:off x="8010525" y="2486025"/>
            <a:ext cx="76200" cy="7620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B838E74-AD42-412B-A970-F0F47D77522A}"/>
              </a:ext>
            </a:extLst>
          </p:cNvPr>
          <p:cNvSpPr>
            <a:spLocks noGrp="1"/>
          </p:cNvSpPr>
          <p:nvPr/>
        </p:nvSpPr>
        <p:spPr>
          <a:xfrm>
            <a:off x="8134350" y="2190750"/>
            <a:ext cx="1524000" cy="666750"/>
          </a:xfrm>
          <a:prstGeom prst="roundRect">
            <a:avLst>
              <a:gd name="adj" fmla="val 11429"/>
            </a:avLst>
          </a:prstGeom>
          <a:solidFill>
            <a:srgbClr val="1A1D1B"/>
          </a:solidFill>
          <a:ln w="9525">
            <a:solidFill>
              <a:srgbClr val="8C7440"/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2619490-8F7E-438C-9FF7-17635C34214D}"/>
              </a:ext>
            </a:extLst>
          </p:cNvPr>
          <p:cNvSpPr>
            <a:spLocks noGrp="1"/>
          </p:cNvSpPr>
          <p:nvPr/>
        </p:nvSpPr>
        <p:spPr>
          <a:xfrm>
            <a:off x="8229600" y="2428875"/>
            <a:ext cx="1333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>
              <a:defRPr sz="97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METRIC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53D4171F-512A-4D4A-AE50-30DD083C8CEE}"/>
              </a:ext>
            </a:extLst>
          </p:cNvPr>
          <p:cNvSpPr>
            <a:spLocks noGrp="1"/>
          </p:cNvSpPr>
          <p:nvPr/>
        </p:nvSpPr>
        <p:spPr>
          <a:xfrm>
            <a:off x="9658350" y="2524125"/>
            <a:ext cx="228600" cy="9525"/>
          </a:xfrm>
          <a:prstGeom prst="line">
            <a:avLst/>
          </a:prstGeom>
          <a:noFill/>
          <a:ln w="19050">
            <a:solidFill>
              <a:srgbClr val="C8A968"/>
            </a:solidFill>
          </a:ln>
        </p:spPr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6CFF986-0E17-473E-9037-DEFECEF17806}"/>
              </a:ext>
            </a:extLst>
          </p:cNvPr>
          <p:cNvSpPr>
            <a:spLocks noGrp="1"/>
          </p:cNvSpPr>
          <p:nvPr/>
        </p:nvSpPr>
        <p:spPr>
          <a:xfrm>
            <a:off x="9848850" y="2486025"/>
            <a:ext cx="76200" cy="7620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55042D1-6D2D-48EE-B616-DD46986C855F}"/>
              </a:ext>
            </a:extLst>
          </p:cNvPr>
          <p:cNvSpPr>
            <a:spLocks noGrp="1"/>
          </p:cNvSpPr>
          <p:nvPr/>
        </p:nvSpPr>
        <p:spPr>
          <a:xfrm>
            <a:off x="9972675" y="2190750"/>
            <a:ext cx="1524000" cy="666750"/>
          </a:xfrm>
          <a:prstGeom prst="roundRect">
            <a:avLst>
              <a:gd name="adj" fmla="val 11429"/>
            </a:avLst>
          </a:prstGeom>
          <a:solidFill>
            <a:srgbClr val="1A1D1B"/>
          </a:solidFill>
          <a:ln w="9525">
            <a:solidFill>
              <a:srgbClr val="5AC7D8"/>
            </a:solidFill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72649F-5062-440E-901D-28F7F419B510}"/>
              </a:ext>
            </a:extLst>
          </p:cNvPr>
          <p:cNvSpPr>
            <a:spLocks noGrp="1"/>
          </p:cNvSpPr>
          <p:nvPr/>
        </p:nvSpPr>
        <p:spPr>
          <a:xfrm>
            <a:off x="10067925" y="2428875"/>
            <a:ext cx="1333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>
              <a:defRPr sz="97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COMPARISON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6C24250-2EBB-4A8C-9B34-4964C614EDC2}"/>
              </a:ext>
            </a:extLst>
          </p:cNvPr>
          <p:cNvSpPr>
            <a:spLocks noGrp="1"/>
          </p:cNvSpPr>
          <p:nvPr/>
        </p:nvSpPr>
        <p:spPr>
          <a:xfrm>
            <a:off x="781050" y="3524250"/>
            <a:ext cx="2381250" cy="723900"/>
          </a:xfrm>
          <a:prstGeom prst="roundRect">
            <a:avLst>
              <a:gd name="adj" fmla="val 10526"/>
            </a:avLst>
          </a:prstGeom>
          <a:solidFill>
            <a:srgbClr val="1A1D1B"/>
          </a:solidFill>
          <a:ln w="9525">
            <a:solidFill>
              <a:srgbClr val="3A403C"/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4EEE80D-BCD1-42A7-BA01-120D0E076FE4}"/>
              </a:ext>
            </a:extLst>
          </p:cNvPr>
          <p:cNvSpPr>
            <a:spLocks noGrp="1"/>
          </p:cNvSpPr>
          <p:nvPr/>
        </p:nvSpPr>
        <p:spPr>
          <a:xfrm>
            <a:off x="781050" y="3524250"/>
            <a:ext cx="47625" cy="723900"/>
          </a:xfrm>
          <a:prstGeom prst="rect">
            <a:avLst/>
          </a:prstGeom>
          <a:solidFill>
            <a:srgbClr val="C8A968"/>
          </a:solidFill>
          <a:ln w="0">
            <a:noFill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7B758FB-E46E-41EF-8E5F-E9444FFA6D91}"/>
              </a:ext>
            </a:extLst>
          </p:cNvPr>
          <p:cNvSpPr>
            <a:spLocks noGrp="1"/>
          </p:cNvSpPr>
          <p:nvPr/>
        </p:nvSpPr>
        <p:spPr>
          <a:xfrm>
            <a:off x="952500" y="3676650"/>
            <a:ext cx="2057400" cy="133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36667"/>
          </a:bodyPr>
          <a:lstStyle/>
          <a:p>
            <a:pPr>
              <a:defRPr sz="750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METRIC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52A11C4-0384-487C-9C07-F757E03662CD}"/>
              </a:ext>
            </a:extLst>
          </p:cNvPr>
          <p:cNvSpPr>
            <a:spLocks noGrp="1"/>
          </p:cNvSpPr>
          <p:nvPr/>
        </p:nvSpPr>
        <p:spPr>
          <a:xfrm>
            <a:off x="952500" y="3886200"/>
            <a:ext cx="20574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7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Total distance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815B73A-31CF-45B4-90BE-B4E5120163B0}"/>
              </a:ext>
            </a:extLst>
          </p:cNvPr>
          <p:cNvSpPr>
            <a:spLocks noGrp="1"/>
          </p:cNvSpPr>
          <p:nvPr/>
        </p:nvSpPr>
        <p:spPr>
          <a:xfrm>
            <a:off x="3448050" y="3524250"/>
            <a:ext cx="2381250" cy="723900"/>
          </a:xfrm>
          <a:prstGeom prst="roundRect">
            <a:avLst>
              <a:gd name="adj" fmla="val 10526"/>
            </a:avLst>
          </a:prstGeom>
          <a:solidFill>
            <a:srgbClr val="1A1D1B"/>
          </a:solidFill>
          <a:ln w="9525">
            <a:solidFill>
              <a:srgbClr val="3A403C"/>
            </a:solidFill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573E65E-3E50-4043-A5EA-0FC321EA471B}"/>
              </a:ext>
            </a:extLst>
          </p:cNvPr>
          <p:cNvSpPr>
            <a:spLocks noGrp="1"/>
          </p:cNvSpPr>
          <p:nvPr/>
        </p:nvSpPr>
        <p:spPr>
          <a:xfrm>
            <a:off x="3448050" y="3524250"/>
            <a:ext cx="47625" cy="723900"/>
          </a:xfrm>
          <a:prstGeom prst="rect">
            <a:avLst/>
          </a:prstGeom>
          <a:solidFill>
            <a:srgbClr val="C8A968"/>
          </a:solidFill>
          <a:ln w="0">
            <a:noFill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71539A-F531-4761-82BC-5BA28C167EE5}"/>
              </a:ext>
            </a:extLst>
          </p:cNvPr>
          <p:cNvSpPr>
            <a:spLocks noGrp="1"/>
          </p:cNvSpPr>
          <p:nvPr/>
        </p:nvSpPr>
        <p:spPr>
          <a:xfrm>
            <a:off x="3619500" y="3676650"/>
            <a:ext cx="2057400" cy="133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36667"/>
          </a:bodyPr>
          <a:lstStyle/>
          <a:p>
            <a:pPr>
              <a:defRPr sz="750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METRIC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9C06AE3-6D09-4C31-BC44-46989F989754}"/>
              </a:ext>
            </a:extLst>
          </p:cNvPr>
          <p:cNvSpPr>
            <a:spLocks noGrp="1"/>
          </p:cNvSpPr>
          <p:nvPr/>
        </p:nvSpPr>
        <p:spPr>
          <a:xfrm>
            <a:off x="3619500" y="3886200"/>
            <a:ext cx="20574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7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Estimated delivery time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FFB45DF0-D1BB-4734-93FD-A071504E3BE5}"/>
              </a:ext>
            </a:extLst>
          </p:cNvPr>
          <p:cNvSpPr>
            <a:spLocks noGrp="1"/>
          </p:cNvSpPr>
          <p:nvPr/>
        </p:nvSpPr>
        <p:spPr>
          <a:xfrm>
            <a:off x="6115050" y="3524250"/>
            <a:ext cx="2381250" cy="723900"/>
          </a:xfrm>
          <a:prstGeom prst="roundRect">
            <a:avLst>
              <a:gd name="adj" fmla="val 10526"/>
            </a:avLst>
          </a:prstGeom>
          <a:solidFill>
            <a:srgbClr val="1A1D1B"/>
          </a:solidFill>
          <a:ln w="9525">
            <a:solidFill>
              <a:srgbClr val="3A403C"/>
            </a:solidFill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8793B52-D745-4317-BBB5-B8B2853582B3}"/>
              </a:ext>
            </a:extLst>
          </p:cNvPr>
          <p:cNvSpPr>
            <a:spLocks noGrp="1"/>
          </p:cNvSpPr>
          <p:nvPr/>
        </p:nvSpPr>
        <p:spPr>
          <a:xfrm>
            <a:off x="6115050" y="3524250"/>
            <a:ext cx="47625" cy="723900"/>
          </a:xfrm>
          <a:prstGeom prst="rect">
            <a:avLst/>
          </a:prstGeom>
          <a:solidFill>
            <a:srgbClr val="C8A968"/>
          </a:solidFill>
          <a:ln w="0">
            <a:noFill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4F180AA-6D9F-40A4-8B06-F7E57E217189}"/>
              </a:ext>
            </a:extLst>
          </p:cNvPr>
          <p:cNvSpPr>
            <a:spLocks noGrp="1"/>
          </p:cNvSpPr>
          <p:nvPr/>
        </p:nvSpPr>
        <p:spPr>
          <a:xfrm>
            <a:off x="6286500" y="3676650"/>
            <a:ext cx="2057400" cy="133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36667"/>
          </a:bodyPr>
          <a:lstStyle/>
          <a:p>
            <a:pPr>
              <a:defRPr sz="750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METRIC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CFE67F1-1497-43A3-976E-F67E3F7F5774}"/>
              </a:ext>
            </a:extLst>
          </p:cNvPr>
          <p:cNvSpPr>
            <a:spLocks noGrp="1"/>
          </p:cNvSpPr>
          <p:nvPr/>
        </p:nvSpPr>
        <p:spPr>
          <a:xfrm>
            <a:off x="6286500" y="3886200"/>
            <a:ext cx="20574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7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Assignment cost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2BB0EC6-B01E-498A-B290-BDA8A33585E3}"/>
              </a:ext>
            </a:extLst>
          </p:cNvPr>
          <p:cNvSpPr>
            <a:spLocks noGrp="1"/>
          </p:cNvSpPr>
          <p:nvPr/>
        </p:nvSpPr>
        <p:spPr>
          <a:xfrm>
            <a:off x="8782050" y="3524250"/>
            <a:ext cx="2381250" cy="723900"/>
          </a:xfrm>
          <a:prstGeom prst="roundRect">
            <a:avLst>
              <a:gd name="adj" fmla="val 10526"/>
            </a:avLst>
          </a:prstGeom>
          <a:solidFill>
            <a:srgbClr val="1A1D1B"/>
          </a:solidFill>
          <a:ln w="9525">
            <a:solidFill>
              <a:srgbClr val="3A403C"/>
            </a:solidFill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DACE83B-001D-41FD-89A1-42F1B31273CA}"/>
              </a:ext>
            </a:extLst>
          </p:cNvPr>
          <p:cNvSpPr>
            <a:spLocks noGrp="1"/>
          </p:cNvSpPr>
          <p:nvPr/>
        </p:nvSpPr>
        <p:spPr>
          <a:xfrm>
            <a:off x="8782050" y="3524250"/>
            <a:ext cx="47625" cy="723900"/>
          </a:xfrm>
          <a:prstGeom prst="rect">
            <a:avLst/>
          </a:prstGeom>
          <a:solidFill>
            <a:srgbClr val="C8A968"/>
          </a:solidFill>
          <a:ln w="0">
            <a:noFill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D3899AF-7E18-46D0-BF07-9C51BCF87987}"/>
              </a:ext>
            </a:extLst>
          </p:cNvPr>
          <p:cNvSpPr>
            <a:spLocks noGrp="1"/>
          </p:cNvSpPr>
          <p:nvPr/>
        </p:nvSpPr>
        <p:spPr>
          <a:xfrm>
            <a:off x="8953500" y="3676650"/>
            <a:ext cx="2057400" cy="133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36667"/>
          </a:bodyPr>
          <a:lstStyle/>
          <a:p>
            <a:pPr>
              <a:defRPr sz="750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METRIC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732C1F2-E261-42A6-9598-5F4BED552210}"/>
              </a:ext>
            </a:extLst>
          </p:cNvPr>
          <p:cNvSpPr>
            <a:spLocks noGrp="1"/>
          </p:cNvSpPr>
          <p:nvPr/>
        </p:nvSpPr>
        <p:spPr>
          <a:xfrm>
            <a:off x="8953500" y="3886200"/>
            <a:ext cx="20574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7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Assigned orders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20B64B85-2F0C-416E-AD12-A63D5C25C95F}"/>
              </a:ext>
            </a:extLst>
          </p:cNvPr>
          <p:cNvSpPr>
            <a:spLocks noGrp="1"/>
          </p:cNvSpPr>
          <p:nvPr/>
        </p:nvSpPr>
        <p:spPr>
          <a:xfrm>
            <a:off x="781050" y="4514850"/>
            <a:ext cx="2381250" cy="723900"/>
          </a:xfrm>
          <a:prstGeom prst="roundRect">
            <a:avLst>
              <a:gd name="adj" fmla="val 10526"/>
            </a:avLst>
          </a:prstGeom>
          <a:solidFill>
            <a:srgbClr val="1A1D1B"/>
          </a:solidFill>
          <a:ln w="9525">
            <a:solidFill>
              <a:srgbClr val="3A403C"/>
            </a:solidFill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B2DF553-78E8-4B7D-A654-8347CE9384DD}"/>
              </a:ext>
            </a:extLst>
          </p:cNvPr>
          <p:cNvSpPr>
            <a:spLocks noGrp="1"/>
          </p:cNvSpPr>
          <p:nvPr/>
        </p:nvSpPr>
        <p:spPr>
          <a:xfrm>
            <a:off x="781050" y="4514850"/>
            <a:ext cx="47625" cy="723900"/>
          </a:xfrm>
          <a:prstGeom prst="rect">
            <a:avLst/>
          </a:prstGeom>
          <a:solidFill>
            <a:srgbClr val="C8A968"/>
          </a:solidFill>
          <a:ln w="0">
            <a:noFill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816FE0C-1EB6-492B-8DC6-38680B349D0A}"/>
              </a:ext>
            </a:extLst>
          </p:cNvPr>
          <p:cNvSpPr>
            <a:spLocks noGrp="1"/>
          </p:cNvSpPr>
          <p:nvPr/>
        </p:nvSpPr>
        <p:spPr>
          <a:xfrm>
            <a:off x="952500" y="4667250"/>
            <a:ext cx="2057400" cy="133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36667"/>
          </a:bodyPr>
          <a:lstStyle/>
          <a:p>
            <a:pPr>
              <a:defRPr sz="750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METRIC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64F6CCC-8395-4A45-802F-E247D02E32C1}"/>
              </a:ext>
            </a:extLst>
          </p:cNvPr>
          <p:cNvSpPr>
            <a:spLocks noGrp="1"/>
          </p:cNvSpPr>
          <p:nvPr/>
        </p:nvSpPr>
        <p:spPr>
          <a:xfrm>
            <a:off x="952500" y="4876800"/>
            <a:ext cx="20574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7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Rider workload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DF364E5F-2317-4009-907C-EDF80014974C}"/>
              </a:ext>
            </a:extLst>
          </p:cNvPr>
          <p:cNvSpPr>
            <a:spLocks noGrp="1"/>
          </p:cNvSpPr>
          <p:nvPr/>
        </p:nvSpPr>
        <p:spPr>
          <a:xfrm>
            <a:off x="3448050" y="4514850"/>
            <a:ext cx="2381250" cy="723900"/>
          </a:xfrm>
          <a:prstGeom prst="roundRect">
            <a:avLst>
              <a:gd name="adj" fmla="val 10526"/>
            </a:avLst>
          </a:prstGeom>
          <a:solidFill>
            <a:srgbClr val="1A1D1B"/>
          </a:solidFill>
          <a:ln w="9525">
            <a:solidFill>
              <a:srgbClr val="3A403C"/>
            </a:solidFill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69CC0B5-2F72-4CC3-863B-53A7183E47E4}"/>
              </a:ext>
            </a:extLst>
          </p:cNvPr>
          <p:cNvSpPr>
            <a:spLocks noGrp="1"/>
          </p:cNvSpPr>
          <p:nvPr/>
        </p:nvSpPr>
        <p:spPr>
          <a:xfrm>
            <a:off x="3448050" y="4514850"/>
            <a:ext cx="47625" cy="723900"/>
          </a:xfrm>
          <a:prstGeom prst="rect">
            <a:avLst/>
          </a:prstGeom>
          <a:solidFill>
            <a:srgbClr val="C8A968"/>
          </a:solidFill>
          <a:ln w="0">
            <a:noFill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4BCDD55-FBBE-4EE8-ADE6-988C668FE436}"/>
              </a:ext>
            </a:extLst>
          </p:cNvPr>
          <p:cNvSpPr>
            <a:spLocks noGrp="1"/>
          </p:cNvSpPr>
          <p:nvPr/>
        </p:nvSpPr>
        <p:spPr>
          <a:xfrm>
            <a:off x="3619500" y="4667250"/>
            <a:ext cx="2057400" cy="133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36667"/>
          </a:bodyPr>
          <a:lstStyle/>
          <a:p>
            <a:pPr>
              <a:defRPr sz="750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METRIC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95EFB57-057A-4DE0-B805-CFAD11DC44D1}"/>
              </a:ext>
            </a:extLst>
          </p:cNvPr>
          <p:cNvSpPr>
            <a:spLocks noGrp="1"/>
          </p:cNvSpPr>
          <p:nvPr/>
        </p:nvSpPr>
        <p:spPr>
          <a:xfrm>
            <a:off x="3619500" y="4876800"/>
            <a:ext cx="20574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7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Route computation time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38A7AD4D-CC7C-49F8-A847-586459F2C8C6}"/>
              </a:ext>
            </a:extLst>
          </p:cNvPr>
          <p:cNvSpPr>
            <a:spLocks noGrp="1"/>
          </p:cNvSpPr>
          <p:nvPr/>
        </p:nvSpPr>
        <p:spPr>
          <a:xfrm>
            <a:off x="6115050" y="4514850"/>
            <a:ext cx="2381250" cy="723900"/>
          </a:xfrm>
          <a:prstGeom prst="roundRect">
            <a:avLst>
              <a:gd name="adj" fmla="val 10526"/>
            </a:avLst>
          </a:prstGeom>
          <a:solidFill>
            <a:srgbClr val="1A1D1B"/>
          </a:solidFill>
          <a:ln w="9525">
            <a:solidFill>
              <a:srgbClr val="3A403C"/>
            </a:solidFill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7947142-9228-4DE4-8DA9-E698808C8C38}"/>
              </a:ext>
            </a:extLst>
          </p:cNvPr>
          <p:cNvSpPr>
            <a:spLocks noGrp="1"/>
          </p:cNvSpPr>
          <p:nvPr/>
        </p:nvSpPr>
        <p:spPr>
          <a:xfrm>
            <a:off x="6115050" y="4514850"/>
            <a:ext cx="47625" cy="723900"/>
          </a:xfrm>
          <a:prstGeom prst="rect">
            <a:avLst/>
          </a:prstGeom>
          <a:solidFill>
            <a:srgbClr val="5AC7D8"/>
          </a:solidFill>
          <a:ln w="0">
            <a:noFill/>
          </a:ln>
        </p:spPr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BBFF504-BF14-4E3F-8B8A-1BD739364F79}"/>
              </a:ext>
            </a:extLst>
          </p:cNvPr>
          <p:cNvSpPr>
            <a:spLocks noGrp="1"/>
          </p:cNvSpPr>
          <p:nvPr/>
        </p:nvSpPr>
        <p:spPr>
          <a:xfrm>
            <a:off x="6286500" y="4667250"/>
            <a:ext cx="2057400" cy="133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36667"/>
          </a:bodyPr>
          <a:lstStyle/>
          <a:p>
            <a:pPr>
              <a:defRPr sz="750" b="1">
                <a:solidFill>
                  <a:srgbClr val="5AC7D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AC7D8"/>
                </a:solidFill>
                <a:latin typeface="Aptos"/>
                <a:ea typeface="Aptos"/>
                <a:cs typeface="Aptos"/>
              </a:rPr>
              <a:t>METRIC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715B514-40EE-4122-9387-72935921EFE7}"/>
              </a:ext>
            </a:extLst>
          </p:cNvPr>
          <p:cNvSpPr>
            <a:spLocks noGrp="1"/>
          </p:cNvSpPr>
          <p:nvPr/>
        </p:nvSpPr>
        <p:spPr>
          <a:xfrm>
            <a:off x="6286500" y="4876800"/>
            <a:ext cx="20574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7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Feasible pairs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D68F830F-61CF-4BFE-B2F4-69608131D79F}"/>
              </a:ext>
            </a:extLst>
          </p:cNvPr>
          <p:cNvSpPr>
            <a:spLocks noGrp="1"/>
          </p:cNvSpPr>
          <p:nvPr/>
        </p:nvSpPr>
        <p:spPr>
          <a:xfrm>
            <a:off x="8782050" y="4514850"/>
            <a:ext cx="2381250" cy="723900"/>
          </a:xfrm>
          <a:prstGeom prst="roundRect">
            <a:avLst>
              <a:gd name="adj" fmla="val 10526"/>
            </a:avLst>
          </a:prstGeom>
          <a:solidFill>
            <a:srgbClr val="1A1D1B"/>
          </a:solidFill>
          <a:ln w="9525">
            <a:solidFill>
              <a:srgbClr val="3A403C"/>
            </a:solidFill>
          </a:ln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CA5E6CF-BF09-48DA-BD4F-3DECAA9E2DC7}"/>
              </a:ext>
            </a:extLst>
          </p:cNvPr>
          <p:cNvSpPr>
            <a:spLocks noGrp="1"/>
          </p:cNvSpPr>
          <p:nvPr/>
        </p:nvSpPr>
        <p:spPr>
          <a:xfrm>
            <a:off x="8782050" y="4514850"/>
            <a:ext cx="47625" cy="723900"/>
          </a:xfrm>
          <a:prstGeom prst="rect">
            <a:avLst/>
          </a:prstGeom>
          <a:solidFill>
            <a:srgbClr val="C8A968"/>
          </a:solidFill>
          <a:ln w="0">
            <a:noFill/>
          </a:ln>
        </p:spPr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3AB8B63-3F56-48C1-AFD2-FB8FF8F6FA21}"/>
              </a:ext>
            </a:extLst>
          </p:cNvPr>
          <p:cNvSpPr>
            <a:spLocks noGrp="1"/>
          </p:cNvSpPr>
          <p:nvPr/>
        </p:nvSpPr>
        <p:spPr>
          <a:xfrm>
            <a:off x="8953500" y="4667250"/>
            <a:ext cx="2057400" cy="133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36667"/>
          </a:bodyPr>
          <a:lstStyle/>
          <a:p>
            <a:pPr>
              <a:defRPr sz="750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METRIC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72C5EAF-68FE-4789-A601-E30B8EC48ABA}"/>
              </a:ext>
            </a:extLst>
          </p:cNvPr>
          <p:cNvSpPr>
            <a:spLocks noGrp="1"/>
          </p:cNvSpPr>
          <p:nvPr/>
        </p:nvSpPr>
        <p:spPr>
          <a:xfrm>
            <a:off x="8953500" y="4876800"/>
            <a:ext cx="20574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7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Scale response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383035D-C3DC-4C3F-8EA7-22F5754C4F37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82867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1905"/>
          </a:bodyPr>
          <a:lstStyle/>
          <a:p>
            <a:pPr>
              <a:defRPr sz="1050" b="1">
                <a:solidFill>
                  <a:srgbClr val="D7D1C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7D1C4"/>
                </a:solidFill>
                <a:latin typeface="Aptos"/>
                <a:ea typeface="Aptos"/>
                <a:cs typeface="Aptos"/>
              </a:rPr>
              <a:t>Use measured outputs only. No values are reported until experiments are run.</a:t>
            </a:r>
          </a:p>
        </p:txBody>
      </p:sp>
    </p:spTree>
    <p:extLst>
      <p:ext uri="{BB962C8B-B14F-4D97-AF65-F5344CB8AC3E}">
        <p14:creationId xmlns:p14="http://schemas.microsoft.com/office/powerpoint/2010/main" val="187202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A452EC56-30F5-47F7-8899-2B4B7DE9F3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C8A96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E2B99D-A065-4666-A73A-F50ABC90218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>
              <a:defRPr sz="82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ADAPTABILITY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A45CA0-FE75-487F-911D-4807F17AF9F6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2870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473"/>
          </a:bodyPr>
          <a:lstStyle/>
          <a:p>
            <a:pPr>
              <a:defRPr sz="232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DESIGNED TO ADAPT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8AD150-5553-448D-8D1A-A13D6C9AE1F5}"/>
              </a:ext>
            </a:extLst>
          </p:cNvPr>
          <p:cNvSpPr>
            <a:spLocks noGrp="1"/>
          </p:cNvSpPr>
          <p:nvPr/>
        </p:nvSpPr>
        <p:spPr>
          <a:xfrm>
            <a:off x="685800" y="1143000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667"/>
          </a:bodyPr>
          <a:lstStyle/>
          <a:p>
            <a:pPr>
              <a:defRPr sz="1050" b="0">
                <a:solidFill>
                  <a:srgbClr val="A9ADA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ADA7"/>
                </a:solidFill>
                <a:latin typeface="Aptos"/>
                <a:ea typeface="Aptos"/>
                <a:cs typeface="Aptos"/>
              </a:rPr>
              <a:t>Each operational change activates a specific DSA response rather than requiring a new system design.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B80A224C-A7E4-468C-93C2-896793A9C593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10820400" cy="9525"/>
          </a:xfrm>
          <a:prstGeom prst="line">
            <a:avLst/>
          </a:prstGeom>
          <a:noFill/>
          <a:ln w="9525">
            <a:solidFill>
              <a:srgbClr val="8C7440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D5CCD7-9328-4F57-9855-832C7D25E940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4095750" cy="133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40741"/>
          </a:bodyPr>
          <a:lstStyle/>
          <a:p>
            <a:pPr>
              <a:defRPr sz="675" b="0">
                <a:solidFill>
                  <a:srgbClr val="A9AD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9ADA7"/>
                </a:solidFill>
                <a:latin typeface="Aptos"/>
                <a:ea typeface="Aptos"/>
                <a:cs typeface="Aptos"/>
              </a:rPr>
              <a:t>FOOD DELIVERY ROUTE OPTIMIZATION  /  REVIEW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B7A0E0-0E49-4C91-965E-CE82944F68B9}"/>
              </a:ext>
            </a:extLst>
          </p:cNvPr>
          <p:cNvSpPr>
            <a:spLocks noGrp="1"/>
          </p:cNvSpPr>
          <p:nvPr/>
        </p:nvSpPr>
        <p:spPr>
          <a:xfrm>
            <a:off x="11068050" y="6515100"/>
            <a:ext cx="438150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48485"/>
          </a:bodyPr>
          <a:lstStyle/>
          <a:p>
            <a:pPr>
              <a:defRPr sz="82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4E971E7-9B51-40DF-9686-75B673C495EB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2400300" cy="1190625"/>
          </a:xfrm>
          <a:prstGeom prst="roundRect">
            <a:avLst>
              <a:gd name="adj" fmla="val 6400"/>
            </a:avLst>
          </a:prstGeom>
          <a:solidFill>
            <a:srgbClr val="1A1D1B"/>
          </a:solidFill>
          <a:ln w="9525">
            <a:solidFill>
              <a:srgbClr val="8C7440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508723-2A87-49BB-BAC5-602F3B17251E}"/>
              </a:ext>
            </a:extLst>
          </p:cNvPr>
          <p:cNvSpPr>
            <a:spLocks noGrp="1"/>
          </p:cNvSpPr>
          <p:nvPr/>
        </p:nvSpPr>
        <p:spPr>
          <a:xfrm>
            <a:off x="876300" y="2143125"/>
            <a:ext cx="952500" cy="133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36667"/>
          </a:bodyPr>
          <a:lstStyle/>
          <a:p>
            <a:pPr>
              <a:defRPr sz="750" b="1">
                <a:solidFill>
                  <a:srgbClr val="A9ADA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ADA7"/>
                </a:solidFill>
                <a:latin typeface="Aptos"/>
                <a:ea typeface="Aptos"/>
                <a:cs typeface="Aptos"/>
              </a:rPr>
              <a:t>SCENARIO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1D7F4B-1549-4975-9EE9-025BAAF2C0EE}"/>
              </a:ext>
            </a:extLst>
          </p:cNvPr>
          <p:cNvSpPr>
            <a:spLocks noGrp="1"/>
          </p:cNvSpPr>
          <p:nvPr/>
        </p:nvSpPr>
        <p:spPr>
          <a:xfrm>
            <a:off x="876300" y="2362200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0588"/>
          </a:bodyPr>
          <a:lstStyle/>
          <a:p>
            <a:pPr>
              <a:defRPr sz="127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More orders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71A07847-2A58-4B46-B5D7-6EE0778EAEC4}"/>
              </a:ext>
            </a:extLst>
          </p:cNvPr>
          <p:cNvSpPr>
            <a:spLocks noGrp="1"/>
          </p:cNvSpPr>
          <p:nvPr/>
        </p:nvSpPr>
        <p:spPr>
          <a:xfrm>
            <a:off x="876300" y="2695575"/>
            <a:ext cx="2019300" cy="9525"/>
          </a:xfrm>
          <a:prstGeom prst="line">
            <a:avLst/>
          </a:prstGeom>
          <a:noFill/>
          <a:ln w="9525">
            <a:solidFill>
              <a:srgbClr val="3A403C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5105EB-854A-4F2B-B0C3-1E2FED4E01AC}"/>
              </a:ext>
            </a:extLst>
          </p:cNvPr>
          <p:cNvSpPr>
            <a:spLocks noGrp="1"/>
          </p:cNvSpPr>
          <p:nvPr/>
        </p:nvSpPr>
        <p:spPr>
          <a:xfrm>
            <a:off x="876300" y="2819400"/>
            <a:ext cx="2000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>
              <a:defRPr sz="97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Batching / approximation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B0379C7-D654-40F0-A3DC-1A3867B98CB4}"/>
              </a:ext>
            </a:extLst>
          </p:cNvPr>
          <p:cNvSpPr>
            <a:spLocks noGrp="1"/>
          </p:cNvSpPr>
          <p:nvPr/>
        </p:nvSpPr>
        <p:spPr>
          <a:xfrm>
            <a:off x="3390900" y="1952625"/>
            <a:ext cx="2400300" cy="1190625"/>
          </a:xfrm>
          <a:prstGeom prst="roundRect">
            <a:avLst>
              <a:gd name="adj" fmla="val 6400"/>
            </a:avLst>
          </a:prstGeom>
          <a:solidFill>
            <a:srgbClr val="1A1D1B"/>
          </a:solidFill>
          <a:ln w="9525">
            <a:solidFill>
              <a:srgbClr val="8C7440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FE6921-3135-4BCB-A8F3-D63DE1E1234F}"/>
              </a:ext>
            </a:extLst>
          </p:cNvPr>
          <p:cNvSpPr>
            <a:spLocks noGrp="1"/>
          </p:cNvSpPr>
          <p:nvPr/>
        </p:nvSpPr>
        <p:spPr>
          <a:xfrm>
            <a:off x="3581400" y="2143125"/>
            <a:ext cx="952500" cy="133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36667"/>
          </a:bodyPr>
          <a:lstStyle/>
          <a:p>
            <a:pPr>
              <a:defRPr sz="750" b="1">
                <a:solidFill>
                  <a:srgbClr val="A9ADA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ADA7"/>
                </a:solidFill>
                <a:latin typeface="Aptos"/>
                <a:ea typeface="Aptos"/>
                <a:cs typeface="Aptos"/>
              </a:rPr>
              <a:t>SCENARIO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4F3B53-F3E4-4F5D-9437-792C443D901B}"/>
              </a:ext>
            </a:extLst>
          </p:cNvPr>
          <p:cNvSpPr>
            <a:spLocks noGrp="1"/>
          </p:cNvSpPr>
          <p:nvPr/>
        </p:nvSpPr>
        <p:spPr>
          <a:xfrm>
            <a:off x="3581400" y="2362200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0588"/>
          </a:bodyPr>
          <a:lstStyle/>
          <a:p>
            <a:pPr>
              <a:defRPr sz="127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More riders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A49F0325-FC22-48A4-B5E9-974C1F1936AE}"/>
              </a:ext>
            </a:extLst>
          </p:cNvPr>
          <p:cNvSpPr>
            <a:spLocks noGrp="1"/>
          </p:cNvSpPr>
          <p:nvPr/>
        </p:nvSpPr>
        <p:spPr>
          <a:xfrm>
            <a:off x="3581400" y="2695575"/>
            <a:ext cx="2019300" cy="9525"/>
          </a:xfrm>
          <a:prstGeom prst="line">
            <a:avLst/>
          </a:prstGeom>
          <a:noFill/>
          <a:ln w="9525">
            <a:solidFill>
              <a:srgbClr val="3A403C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1A107F-1044-4C5C-B0B8-0A398E0CCA02}"/>
              </a:ext>
            </a:extLst>
          </p:cNvPr>
          <p:cNvSpPr>
            <a:spLocks noGrp="1"/>
          </p:cNvSpPr>
          <p:nvPr/>
        </p:nvSpPr>
        <p:spPr>
          <a:xfrm>
            <a:off x="3581400" y="2819400"/>
            <a:ext cx="2000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>
              <a:defRPr sz="97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Larger matching problem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74937A3-52C6-4884-8280-7A24986FB31E}"/>
              </a:ext>
            </a:extLst>
          </p:cNvPr>
          <p:cNvSpPr>
            <a:spLocks noGrp="1"/>
          </p:cNvSpPr>
          <p:nvPr/>
        </p:nvSpPr>
        <p:spPr>
          <a:xfrm>
            <a:off x="6096000" y="1952625"/>
            <a:ext cx="2400300" cy="1190625"/>
          </a:xfrm>
          <a:prstGeom prst="roundRect">
            <a:avLst>
              <a:gd name="adj" fmla="val 6400"/>
            </a:avLst>
          </a:prstGeom>
          <a:solidFill>
            <a:srgbClr val="1A1D1B"/>
          </a:solidFill>
          <a:ln w="9525">
            <a:solidFill>
              <a:srgbClr val="8C7440"/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D5362B-78AE-499F-ABC0-F280BD4D8EFA}"/>
              </a:ext>
            </a:extLst>
          </p:cNvPr>
          <p:cNvSpPr>
            <a:spLocks noGrp="1"/>
          </p:cNvSpPr>
          <p:nvPr/>
        </p:nvSpPr>
        <p:spPr>
          <a:xfrm>
            <a:off x="6286500" y="2143125"/>
            <a:ext cx="952500" cy="133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36667"/>
          </a:bodyPr>
          <a:lstStyle/>
          <a:p>
            <a:pPr>
              <a:defRPr sz="750" b="1">
                <a:solidFill>
                  <a:srgbClr val="A9ADA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ADA7"/>
                </a:solidFill>
                <a:latin typeface="Aptos"/>
                <a:ea typeface="Aptos"/>
                <a:cs typeface="Aptos"/>
              </a:rPr>
              <a:t>SCENARIO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34CE78E-8A04-4032-ACCF-896C59625273}"/>
              </a:ext>
            </a:extLst>
          </p:cNvPr>
          <p:cNvSpPr>
            <a:spLocks noGrp="1"/>
          </p:cNvSpPr>
          <p:nvPr/>
        </p:nvSpPr>
        <p:spPr>
          <a:xfrm>
            <a:off x="6286500" y="2362200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0588"/>
          </a:bodyPr>
          <a:lstStyle/>
          <a:p>
            <a:pPr>
              <a:defRPr sz="127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Multiple stops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3CF3CE7A-B853-4A4E-824C-0E9EF4595D0A}"/>
              </a:ext>
            </a:extLst>
          </p:cNvPr>
          <p:cNvSpPr>
            <a:spLocks noGrp="1"/>
          </p:cNvSpPr>
          <p:nvPr/>
        </p:nvSpPr>
        <p:spPr>
          <a:xfrm>
            <a:off x="6286500" y="2695575"/>
            <a:ext cx="2019300" cy="9525"/>
          </a:xfrm>
          <a:prstGeom prst="line">
            <a:avLst/>
          </a:prstGeom>
          <a:noFill/>
          <a:ln w="9525">
            <a:solidFill>
              <a:srgbClr val="3A403C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EEB7626-A683-47EC-A8CC-7B17BB467A54}"/>
              </a:ext>
            </a:extLst>
          </p:cNvPr>
          <p:cNvSpPr>
            <a:spLocks noGrp="1"/>
          </p:cNvSpPr>
          <p:nvPr/>
        </p:nvSpPr>
        <p:spPr>
          <a:xfrm>
            <a:off x="6286500" y="2819400"/>
            <a:ext cx="2000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>
              <a:defRPr sz="97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TSP / approximation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A9C8FE7-9177-4C79-A790-D63592ACEF3F}"/>
              </a:ext>
            </a:extLst>
          </p:cNvPr>
          <p:cNvSpPr>
            <a:spLocks noGrp="1"/>
          </p:cNvSpPr>
          <p:nvPr/>
        </p:nvSpPr>
        <p:spPr>
          <a:xfrm>
            <a:off x="8801100" y="1952625"/>
            <a:ext cx="2400300" cy="1190625"/>
          </a:xfrm>
          <a:prstGeom prst="roundRect">
            <a:avLst>
              <a:gd name="adj" fmla="val 6400"/>
            </a:avLst>
          </a:prstGeom>
          <a:solidFill>
            <a:srgbClr val="1A1D1B"/>
          </a:solidFill>
          <a:ln w="9525">
            <a:solidFill>
              <a:srgbClr val="8C7440"/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3EC8C8C-3E6A-4257-AEEB-B0D6C3684643}"/>
              </a:ext>
            </a:extLst>
          </p:cNvPr>
          <p:cNvSpPr>
            <a:spLocks noGrp="1"/>
          </p:cNvSpPr>
          <p:nvPr/>
        </p:nvSpPr>
        <p:spPr>
          <a:xfrm>
            <a:off x="8991600" y="2143125"/>
            <a:ext cx="952500" cy="133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36667"/>
          </a:bodyPr>
          <a:lstStyle/>
          <a:p>
            <a:pPr>
              <a:defRPr sz="750" b="1">
                <a:solidFill>
                  <a:srgbClr val="A9ADA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ADA7"/>
                </a:solidFill>
                <a:latin typeface="Aptos"/>
                <a:ea typeface="Aptos"/>
                <a:cs typeface="Aptos"/>
              </a:rPr>
              <a:t>SCENARIO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1EF34F-A068-4DA1-A994-CE1810425AC1}"/>
              </a:ext>
            </a:extLst>
          </p:cNvPr>
          <p:cNvSpPr>
            <a:spLocks noGrp="1"/>
          </p:cNvSpPr>
          <p:nvPr/>
        </p:nvSpPr>
        <p:spPr>
          <a:xfrm>
            <a:off x="8991600" y="2362200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0588"/>
          </a:bodyPr>
          <a:lstStyle/>
          <a:p>
            <a:pPr>
              <a:defRPr sz="127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Capacity change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73237705-D273-40C3-B63F-7C8136541F6D}"/>
              </a:ext>
            </a:extLst>
          </p:cNvPr>
          <p:cNvSpPr>
            <a:spLocks noGrp="1"/>
          </p:cNvSpPr>
          <p:nvPr/>
        </p:nvSpPr>
        <p:spPr>
          <a:xfrm>
            <a:off x="8991600" y="2695575"/>
            <a:ext cx="2019300" cy="9525"/>
          </a:xfrm>
          <a:prstGeom prst="line">
            <a:avLst/>
          </a:prstGeom>
          <a:noFill/>
          <a:ln w="9525">
            <a:solidFill>
              <a:srgbClr val="3A403C"/>
            </a:solidFill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ADE5215-3297-4DCF-879D-F8BB31267C80}"/>
              </a:ext>
            </a:extLst>
          </p:cNvPr>
          <p:cNvSpPr>
            <a:spLocks noGrp="1"/>
          </p:cNvSpPr>
          <p:nvPr/>
        </p:nvSpPr>
        <p:spPr>
          <a:xfrm>
            <a:off x="8991600" y="2819400"/>
            <a:ext cx="2000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>
              <a:defRPr sz="97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Network flow constraints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E3AEA30-6D65-4542-AB7B-A8AECAC6DFBC}"/>
              </a:ext>
            </a:extLst>
          </p:cNvPr>
          <p:cNvSpPr>
            <a:spLocks noGrp="1"/>
          </p:cNvSpPr>
          <p:nvPr/>
        </p:nvSpPr>
        <p:spPr>
          <a:xfrm>
            <a:off x="685800" y="3619500"/>
            <a:ext cx="2400300" cy="1190625"/>
          </a:xfrm>
          <a:prstGeom prst="roundRect">
            <a:avLst>
              <a:gd name="adj" fmla="val 6400"/>
            </a:avLst>
          </a:prstGeom>
          <a:solidFill>
            <a:srgbClr val="1A1D1B"/>
          </a:solidFill>
          <a:ln w="9525">
            <a:solidFill>
              <a:srgbClr val="8C7440"/>
            </a:solidFill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CAEEF78-E663-4218-8223-F360211C3181}"/>
              </a:ext>
            </a:extLst>
          </p:cNvPr>
          <p:cNvSpPr>
            <a:spLocks noGrp="1"/>
          </p:cNvSpPr>
          <p:nvPr/>
        </p:nvSpPr>
        <p:spPr>
          <a:xfrm>
            <a:off x="876300" y="3810000"/>
            <a:ext cx="952500" cy="133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36667"/>
          </a:bodyPr>
          <a:lstStyle/>
          <a:p>
            <a:pPr>
              <a:defRPr sz="750" b="1">
                <a:solidFill>
                  <a:srgbClr val="A9ADA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ADA7"/>
                </a:solidFill>
                <a:latin typeface="Aptos"/>
                <a:ea typeface="Aptos"/>
                <a:cs typeface="Aptos"/>
              </a:rPr>
              <a:t>SCENARIO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AAA6507-F241-4934-B299-833F91069B59}"/>
              </a:ext>
            </a:extLst>
          </p:cNvPr>
          <p:cNvSpPr>
            <a:spLocks noGrp="1"/>
          </p:cNvSpPr>
          <p:nvPr/>
        </p:nvSpPr>
        <p:spPr>
          <a:xfrm>
            <a:off x="876300" y="4029075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0588"/>
          </a:bodyPr>
          <a:lstStyle/>
          <a:p>
            <a:pPr>
              <a:defRPr sz="127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Road distance change</a:t>
            </a:r>
          </a:p>
        </p:txBody>
      </p:sp>
      <p:sp>
        <p:nvSpPr>
          <p:cNvPr id="31" name="Straight Connector 30">
            <a:extLst>
              <a:ext uri="{FF2B5EF4-FFF2-40B4-BE49-F238E27FC236}">
                <a16:creationId xmlns:a16="http://schemas.microsoft.com/office/drawing/2014/main" id="{C096A02B-5CCC-4296-AB61-9D2FDABFC0F0}"/>
              </a:ext>
            </a:extLst>
          </p:cNvPr>
          <p:cNvSpPr>
            <a:spLocks noGrp="1"/>
          </p:cNvSpPr>
          <p:nvPr/>
        </p:nvSpPr>
        <p:spPr>
          <a:xfrm>
            <a:off x="876300" y="4362450"/>
            <a:ext cx="2019300" cy="9525"/>
          </a:xfrm>
          <a:prstGeom prst="line">
            <a:avLst/>
          </a:prstGeom>
          <a:noFill/>
          <a:ln w="9525">
            <a:solidFill>
              <a:srgbClr val="3A403C"/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B40F98B-0483-41CE-845A-CD5D28FAD2EC}"/>
              </a:ext>
            </a:extLst>
          </p:cNvPr>
          <p:cNvSpPr>
            <a:spLocks noGrp="1"/>
          </p:cNvSpPr>
          <p:nvPr/>
        </p:nvSpPr>
        <p:spPr>
          <a:xfrm>
            <a:off x="876300" y="4486275"/>
            <a:ext cx="2000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>
              <a:defRPr sz="97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Weighted graph update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51A1E16-DADC-488F-8ACC-CAEEDD41F52E}"/>
              </a:ext>
            </a:extLst>
          </p:cNvPr>
          <p:cNvSpPr>
            <a:spLocks noGrp="1"/>
          </p:cNvSpPr>
          <p:nvPr/>
        </p:nvSpPr>
        <p:spPr>
          <a:xfrm>
            <a:off x="3390900" y="3619500"/>
            <a:ext cx="2400300" cy="1190625"/>
          </a:xfrm>
          <a:prstGeom prst="roundRect">
            <a:avLst>
              <a:gd name="adj" fmla="val 6400"/>
            </a:avLst>
          </a:prstGeom>
          <a:solidFill>
            <a:srgbClr val="1A1D1B"/>
          </a:solidFill>
          <a:ln w="9525">
            <a:solidFill>
              <a:srgbClr val="8C7440"/>
            </a:solidFill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858A021-A153-4D28-A910-D925C42CBC45}"/>
              </a:ext>
            </a:extLst>
          </p:cNvPr>
          <p:cNvSpPr>
            <a:spLocks noGrp="1"/>
          </p:cNvSpPr>
          <p:nvPr/>
        </p:nvSpPr>
        <p:spPr>
          <a:xfrm>
            <a:off x="3581400" y="3810000"/>
            <a:ext cx="952500" cy="133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36667"/>
          </a:bodyPr>
          <a:lstStyle/>
          <a:p>
            <a:pPr>
              <a:defRPr sz="750" b="1">
                <a:solidFill>
                  <a:srgbClr val="A9ADA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ADA7"/>
                </a:solidFill>
                <a:latin typeface="Aptos"/>
                <a:ea typeface="Aptos"/>
                <a:cs typeface="Aptos"/>
              </a:rPr>
              <a:t>SCENARIO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55F77C7-2CBD-4802-AF07-DC23D48F54EB}"/>
              </a:ext>
            </a:extLst>
          </p:cNvPr>
          <p:cNvSpPr>
            <a:spLocks noGrp="1"/>
          </p:cNvSpPr>
          <p:nvPr/>
        </p:nvSpPr>
        <p:spPr>
          <a:xfrm>
            <a:off x="3581400" y="4029075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0588"/>
          </a:bodyPr>
          <a:lstStyle/>
          <a:p>
            <a:pPr>
              <a:defRPr sz="127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Traffic change</a:t>
            </a:r>
          </a:p>
        </p:txBody>
      </p:sp>
      <p:sp>
        <p:nvSpPr>
          <p:cNvPr id="36" name="Straight Connector 35">
            <a:extLst>
              <a:ext uri="{FF2B5EF4-FFF2-40B4-BE49-F238E27FC236}">
                <a16:creationId xmlns:a16="http://schemas.microsoft.com/office/drawing/2014/main" id="{FE122EDF-55A9-4310-8D0D-6CD1A551B61F}"/>
              </a:ext>
            </a:extLst>
          </p:cNvPr>
          <p:cNvSpPr>
            <a:spLocks noGrp="1"/>
          </p:cNvSpPr>
          <p:nvPr/>
        </p:nvSpPr>
        <p:spPr>
          <a:xfrm>
            <a:off x="3581400" y="4362450"/>
            <a:ext cx="2019300" cy="9525"/>
          </a:xfrm>
          <a:prstGeom prst="line">
            <a:avLst/>
          </a:prstGeom>
          <a:noFill/>
          <a:ln w="9525">
            <a:solidFill>
              <a:srgbClr val="3A403C"/>
            </a:solidFill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B7F1DF7-EED3-4233-860C-E555F0CD5F63}"/>
              </a:ext>
            </a:extLst>
          </p:cNvPr>
          <p:cNvSpPr>
            <a:spLocks noGrp="1"/>
          </p:cNvSpPr>
          <p:nvPr/>
        </p:nvSpPr>
        <p:spPr>
          <a:xfrm>
            <a:off x="3581400" y="4486275"/>
            <a:ext cx="2000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>
              <a:defRPr sz="97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ETA recalculation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737C449F-6F1A-440A-ABFB-DBAC5B0756C8}"/>
              </a:ext>
            </a:extLst>
          </p:cNvPr>
          <p:cNvSpPr>
            <a:spLocks noGrp="1"/>
          </p:cNvSpPr>
          <p:nvPr/>
        </p:nvSpPr>
        <p:spPr>
          <a:xfrm>
            <a:off x="6096000" y="3619500"/>
            <a:ext cx="2400300" cy="1190625"/>
          </a:xfrm>
          <a:prstGeom prst="roundRect">
            <a:avLst>
              <a:gd name="adj" fmla="val 6400"/>
            </a:avLst>
          </a:prstGeom>
          <a:solidFill>
            <a:srgbClr val="1A1D1B"/>
          </a:solidFill>
          <a:ln w="9525">
            <a:solidFill>
              <a:srgbClr val="5AC7D8"/>
            </a:solidFill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FD31D1D-67F9-40DC-982E-34E5E3E9164E}"/>
              </a:ext>
            </a:extLst>
          </p:cNvPr>
          <p:cNvSpPr>
            <a:spLocks noGrp="1"/>
          </p:cNvSpPr>
          <p:nvPr/>
        </p:nvSpPr>
        <p:spPr>
          <a:xfrm>
            <a:off x="6286500" y="3810000"/>
            <a:ext cx="952500" cy="133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36667"/>
          </a:bodyPr>
          <a:lstStyle/>
          <a:p>
            <a:pPr>
              <a:defRPr sz="750" b="1">
                <a:solidFill>
                  <a:srgbClr val="A9ADA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ADA7"/>
                </a:solidFill>
                <a:latin typeface="Aptos"/>
                <a:ea typeface="Aptos"/>
                <a:cs typeface="Aptos"/>
              </a:rPr>
              <a:t>SCENARIO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C37AB07-100B-4600-B5F3-A82CDDD5AD96}"/>
              </a:ext>
            </a:extLst>
          </p:cNvPr>
          <p:cNvSpPr>
            <a:spLocks noGrp="1"/>
          </p:cNvSpPr>
          <p:nvPr/>
        </p:nvSpPr>
        <p:spPr>
          <a:xfrm>
            <a:off x="6286500" y="4029075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0588"/>
          </a:bodyPr>
          <a:lstStyle/>
          <a:p>
            <a:pPr>
              <a:defRPr sz="127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Similar costs</a:t>
            </a:r>
          </a:p>
        </p:txBody>
      </p:sp>
      <p:sp>
        <p:nvSpPr>
          <p:cNvPr id="41" name="Straight Connector 40">
            <a:extLst>
              <a:ext uri="{FF2B5EF4-FFF2-40B4-BE49-F238E27FC236}">
                <a16:creationId xmlns:a16="http://schemas.microsoft.com/office/drawing/2014/main" id="{B0F2B929-5582-4309-AD8C-3DFFD9658A77}"/>
              </a:ext>
            </a:extLst>
          </p:cNvPr>
          <p:cNvSpPr>
            <a:spLocks noGrp="1"/>
          </p:cNvSpPr>
          <p:nvPr/>
        </p:nvSpPr>
        <p:spPr>
          <a:xfrm>
            <a:off x="6286500" y="4362450"/>
            <a:ext cx="2019300" cy="9525"/>
          </a:xfrm>
          <a:prstGeom prst="line">
            <a:avLst/>
          </a:prstGeom>
          <a:noFill/>
          <a:ln w="9525">
            <a:solidFill>
              <a:srgbClr val="3A403C"/>
            </a:solidFill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6DCB3B8-AF67-4224-9D91-A6E6C324D487}"/>
              </a:ext>
            </a:extLst>
          </p:cNvPr>
          <p:cNvSpPr>
            <a:spLocks noGrp="1"/>
          </p:cNvSpPr>
          <p:nvPr/>
        </p:nvSpPr>
        <p:spPr>
          <a:xfrm>
            <a:off x="6286500" y="4486275"/>
            <a:ext cx="2000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>
              <a:defRPr sz="975" b="1">
                <a:solidFill>
                  <a:srgbClr val="5AC7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C7D8"/>
                </a:solidFill>
                <a:latin typeface="Aptos"/>
                <a:ea typeface="Aptos"/>
                <a:cs typeface="Aptos"/>
              </a:rPr>
              <a:t>Randomized tie-breaking</a:t>
            </a:r>
          </a:p>
        </p:txBody>
      </p:sp>
    </p:spTree>
    <p:extLst>
      <p:ext uri="{BB962C8B-B14F-4D97-AF65-F5344CB8AC3E}">
        <p14:creationId xmlns:p14="http://schemas.microsoft.com/office/powerpoint/2010/main" val="912761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26858036-0B93-45D8-A967-F3A37C317D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C8A96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1B7D14-230B-4138-B5F1-8C116BEABC4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>
              <a:defRPr sz="82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SCALABILITY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A792D7-538A-41BA-8132-50DD1EC8DBB9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2870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473"/>
          </a:bodyPr>
          <a:lstStyle/>
          <a:p>
            <a:pPr>
              <a:defRPr sz="232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FROM SMALL DEMO TO LARGER INSTANCES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A6EB8E-4CFF-4FE1-809B-51B7EFB3A4C9}"/>
              </a:ext>
            </a:extLst>
          </p:cNvPr>
          <p:cNvSpPr>
            <a:spLocks noGrp="1"/>
          </p:cNvSpPr>
          <p:nvPr/>
        </p:nvSpPr>
        <p:spPr>
          <a:xfrm>
            <a:off x="685800" y="1143000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667"/>
          </a:bodyPr>
          <a:lstStyle/>
          <a:p>
            <a:pPr>
              <a:defRPr sz="1050" b="0">
                <a:solidFill>
                  <a:srgbClr val="A9ADA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ADA7"/>
                </a:solidFill>
                <a:latin typeface="Aptos"/>
                <a:ea typeface="Aptos"/>
                <a:cs typeface="Aptos"/>
              </a:rPr>
              <a:t>Approximation enters when exact optimization becomes computationally expensive.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401769CF-DFE8-4CCD-B4F7-3587248DCCAF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10820400" cy="9525"/>
          </a:xfrm>
          <a:prstGeom prst="line">
            <a:avLst/>
          </a:prstGeom>
          <a:noFill/>
          <a:ln w="9525">
            <a:solidFill>
              <a:srgbClr val="8C7440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31160C-4169-45CD-A945-5E7D81F95DA6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4095750" cy="133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40741"/>
          </a:bodyPr>
          <a:lstStyle/>
          <a:p>
            <a:pPr>
              <a:defRPr sz="675" b="0">
                <a:solidFill>
                  <a:srgbClr val="A9AD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9ADA7"/>
                </a:solidFill>
                <a:latin typeface="Aptos"/>
                <a:ea typeface="Aptos"/>
                <a:cs typeface="Aptos"/>
              </a:rPr>
              <a:t>FOOD DELIVERY ROUTE OPTIMIZATION  /  REVIEW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BD4D15-51E7-453E-9523-142843A9F20F}"/>
              </a:ext>
            </a:extLst>
          </p:cNvPr>
          <p:cNvSpPr>
            <a:spLocks noGrp="1"/>
          </p:cNvSpPr>
          <p:nvPr/>
        </p:nvSpPr>
        <p:spPr>
          <a:xfrm>
            <a:off x="11068050" y="6515100"/>
            <a:ext cx="438150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48485"/>
          </a:bodyPr>
          <a:lstStyle/>
          <a:p>
            <a:pPr>
              <a:defRPr sz="82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4272602-FF98-467D-8BAA-9F05344A2C72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3314700" cy="2428875"/>
          </a:xfrm>
          <a:prstGeom prst="roundRect">
            <a:avLst>
              <a:gd name="adj" fmla="val 3137"/>
            </a:avLst>
          </a:prstGeom>
          <a:solidFill>
            <a:srgbClr val="1A1D1B"/>
          </a:solidFill>
          <a:ln w="9525">
            <a:solidFill>
              <a:srgbClr val="8C7440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5896AE-14A3-4756-9ACB-07E5AA611084}"/>
              </a:ext>
            </a:extLst>
          </p:cNvPr>
          <p:cNvSpPr>
            <a:spLocks noGrp="1"/>
          </p:cNvSpPr>
          <p:nvPr/>
        </p:nvSpPr>
        <p:spPr>
          <a:xfrm>
            <a:off x="952500" y="2428875"/>
            <a:ext cx="3429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487"/>
          </a:bodyPr>
          <a:lstStyle/>
          <a:p>
            <a:pPr>
              <a:defRPr sz="97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F8F073-2690-45CA-B6AF-D8DCFC5D4940}"/>
              </a:ext>
            </a:extLst>
          </p:cNvPr>
          <p:cNvSpPr>
            <a:spLocks noGrp="1"/>
          </p:cNvSpPr>
          <p:nvPr/>
        </p:nvSpPr>
        <p:spPr>
          <a:xfrm>
            <a:off x="952500" y="2809875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7407"/>
          </a:bodyPr>
          <a:lstStyle/>
          <a:p>
            <a:pPr>
              <a:defRPr sz="135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SMALL INSTANCE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1E1852-62A2-40F8-BD69-7E3D815A40F0}"/>
              </a:ext>
            </a:extLst>
          </p:cNvPr>
          <p:cNvSpPr>
            <a:spLocks noGrp="1"/>
          </p:cNvSpPr>
          <p:nvPr/>
        </p:nvSpPr>
        <p:spPr>
          <a:xfrm>
            <a:off x="952500" y="32194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4583"/>
          </a:bodyPr>
          <a:lstStyle/>
          <a:p>
            <a:pPr>
              <a:defRPr sz="1200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3 riders / 5 orders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FDAC1D-9392-493A-823A-7DF7969A717E}"/>
              </a:ext>
            </a:extLst>
          </p:cNvPr>
          <p:cNvSpPr>
            <a:spLocks noGrp="1"/>
          </p:cNvSpPr>
          <p:nvPr/>
        </p:nvSpPr>
        <p:spPr>
          <a:xfrm>
            <a:off x="952500" y="3714750"/>
            <a:ext cx="247650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0">
                <a:solidFill>
                  <a:srgbClr val="D7D1C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D1C4"/>
                </a:solidFill>
                <a:latin typeface="Aptos"/>
                <a:ea typeface="Aptos"/>
                <a:cs typeface="Aptos"/>
              </a:rPr>
              <a:t>Exact assignment and routing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6E7DE701-CE4A-473C-99F3-01A5ECA1AEBA}"/>
              </a:ext>
            </a:extLst>
          </p:cNvPr>
          <p:cNvSpPr>
            <a:spLocks noGrp="1"/>
          </p:cNvSpPr>
          <p:nvPr/>
        </p:nvSpPr>
        <p:spPr>
          <a:xfrm>
            <a:off x="4000500" y="3400425"/>
            <a:ext cx="266700" cy="9525"/>
          </a:xfrm>
          <a:prstGeom prst="line">
            <a:avLst/>
          </a:prstGeom>
          <a:noFill/>
          <a:ln w="19050">
            <a:solidFill>
              <a:srgbClr val="C8A968"/>
            </a:solidFill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4195BE6-8EDB-4BE3-88F6-08B81439CCFF}"/>
              </a:ext>
            </a:extLst>
          </p:cNvPr>
          <p:cNvSpPr>
            <a:spLocks noGrp="1"/>
          </p:cNvSpPr>
          <p:nvPr/>
        </p:nvSpPr>
        <p:spPr>
          <a:xfrm>
            <a:off x="4229100" y="3362325"/>
            <a:ext cx="76200" cy="7620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36B0EC7-84E4-4F4F-972A-49DB8CAC9301}"/>
              </a:ext>
            </a:extLst>
          </p:cNvPr>
          <p:cNvSpPr>
            <a:spLocks noGrp="1"/>
          </p:cNvSpPr>
          <p:nvPr/>
        </p:nvSpPr>
        <p:spPr>
          <a:xfrm>
            <a:off x="4381500" y="2190750"/>
            <a:ext cx="3314700" cy="2428875"/>
          </a:xfrm>
          <a:prstGeom prst="roundRect">
            <a:avLst>
              <a:gd name="adj" fmla="val 3137"/>
            </a:avLst>
          </a:prstGeom>
          <a:solidFill>
            <a:srgbClr val="1A1D1B"/>
          </a:solidFill>
          <a:ln w="9525">
            <a:solidFill>
              <a:srgbClr val="8C7440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034928-860E-417A-B8C0-BB57F7F22B1E}"/>
              </a:ext>
            </a:extLst>
          </p:cNvPr>
          <p:cNvSpPr>
            <a:spLocks noGrp="1"/>
          </p:cNvSpPr>
          <p:nvPr/>
        </p:nvSpPr>
        <p:spPr>
          <a:xfrm>
            <a:off x="4648200" y="2428875"/>
            <a:ext cx="3429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487"/>
          </a:bodyPr>
          <a:lstStyle/>
          <a:p>
            <a:pPr>
              <a:defRPr sz="97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491C71-2420-4A43-9524-06F7429E8FE8}"/>
              </a:ext>
            </a:extLst>
          </p:cNvPr>
          <p:cNvSpPr>
            <a:spLocks noGrp="1"/>
          </p:cNvSpPr>
          <p:nvPr/>
        </p:nvSpPr>
        <p:spPr>
          <a:xfrm>
            <a:off x="4648200" y="2809875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7407"/>
          </a:bodyPr>
          <a:lstStyle/>
          <a:p>
            <a:pPr>
              <a:defRPr sz="135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MEDIUM INSTANCE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D76C27-6445-4A13-B63D-8F5999A88645}"/>
              </a:ext>
            </a:extLst>
          </p:cNvPr>
          <p:cNvSpPr>
            <a:spLocks noGrp="1"/>
          </p:cNvSpPr>
          <p:nvPr/>
        </p:nvSpPr>
        <p:spPr>
          <a:xfrm>
            <a:off x="4648200" y="32194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4583"/>
          </a:bodyPr>
          <a:lstStyle/>
          <a:p>
            <a:pPr>
              <a:defRPr sz="1200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10 riders / 20 orders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1933A22-518E-49C1-B3F7-2679E69C7C73}"/>
              </a:ext>
            </a:extLst>
          </p:cNvPr>
          <p:cNvSpPr>
            <a:spLocks noGrp="1"/>
          </p:cNvSpPr>
          <p:nvPr/>
        </p:nvSpPr>
        <p:spPr>
          <a:xfrm>
            <a:off x="4648200" y="3714750"/>
            <a:ext cx="247650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0">
                <a:solidFill>
                  <a:srgbClr val="D7D1C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D1C4"/>
                </a:solidFill>
                <a:latin typeface="Aptos"/>
                <a:ea typeface="Aptos"/>
                <a:cs typeface="Aptos"/>
              </a:rPr>
              <a:t>Matching, assignment and graph routing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BF9E9C01-D060-4BB0-9F06-D218681FB5AF}"/>
              </a:ext>
            </a:extLst>
          </p:cNvPr>
          <p:cNvSpPr>
            <a:spLocks noGrp="1"/>
          </p:cNvSpPr>
          <p:nvPr/>
        </p:nvSpPr>
        <p:spPr>
          <a:xfrm>
            <a:off x="7696200" y="3400425"/>
            <a:ext cx="266700" cy="9525"/>
          </a:xfrm>
          <a:prstGeom prst="line">
            <a:avLst/>
          </a:prstGeom>
          <a:noFill/>
          <a:ln w="19050">
            <a:solidFill>
              <a:srgbClr val="C8A968"/>
            </a:solidFill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E7AF374-AFB8-4418-BD05-A134257B512B}"/>
              </a:ext>
            </a:extLst>
          </p:cNvPr>
          <p:cNvSpPr>
            <a:spLocks noGrp="1"/>
          </p:cNvSpPr>
          <p:nvPr/>
        </p:nvSpPr>
        <p:spPr>
          <a:xfrm>
            <a:off x="7924800" y="3362325"/>
            <a:ext cx="76200" cy="76200"/>
          </a:xfrm>
          <a:prstGeom prst="ellipse">
            <a:avLst/>
          </a:prstGeom>
          <a:solidFill>
            <a:srgbClr val="C8A968"/>
          </a:solidFill>
          <a:ln w="0">
            <a:solidFill>
              <a:srgbClr val="C8A968"/>
            </a:solidFill>
          </a:ln>
        </p:spPr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234AACD-1AB8-4899-90E3-490341122482}"/>
              </a:ext>
            </a:extLst>
          </p:cNvPr>
          <p:cNvSpPr>
            <a:spLocks noGrp="1"/>
          </p:cNvSpPr>
          <p:nvPr/>
        </p:nvSpPr>
        <p:spPr>
          <a:xfrm>
            <a:off x="8077200" y="2190750"/>
            <a:ext cx="3314700" cy="2428875"/>
          </a:xfrm>
          <a:prstGeom prst="roundRect">
            <a:avLst>
              <a:gd name="adj" fmla="val 3137"/>
            </a:avLst>
          </a:prstGeom>
          <a:solidFill>
            <a:srgbClr val="1B211F"/>
          </a:solidFill>
          <a:ln w="9525">
            <a:solidFill>
              <a:srgbClr val="5AC7D8"/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83F8D6-9938-4979-9083-289827CD3EBB}"/>
              </a:ext>
            </a:extLst>
          </p:cNvPr>
          <p:cNvSpPr>
            <a:spLocks noGrp="1"/>
          </p:cNvSpPr>
          <p:nvPr/>
        </p:nvSpPr>
        <p:spPr>
          <a:xfrm>
            <a:off x="8343900" y="2428875"/>
            <a:ext cx="3429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487"/>
          </a:bodyPr>
          <a:lstStyle/>
          <a:p>
            <a:pPr>
              <a:defRPr sz="97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1C59251-7862-4184-AF9A-EDAD34556172}"/>
              </a:ext>
            </a:extLst>
          </p:cNvPr>
          <p:cNvSpPr>
            <a:spLocks noGrp="1"/>
          </p:cNvSpPr>
          <p:nvPr/>
        </p:nvSpPr>
        <p:spPr>
          <a:xfrm>
            <a:off x="8343900" y="2809875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7407"/>
          </a:bodyPr>
          <a:lstStyle/>
          <a:p>
            <a:pPr>
              <a:defRPr sz="135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LARGER INSTANCE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5BF2860-59A3-4437-8A84-772E0A18AD88}"/>
              </a:ext>
            </a:extLst>
          </p:cNvPr>
          <p:cNvSpPr>
            <a:spLocks noGrp="1"/>
          </p:cNvSpPr>
          <p:nvPr/>
        </p:nvSpPr>
        <p:spPr>
          <a:xfrm>
            <a:off x="8343900" y="32194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4583"/>
          </a:bodyPr>
          <a:lstStyle/>
          <a:p>
            <a:pPr>
              <a:defRPr sz="1200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Many riders / orders / stops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0AA8AA7-4B84-4189-83B1-1C22A93C8B22}"/>
              </a:ext>
            </a:extLst>
          </p:cNvPr>
          <p:cNvSpPr>
            <a:spLocks noGrp="1"/>
          </p:cNvSpPr>
          <p:nvPr/>
        </p:nvSpPr>
        <p:spPr>
          <a:xfrm>
            <a:off x="8343900" y="3714750"/>
            <a:ext cx="247650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0">
                <a:solidFill>
                  <a:srgbClr val="D7D1C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D1C4"/>
                </a:solidFill>
                <a:latin typeface="Aptos"/>
                <a:ea typeface="Aptos"/>
                <a:cs typeface="Aptos"/>
              </a:rPr>
              <a:t>Approximation and re-optimization</a:t>
            </a:r>
          </a:p>
        </p:txBody>
      </p:sp>
    </p:spTree>
    <p:extLst>
      <p:ext uri="{BB962C8B-B14F-4D97-AF65-F5344CB8AC3E}">
        <p14:creationId xmlns:p14="http://schemas.microsoft.com/office/powerpoint/2010/main" val="172685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F300035-6365-4776-B942-A8FB422738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C8A96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4A184F-5DA7-4CE5-9B72-B788BDE46F5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>
              <a:defRPr sz="82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45F1C7-EFA0-42CB-9A95-6ECA0CA5215F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2870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473"/>
          </a:bodyPr>
          <a:lstStyle/>
          <a:p>
            <a:pPr>
              <a:defRPr sz="232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FROM ALGORITHMS TO DELIVERY DECISIONS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AA2C10-B015-4199-BED9-C72E6A703A4F}"/>
              </a:ext>
            </a:extLst>
          </p:cNvPr>
          <p:cNvSpPr>
            <a:spLocks noGrp="1"/>
          </p:cNvSpPr>
          <p:nvPr/>
        </p:nvSpPr>
        <p:spPr>
          <a:xfrm>
            <a:off x="685800" y="1143000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667"/>
          </a:bodyPr>
          <a:lstStyle/>
          <a:p>
            <a:pPr>
              <a:defRPr sz="1050" b="0">
                <a:solidFill>
                  <a:srgbClr val="A9ADA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ADA7"/>
                </a:solidFill>
                <a:latin typeface="Aptos"/>
                <a:ea typeface="Aptos"/>
                <a:cs typeface="Aptos"/>
              </a:rPr>
              <a:t>A unified DSA pipeline connects assignment, capacity, routing and ETA for food delivery.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C415CC3B-789B-4F5F-A73D-6F99DC7DAC0F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10820400" cy="9525"/>
          </a:xfrm>
          <a:prstGeom prst="line">
            <a:avLst/>
          </a:prstGeom>
          <a:noFill/>
          <a:ln w="9525">
            <a:solidFill>
              <a:srgbClr val="8C7440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EBAC7D-1E31-4224-8110-55B32A8912B2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4095750" cy="133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40741"/>
          </a:bodyPr>
          <a:lstStyle/>
          <a:p>
            <a:pPr>
              <a:defRPr sz="675" b="0">
                <a:solidFill>
                  <a:srgbClr val="A9AD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9ADA7"/>
                </a:solidFill>
                <a:latin typeface="Aptos"/>
                <a:ea typeface="Aptos"/>
                <a:cs typeface="Aptos"/>
              </a:rPr>
              <a:t>FOOD DELIVERY ROUTE OPTIMIZATION  /  REVIEW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0F6C62-D90E-4C93-B797-944BC9F28FB0}"/>
              </a:ext>
            </a:extLst>
          </p:cNvPr>
          <p:cNvSpPr>
            <a:spLocks noGrp="1"/>
          </p:cNvSpPr>
          <p:nvPr/>
        </p:nvSpPr>
        <p:spPr>
          <a:xfrm>
            <a:off x="11068050" y="6515100"/>
            <a:ext cx="438150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48485"/>
          </a:bodyPr>
          <a:lstStyle/>
          <a:p>
            <a:pPr>
              <a:defRPr sz="82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54AE7B2-9139-4C02-84F8-3CA78A9EAB26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6858000" cy="2000250"/>
          </a:xfrm>
          <a:prstGeom prst="roundRect">
            <a:avLst>
              <a:gd name="adj" fmla="val 3810"/>
            </a:avLst>
          </a:prstGeom>
          <a:solidFill>
            <a:srgbClr val="1B211F"/>
          </a:solidFill>
          <a:ln w="9525">
            <a:solidFill>
              <a:srgbClr val="8C7440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667BF8-3A8D-439F-9672-7F6E7A5DE90F}"/>
              </a:ext>
            </a:extLst>
          </p:cNvPr>
          <p:cNvSpPr>
            <a:spLocks noGrp="1"/>
          </p:cNvSpPr>
          <p:nvPr/>
        </p:nvSpPr>
        <p:spPr>
          <a:xfrm>
            <a:off x="971550" y="2247900"/>
            <a:ext cx="1524000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48485"/>
          </a:bodyPr>
          <a:lstStyle/>
          <a:p>
            <a:pPr>
              <a:defRPr sz="82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CONTRIBUTION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35BE23-90A8-44A3-A674-1DCE5C1E25F2}"/>
              </a:ext>
            </a:extLst>
          </p:cNvPr>
          <p:cNvSpPr>
            <a:spLocks noGrp="1"/>
          </p:cNvSpPr>
          <p:nvPr/>
        </p:nvSpPr>
        <p:spPr>
          <a:xfrm>
            <a:off x="971550" y="2647950"/>
            <a:ext cx="5905500" cy="800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/>
          </a:bodyPr>
          <a:lstStyle/>
          <a:p>
            <a:pPr>
              <a:defRPr sz="180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Our project integrates graph-based routing, rider-order matching, assignment optimization, capacity handling, multi-stop routing and ETA estimation into one DSA pipeline.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3398440-0CE3-42C9-95DA-9C2E0E655388}"/>
              </a:ext>
            </a:extLst>
          </p:cNvPr>
          <p:cNvSpPr>
            <a:spLocks noGrp="1"/>
          </p:cNvSpPr>
          <p:nvPr/>
        </p:nvSpPr>
        <p:spPr>
          <a:xfrm>
            <a:off x="7905750" y="1952625"/>
            <a:ext cx="3600450" cy="2000250"/>
          </a:xfrm>
          <a:prstGeom prst="roundRect">
            <a:avLst>
              <a:gd name="adj" fmla="val 3810"/>
            </a:avLst>
          </a:prstGeom>
          <a:solidFill>
            <a:srgbClr val="1A1D1B"/>
          </a:solidFill>
          <a:ln w="9525">
            <a:solidFill>
              <a:srgbClr val="3A403C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D1E187-3CE3-4281-8445-4C404A73D549}"/>
              </a:ext>
            </a:extLst>
          </p:cNvPr>
          <p:cNvSpPr>
            <a:spLocks noGrp="1"/>
          </p:cNvSpPr>
          <p:nvPr/>
        </p:nvSpPr>
        <p:spPr>
          <a:xfrm>
            <a:off x="8191500" y="2247900"/>
            <a:ext cx="2286000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48485"/>
          </a:bodyPr>
          <a:lstStyle/>
          <a:p>
            <a:pPr>
              <a:defRPr sz="825" b="1">
                <a:solidFill>
                  <a:srgbClr val="C8A9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A968"/>
                </a:solidFill>
                <a:latin typeface="Aptos"/>
                <a:ea typeface="Aptos"/>
                <a:cs typeface="Aptos"/>
              </a:rPr>
              <a:t>FUTURE EXTENSIONS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FF898B-F884-4D50-81FF-7A154D478417}"/>
              </a:ext>
            </a:extLst>
          </p:cNvPr>
          <p:cNvSpPr>
            <a:spLocks noGrp="1"/>
          </p:cNvSpPr>
          <p:nvPr/>
        </p:nvSpPr>
        <p:spPr>
          <a:xfrm>
            <a:off x="8191500" y="2609850"/>
            <a:ext cx="2667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3846"/>
          </a:bodyPr>
          <a:lstStyle/>
          <a:p>
            <a:pPr>
              <a:defRPr sz="975" b="0">
                <a:solidFill>
                  <a:srgbClr val="D7D1C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D1C4"/>
                </a:solidFill>
                <a:latin typeface="Aptos"/>
                <a:ea typeface="Aptos"/>
                <a:cs typeface="Aptos"/>
              </a:rPr>
              <a:t>• Real-time traffic APIs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7A28AB-D916-4198-A099-A3E6FAD41B13}"/>
              </a:ext>
            </a:extLst>
          </p:cNvPr>
          <p:cNvSpPr>
            <a:spLocks noGrp="1"/>
          </p:cNvSpPr>
          <p:nvPr/>
        </p:nvSpPr>
        <p:spPr>
          <a:xfrm>
            <a:off x="8191500" y="2809875"/>
            <a:ext cx="2667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3846"/>
          </a:bodyPr>
          <a:lstStyle/>
          <a:p>
            <a:pPr>
              <a:defRPr sz="975" b="0">
                <a:solidFill>
                  <a:srgbClr val="D7D1C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D1C4"/>
                </a:solidFill>
                <a:latin typeface="Aptos"/>
                <a:ea typeface="Aptos"/>
                <a:cs typeface="Aptos"/>
              </a:rPr>
              <a:t>• Dynamic order arrival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CE01B5-7620-49F5-82F1-7059D14D980D}"/>
              </a:ext>
            </a:extLst>
          </p:cNvPr>
          <p:cNvSpPr>
            <a:spLocks noGrp="1"/>
          </p:cNvSpPr>
          <p:nvPr/>
        </p:nvSpPr>
        <p:spPr>
          <a:xfrm>
            <a:off x="8191500" y="3009900"/>
            <a:ext cx="2667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3846"/>
          </a:bodyPr>
          <a:lstStyle/>
          <a:p>
            <a:pPr>
              <a:defRPr sz="975" b="0">
                <a:solidFill>
                  <a:srgbClr val="D7D1C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D1C4"/>
                </a:solidFill>
                <a:latin typeface="Aptos"/>
                <a:ea typeface="Aptos"/>
                <a:cs typeface="Aptos"/>
              </a:rPr>
              <a:t>• Live GPS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815F4B-A0FA-483F-868F-1F1958CADFFC}"/>
              </a:ext>
            </a:extLst>
          </p:cNvPr>
          <p:cNvSpPr>
            <a:spLocks noGrp="1"/>
          </p:cNvSpPr>
          <p:nvPr/>
        </p:nvSpPr>
        <p:spPr>
          <a:xfrm>
            <a:off x="8191500" y="3209925"/>
            <a:ext cx="2667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3846"/>
          </a:bodyPr>
          <a:lstStyle/>
          <a:p>
            <a:pPr>
              <a:defRPr sz="975" b="0">
                <a:solidFill>
                  <a:srgbClr val="D7D1C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D1C4"/>
                </a:solidFill>
                <a:latin typeface="Aptos"/>
                <a:ea typeface="Aptos"/>
                <a:cs typeface="Aptos"/>
              </a:rPr>
              <a:t>• Travel-time model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4C3AD2-6D3B-45D1-8C5F-9A3F1EDF6B60}"/>
              </a:ext>
            </a:extLst>
          </p:cNvPr>
          <p:cNvSpPr>
            <a:spLocks noGrp="1"/>
          </p:cNvSpPr>
          <p:nvPr/>
        </p:nvSpPr>
        <p:spPr>
          <a:xfrm>
            <a:off x="8191500" y="3409950"/>
            <a:ext cx="2667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3846"/>
          </a:bodyPr>
          <a:lstStyle/>
          <a:p>
            <a:pPr>
              <a:defRPr sz="975" b="0">
                <a:solidFill>
                  <a:srgbClr val="D7D1C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D1C4"/>
                </a:solidFill>
                <a:latin typeface="Aptos"/>
                <a:ea typeface="Aptos"/>
                <a:cs typeface="Aptos"/>
              </a:rPr>
              <a:t>• Larger benchmarks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CB89D3-325F-4202-AECB-2A62759CB081}"/>
              </a:ext>
            </a:extLst>
          </p:cNvPr>
          <p:cNvSpPr>
            <a:spLocks noGrp="1"/>
          </p:cNvSpPr>
          <p:nvPr/>
        </p:nvSpPr>
        <p:spPr>
          <a:xfrm>
            <a:off x="8191500" y="3609975"/>
            <a:ext cx="2667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3846"/>
          </a:bodyPr>
          <a:lstStyle/>
          <a:p>
            <a:pPr>
              <a:defRPr sz="975" b="0">
                <a:solidFill>
                  <a:srgbClr val="D7D1C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D1C4"/>
                </a:solidFill>
                <a:latin typeface="Aptos"/>
                <a:ea typeface="Aptos"/>
                <a:cs typeface="Aptos"/>
              </a:rPr>
              <a:t>• Real-time re-optimization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477664A-A953-471E-9C4D-F9F41832AB48}"/>
              </a:ext>
            </a:extLst>
          </p:cNvPr>
          <p:cNvSpPr>
            <a:spLocks noGrp="1"/>
          </p:cNvSpPr>
          <p:nvPr/>
        </p:nvSpPr>
        <p:spPr>
          <a:xfrm>
            <a:off x="685800" y="4819650"/>
            <a:ext cx="523875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598"/>
          </a:bodyPr>
          <a:lstStyle/>
          <a:p>
            <a:pPr>
              <a:defRPr sz="292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1028BBE-65AA-4C6E-AA37-DEA5DFF7FA3E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2870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750" b="0">
                <a:solidFill>
                  <a:srgbClr val="A9ADA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9ADA7"/>
                </a:solidFill>
                <a:latin typeface="Aptos"/>
                <a:ea typeface="Aptos"/>
                <a:cs typeface="Aptos"/>
              </a:rPr>
              <a:t>D Siddhartha — 2510030423   |   T Harshith — 2510030029   |   S Anirudh — 2510030418   |   Bharath — 2510030114   |   Ganesh — 2510030111</a:t>
            </a:r>
          </a:p>
        </p:txBody>
      </p:sp>
    </p:spTree>
    <p:extLst>
      <p:ext uri="{BB962C8B-B14F-4D97-AF65-F5344CB8AC3E}">
        <p14:creationId xmlns:p14="http://schemas.microsoft.com/office/powerpoint/2010/main" val="183474845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1805</Words>
  <Application>Microsoft Office PowerPoint</Application>
  <DocSecurity>0</DocSecurity>
  <PresentationFormat>Widescreen</PresentationFormat>
  <Paragraphs>397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Aptos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SIDDHARTHA DARAM</cp:lastModifiedBy>
  <cp:revision>2</cp:revision>
  <dcterms:created xsi:type="dcterms:W3CDTF">2026-09-18T03:30:48Z</dcterms:created>
  <dcterms:modified xsi:type="dcterms:W3CDTF">2026-09-18T03:39:04Z</dcterms:modified>
</cp:coreProperties>
</file>