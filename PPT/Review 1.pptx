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E2BE7A8-D839-4133-967B-4D6954E85FD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DSA PROJECT TITLE SELECTION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5C3EA-1D41-48BF-8131-FC778699E024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239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00" b="1">
                <a:solidFill>
                  <a:srgbClr val="14213D"/>
                </a:solidFill>
              </a:defRPr>
            </a:pPr>
            <a:r>
              <a:rPr sz="4200" b="1">
                <a:solidFill>
                  <a:srgbClr val="14213D"/>
                </a:solidFill>
              </a:rPr>
              <a:t>Food Delivery Route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61AD0-DBC8-4099-AA88-71F1AA832E3C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657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A DSA-based system that takes live orders, rider locations, and road distances as input, then outputs the best rider assignment, route, and ETA.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0E10C9-6FCA-41AC-B95F-84001789A3CF}"/>
              </a:ext>
            </a:extLst>
          </p:cNvPr>
          <p:cNvSpPr>
            <a:spLocks noGrp="1"/>
          </p:cNvSpPr>
          <p:nvPr/>
        </p:nvSpPr>
        <p:spPr>
          <a:xfrm>
            <a:off x="723900" y="4419600"/>
            <a:ext cx="20002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4721B-475E-40BD-96F9-54191749E42A}"/>
              </a:ext>
            </a:extLst>
          </p:cNvPr>
          <p:cNvSpPr>
            <a:spLocks noGrp="1"/>
          </p:cNvSpPr>
          <p:nvPr/>
        </p:nvSpPr>
        <p:spPr>
          <a:xfrm>
            <a:off x="933450" y="45720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Industry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345D4-F02F-4EBB-8951-C79DEA0B3F3C}"/>
              </a:ext>
            </a:extLst>
          </p:cNvPr>
          <p:cNvSpPr>
            <a:spLocks noGrp="1"/>
          </p:cNvSpPr>
          <p:nvPr/>
        </p:nvSpPr>
        <p:spPr>
          <a:xfrm>
            <a:off x="933450" y="48196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Swiggy, Zomato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9B4063-028F-48E4-B489-DA33DE441539}"/>
              </a:ext>
            </a:extLst>
          </p:cNvPr>
          <p:cNvSpPr>
            <a:spLocks noGrp="1"/>
          </p:cNvSpPr>
          <p:nvPr/>
        </p:nvSpPr>
        <p:spPr>
          <a:xfrm>
            <a:off x="3009900" y="4419600"/>
            <a:ext cx="25717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BDA88-31EB-44EE-8C31-BD76604D9E55}"/>
              </a:ext>
            </a:extLst>
          </p:cNvPr>
          <p:cNvSpPr>
            <a:spLocks noGrp="1"/>
          </p:cNvSpPr>
          <p:nvPr/>
        </p:nvSpPr>
        <p:spPr>
          <a:xfrm>
            <a:off x="3219450" y="45720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Project goal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DECB52-3E2F-45AA-A2CB-78C7DB821239}"/>
              </a:ext>
            </a:extLst>
          </p:cNvPr>
          <p:cNvSpPr>
            <a:spLocks noGrp="1"/>
          </p:cNvSpPr>
          <p:nvPr/>
        </p:nvSpPr>
        <p:spPr>
          <a:xfrm>
            <a:off x="3219450" y="48196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Fastest feasible delivery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447912-E722-48E3-B12B-1A238C7FEC02}"/>
              </a:ext>
            </a:extLst>
          </p:cNvPr>
          <p:cNvSpPr>
            <a:spLocks noGrp="1"/>
          </p:cNvSpPr>
          <p:nvPr/>
        </p:nvSpPr>
        <p:spPr>
          <a:xfrm>
            <a:off x="8715375" y="819150"/>
            <a:ext cx="2000250" cy="20002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B63B88-05FC-4663-93DE-B46A1C86C1B7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1143000" cy="114300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35F034-BF9B-434B-934C-AC0CFE768149}"/>
              </a:ext>
            </a:extLst>
          </p:cNvPr>
          <p:cNvSpPr>
            <a:spLocks noGrp="1"/>
          </p:cNvSpPr>
          <p:nvPr/>
        </p:nvSpPr>
        <p:spPr>
          <a:xfrm>
            <a:off x="9696450" y="3810000"/>
            <a:ext cx="1143000" cy="11430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93E16C-AD82-41E4-BFBC-0876B467EA5D}"/>
              </a:ext>
            </a:extLst>
          </p:cNvPr>
          <p:cNvSpPr>
            <a:spLocks noGrp="1"/>
          </p:cNvSpPr>
          <p:nvPr/>
        </p:nvSpPr>
        <p:spPr>
          <a:xfrm>
            <a:off x="8810625" y="5295900"/>
            <a:ext cx="857250" cy="857250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ETA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CAF5472-1C51-45F1-9F52-5981C62763A1}"/>
              </a:ext>
            </a:extLst>
          </p:cNvPr>
          <p:cNvSpPr>
            <a:spLocks noGrp="1"/>
          </p:cNvSpPr>
          <p:nvPr/>
        </p:nvSpPr>
        <p:spPr>
          <a:xfrm>
            <a:off x="8334375" y="2362200"/>
            <a:ext cx="1095375" cy="144780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3A1B20-A76A-4485-9386-C5C9EC22C3F8}"/>
              </a:ext>
            </a:extLst>
          </p:cNvPr>
          <p:cNvSpPr>
            <a:spLocks noGrp="1"/>
          </p:cNvSpPr>
          <p:nvPr/>
        </p:nvSpPr>
        <p:spPr>
          <a:xfrm>
            <a:off x="9620250" y="2781300"/>
            <a:ext cx="514350" cy="112395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328FD3A-ADAB-4DD9-B60F-0A9DB1DA1BB8}"/>
              </a:ext>
            </a:extLst>
          </p:cNvPr>
          <p:cNvSpPr>
            <a:spLocks noGrp="1"/>
          </p:cNvSpPr>
          <p:nvPr/>
        </p:nvSpPr>
        <p:spPr>
          <a:xfrm>
            <a:off x="7953375" y="4438650"/>
            <a:ext cx="885825" cy="1038225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77C3D-F385-43AC-AD49-B6210D50705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B8794"/>
                </a:solidFill>
              </a:defRPr>
            </a:pPr>
            <a:r>
              <a:rPr sz="900">
                <a:solidFill>
                  <a:srgbClr val="7B8794"/>
                </a:solidFill>
              </a:rPr>
              <a:t>Food Delivery Route Optimization | 1</a:t>
            </a:r>
          </a:p>
        </p:txBody>
      </p:sp>
    </p:spTree>
    <p:extLst>
      <p:ext uri="{BB962C8B-B14F-4D97-AF65-F5344CB8AC3E}">
        <p14:creationId xmlns:p14="http://schemas.microsoft.com/office/powerpoint/2010/main" val="39740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E59475-9303-4278-9AF8-AADC32EAF7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4EAC7-7AE2-45E5-B6D5-828454C25EB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WHAT WE ARE GOING TO DO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FE9894-2234-4363-98A3-25A9E9656F9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Build a mini food delivery optimizer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3E0FE6-493E-4CB7-B8A5-1208DB292197}"/>
              </a:ext>
            </a:extLst>
          </p:cNvPr>
          <p:cNvSpPr>
            <a:spLocks noGrp="1"/>
          </p:cNvSpPr>
          <p:nvPr/>
        </p:nvSpPr>
        <p:spPr>
          <a:xfrm>
            <a:off x="704850" y="13144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The project will simulate how Swiggy or Zomato decides which rider should deliver which order.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E18D04-256D-475C-A847-0349B40BAD9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FF3E8"/>
          </a:solidFill>
          <a:ln w="9525">
            <a:solidFill>
              <a:srgbClr val="FDBA7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7E72BA-4717-4B12-A1AA-631D344F405D}"/>
              </a:ext>
            </a:extLst>
          </p:cNvPr>
          <p:cNvSpPr>
            <a:spLocks noGrp="1"/>
          </p:cNvSpPr>
          <p:nvPr/>
        </p:nvSpPr>
        <p:spPr>
          <a:xfrm>
            <a:off x="1905000" y="2362200"/>
            <a:ext cx="781050" cy="7810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34957A-249D-4CCB-A535-7351079A52C2}"/>
              </a:ext>
            </a:extLst>
          </p:cNvPr>
          <p:cNvSpPr>
            <a:spLocks noGrp="1"/>
          </p:cNvSpPr>
          <p:nvPr/>
        </p:nvSpPr>
        <p:spPr>
          <a:xfrm>
            <a:off x="1123950" y="3352800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C0071-F447-4151-8A8D-568689E09CFB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2495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Orders, restaurants, customers, available riders, rider location, and road distance/time.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5C38CB-4A48-4379-A509-3A42930F1DA3}"/>
              </a:ext>
            </a:extLst>
          </p:cNvPr>
          <p:cNvSpPr>
            <a:spLocks noGrp="1"/>
          </p:cNvSpPr>
          <p:nvPr/>
        </p:nvSpPr>
        <p:spPr>
          <a:xfrm>
            <a:off x="4533900" y="20955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EF5FF"/>
          </a:solidFill>
          <a:ln w="9525">
            <a:solidFill>
              <a:srgbClr val="93C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F3BDD-6069-4127-B607-273C50F91A2B}"/>
              </a:ext>
            </a:extLst>
          </p:cNvPr>
          <p:cNvSpPr>
            <a:spLocks noGrp="1"/>
          </p:cNvSpPr>
          <p:nvPr/>
        </p:nvSpPr>
        <p:spPr>
          <a:xfrm>
            <a:off x="5657850" y="2362200"/>
            <a:ext cx="781050" cy="7810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3DB93B-624F-4C2D-BB73-15DDFA5F1CA8}"/>
              </a:ext>
            </a:extLst>
          </p:cNvPr>
          <p:cNvSpPr>
            <a:spLocks noGrp="1"/>
          </p:cNvSpPr>
          <p:nvPr/>
        </p:nvSpPr>
        <p:spPr>
          <a:xfrm>
            <a:off x="4876800" y="3352800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Decision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3EA577-B148-41FC-BE09-6D109ADFD606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2495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Calculate assignment cost and choose the rider who can complete the order fastest.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134F5C-869B-4083-967F-25078E2FE26C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AFBF4"/>
          </a:solidFill>
          <a:ln w="9525">
            <a:solidFill>
              <a:srgbClr val="86EF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15DC3C-1E9B-42B0-A461-1DDAC3B6ADA0}"/>
              </a:ext>
            </a:extLst>
          </p:cNvPr>
          <p:cNvSpPr>
            <a:spLocks noGrp="1"/>
          </p:cNvSpPr>
          <p:nvPr/>
        </p:nvSpPr>
        <p:spPr>
          <a:xfrm>
            <a:off x="9410700" y="2362200"/>
            <a:ext cx="781050" cy="78105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2FDCF-84F4-4B55-9475-D007982ABE6F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Result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8C2498-7F18-42C1-8753-8CC26BFC3F4D}"/>
              </a:ext>
            </a:extLst>
          </p:cNvPr>
          <p:cNvSpPr>
            <a:spLocks noGrp="1"/>
          </p:cNvSpPr>
          <p:nvPr/>
        </p:nvSpPr>
        <p:spPr>
          <a:xfrm>
            <a:off x="8610600" y="3790950"/>
            <a:ext cx="2495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Show selected rider, optimized route, ETA, total distance, and rider workload.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C8846B-27A4-4AB6-88EA-F025F51E81EE}"/>
              </a:ext>
            </a:extLst>
          </p:cNvPr>
          <p:cNvSpPr>
            <a:spLocks noGrp="1"/>
          </p:cNvSpPr>
          <p:nvPr/>
        </p:nvSpPr>
        <p:spPr>
          <a:xfrm>
            <a:off x="1295400" y="5067300"/>
            <a:ext cx="9601200" cy="590550"/>
          </a:xfrm>
          <a:prstGeom prst="roundRect">
            <a:avLst>
              <a:gd name="adj" fmla="val 19355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A9517A-1F06-4780-8E50-91DBF2915EB1}"/>
              </a:ext>
            </a:extLst>
          </p:cNvPr>
          <p:cNvSpPr>
            <a:spLocks noGrp="1"/>
          </p:cNvSpPr>
          <p:nvPr/>
        </p:nvSpPr>
        <p:spPr>
          <a:xfrm>
            <a:off x="1657350" y="521970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Main objective: minimize delivery time and distance while fairly allocating riders.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FAB253-F89A-461C-8AEB-06C881F698E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B8794"/>
                </a:solidFill>
              </a:defRPr>
            </a:pPr>
            <a:r>
              <a:rPr sz="900">
                <a:solidFill>
                  <a:srgbClr val="7B8794"/>
                </a:solidFill>
              </a:rPr>
              <a:t>Food Delivery Route Optimization | 2</a:t>
            </a:r>
          </a:p>
        </p:txBody>
      </p:sp>
    </p:spTree>
    <p:extLst>
      <p:ext uri="{BB962C8B-B14F-4D97-AF65-F5344CB8AC3E}">
        <p14:creationId xmlns:p14="http://schemas.microsoft.com/office/powerpoint/2010/main" val="77101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237DBF7-FD4E-4DD6-A1A4-70F3C1AB78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B84D22-8663-448B-A625-FEC119BACE9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DATA STRUCTURES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4150D6-C7C9-434E-8625-D9916630F10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We will store delivery data in graph-friendly structures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8E65A-E5BC-4313-B4D6-7B5E5D7C93F5}"/>
              </a:ext>
            </a:extLst>
          </p:cNvPr>
          <p:cNvSpPr>
            <a:spLocks noGrp="1"/>
          </p:cNvSpPr>
          <p:nvPr/>
        </p:nvSpPr>
        <p:spPr>
          <a:xfrm>
            <a:off x="704850" y="13144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These structures make rider lookup, route search, and assignment calculation efficient.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2964DF-952E-4235-986C-7AD96082B516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514350" cy="5143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A75D9F-F5DA-4162-98FB-C12C936BCE79}"/>
              </a:ext>
            </a:extLst>
          </p:cNvPr>
          <p:cNvSpPr>
            <a:spLocks noGrp="1"/>
          </p:cNvSpPr>
          <p:nvPr/>
        </p:nvSpPr>
        <p:spPr>
          <a:xfrm>
            <a:off x="1714500" y="19526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Graph / Adjacency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91F46F-8102-497D-9E8F-FD37F3C43ADD}"/>
              </a:ext>
            </a:extLst>
          </p:cNvPr>
          <p:cNvSpPr>
            <a:spLocks noGrp="1"/>
          </p:cNvSpPr>
          <p:nvPr/>
        </p:nvSpPr>
        <p:spPr>
          <a:xfrm>
            <a:off x="1714500" y="22764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Road network for route and flow modelling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ABCBD1-78F0-4204-9833-CFF0EEAA0A5B}"/>
              </a:ext>
            </a:extLst>
          </p:cNvPr>
          <p:cNvSpPr>
            <a:spLocks noGrp="1"/>
          </p:cNvSpPr>
          <p:nvPr/>
        </p:nvSpPr>
        <p:spPr>
          <a:xfrm>
            <a:off x="6515100" y="2028825"/>
            <a:ext cx="514350" cy="5143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920BCE-89E4-4701-A631-73F76D58253F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Cost Matrix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24D1C-B3F8-4D60-AD37-07EFEF3A8142}"/>
              </a:ext>
            </a:extLst>
          </p:cNvPr>
          <p:cNvSpPr>
            <a:spLocks noGrp="1"/>
          </p:cNvSpPr>
          <p:nvPr/>
        </p:nvSpPr>
        <p:spPr>
          <a:xfrm>
            <a:off x="7239000" y="22764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Rider-order cost for assignment problem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514C5C-B698-488F-B24C-F274BB8A1740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514350" cy="51435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275EF3-4CC7-4BE9-BDB8-9AB142DE9CD7}"/>
              </a:ext>
            </a:extLst>
          </p:cNvPr>
          <p:cNvSpPr>
            <a:spLocks noGrp="1"/>
          </p:cNvSpPr>
          <p:nvPr/>
        </p:nvSpPr>
        <p:spPr>
          <a:xfrm>
            <a:off x="1714500" y="30575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C12957-2C02-4C39-9F5C-0BE651A49831}"/>
              </a:ext>
            </a:extLst>
          </p:cNvPr>
          <p:cNvSpPr>
            <a:spLocks noGrp="1"/>
          </p:cNvSpPr>
          <p:nvPr/>
        </p:nvSpPr>
        <p:spPr>
          <a:xfrm>
            <a:off x="1714500" y="33813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Process incoming orders in real time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5C6D57-2B81-4BD3-87FF-558D2B148280}"/>
              </a:ext>
            </a:extLst>
          </p:cNvPr>
          <p:cNvSpPr>
            <a:spLocks noGrp="1"/>
          </p:cNvSpPr>
          <p:nvPr/>
        </p:nvSpPr>
        <p:spPr>
          <a:xfrm>
            <a:off x="6515100" y="3133725"/>
            <a:ext cx="514350" cy="514350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BB5148-EA63-487B-A5EC-41FD3983203A}"/>
              </a:ext>
            </a:extLst>
          </p:cNvPr>
          <p:cNvSpPr>
            <a:spLocks noGrp="1"/>
          </p:cNvSpPr>
          <p:nvPr/>
        </p:nvSpPr>
        <p:spPr>
          <a:xfrm>
            <a:off x="7239000" y="30575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Hash Map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A78B2-B8E2-4285-9B99-16D3F44303D9}"/>
              </a:ext>
            </a:extLst>
          </p:cNvPr>
          <p:cNvSpPr>
            <a:spLocks noGrp="1"/>
          </p:cNvSpPr>
          <p:nvPr/>
        </p:nvSpPr>
        <p:spPr>
          <a:xfrm>
            <a:off x="7239000" y="33813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Quick rider, order, and restaurant lookup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FB17C0-0768-45AF-BD94-A9CBBE77BD63}"/>
              </a:ext>
            </a:extLst>
          </p:cNvPr>
          <p:cNvSpPr>
            <a:spLocks noGrp="1"/>
          </p:cNvSpPr>
          <p:nvPr/>
        </p:nvSpPr>
        <p:spPr>
          <a:xfrm>
            <a:off x="990600" y="4238625"/>
            <a:ext cx="514350" cy="514350"/>
          </a:xfrm>
          <a:prstGeom prst="ellipse">
            <a:avLst/>
          </a:prstGeom>
          <a:solidFill>
            <a:srgbClr val="EF4444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70AF44-7C6B-47FD-90AE-38AE020D0BE9}"/>
              </a:ext>
            </a:extLst>
          </p:cNvPr>
          <p:cNvSpPr>
            <a:spLocks noGrp="1"/>
          </p:cNvSpPr>
          <p:nvPr/>
        </p:nvSpPr>
        <p:spPr>
          <a:xfrm>
            <a:off x="1714500" y="41624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Priority Queue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A1020-E49B-4FDE-A133-63622DB7A7E1}"/>
              </a:ext>
            </a:extLst>
          </p:cNvPr>
          <p:cNvSpPr>
            <a:spLocks noGrp="1"/>
          </p:cNvSpPr>
          <p:nvPr/>
        </p:nvSpPr>
        <p:spPr>
          <a:xfrm>
            <a:off x="1714500" y="4486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Choose minimum ETA or minimum distance option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7D7564-969D-4DD5-B349-071902D9C0D1}"/>
              </a:ext>
            </a:extLst>
          </p:cNvPr>
          <p:cNvSpPr>
            <a:spLocks noGrp="1"/>
          </p:cNvSpPr>
          <p:nvPr/>
        </p:nvSpPr>
        <p:spPr>
          <a:xfrm>
            <a:off x="6515100" y="4238625"/>
            <a:ext cx="514350" cy="514350"/>
          </a:xfrm>
          <a:prstGeom prst="ellipse">
            <a:avLst/>
          </a:prstGeom>
          <a:solidFill>
            <a:srgbClr val="7C3AED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15D0C9-7263-453D-BC18-1F61F4E1F0B2}"/>
              </a:ext>
            </a:extLst>
          </p:cNvPr>
          <p:cNvSpPr>
            <a:spLocks noGrp="1"/>
          </p:cNvSpPr>
          <p:nvPr/>
        </p:nvSpPr>
        <p:spPr>
          <a:xfrm>
            <a:off x="7239000" y="41624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Array / List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E502DE-E78C-432C-93CB-F91C30ADE04D}"/>
              </a:ext>
            </a:extLst>
          </p:cNvPr>
          <p:cNvSpPr>
            <a:spLocks noGrp="1"/>
          </p:cNvSpPr>
          <p:nvPr/>
        </p:nvSpPr>
        <p:spPr>
          <a:xfrm>
            <a:off x="7239000" y="4486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Store riders, orders, routes, and results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892773-3839-4A7B-8A70-224B9D50316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B8794"/>
                </a:solidFill>
              </a:defRPr>
            </a:pPr>
            <a:r>
              <a:rPr sz="900">
                <a:solidFill>
                  <a:srgbClr val="7B8794"/>
                </a:solidFill>
              </a:rPr>
              <a:t>Food Delivery Route Optimization | 3</a:t>
            </a:r>
          </a:p>
        </p:txBody>
      </p:sp>
    </p:spTree>
    <p:extLst>
      <p:ext uri="{BB962C8B-B14F-4D97-AF65-F5344CB8AC3E}">
        <p14:creationId xmlns:p14="http://schemas.microsoft.com/office/powerpoint/2010/main" val="53627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25BCE2F-5AD6-428A-90A1-913204EE99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A93D6C-6719-4735-9B53-D506CCAAF9B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ALGORITHMS COVERED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1E86A5-1C62-453B-A515-82123D04ED6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Use the required algorithms in the delivery optimization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F1A46-147C-4681-8B97-17EC5EAE217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B5563"/>
                </a:solidFill>
              </a:defRPr>
            </a:pPr>
            <a:r>
              <a:rPr sz="1350" dirty="0">
                <a:solidFill>
                  <a:srgbClr val="4B5563"/>
                </a:solidFill>
              </a:rPr>
              <a:t>Each algorithm solves one part of the food delivery decision problem.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C1BF1F-3C35-416E-8CB9-B6F319D288C5}"/>
              </a:ext>
            </a:extLst>
          </p:cNvPr>
          <p:cNvSpPr>
            <a:spLocks noGrp="1"/>
          </p:cNvSpPr>
          <p:nvPr/>
        </p:nvSpPr>
        <p:spPr>
          <a:xfrm>
            <a:off x="1123950" y="3009900"/>
            <a:ext cx="914400" cy="91440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A27B40-8EE8-4D5F-BB4B-6588D21416EF}"/>
              </a:ext>
            </a:extLst>
          </p:cNvPr>
          <p:cNvSpPr>
            <a:spLocks noGrp="1"/>
          </p:cNvSpPr>
          <p:nvPr/>
        </p:nvSpPr>
        <p:spPr>
          <a:xfrm>
            <a:off x="3124200" y="2095500"/>
            <a:ext cx="838200" cy="83820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Rider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D7969C-9D3E-4368-AEAB-818FBC875993}"/>
              </a:ext>
            </a:extLst>
          </p:cNvPr>
          <p:cNvSpPr>
            <a:spLocks noGrp="1"/>
          </p:cNvSpPr>
          <p:nvPr/>
        </p:nvSpPr>
        <p:spPr>
          <a:xfrm>
            <a:off x="3257550" y="4267200"/>
            <a:ext cx="914400" cy="914400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Restaurant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FC6B51-ED41-4D2B-9938-C9E3FF5509A6}"/>
              </a:ext>
            </a:extLst>
          </p:cNvPr>
          <p:cNvSpPr>
            <a:spLocks noGrp="1"/>
          </p:cNvSpPr>
          <p:nvPr/>
        </p:nvSpPr>
        <p:spPr>
          <a:xfrm>
            <a:off x="5257800" y="3105150"/>
            <a:ext cx="914400" cy="9144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6E2D7D2-78D7-4D5F-A606-01B183EDF3B6}"/>
              </a:ext>
            </a:extLst>
          </p:cNvPr>
          <p:cNvSpPr>
            <a:spLocks noGrp="1"/>
          </p:cNvSpPr>
          <p:nvPr/>
        </p:nvSpPr>
        <p:spPr>
          <a:xfrm>
            <a:off x="2038350" y="2514600"/>
            <a:ext cx="1085850" cy="9525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16A0725-E5EB-4E9E-BCCB-86BCED618755}"/>
              </a:ext>
            </a:extLst>
          </p:cNvPr>
          <p:cNvSpPr>
            <a:spLocks noGrp="1"/>
          </p:cNvSpPr>
          <p:nvPr/>
        </p:nvSpPr>
        <p:spPr>
          <a:xfrm>
            <a:off x="2038350" y="3467100"/>
            <a:ext cx="1219200" cy="12573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5DD9296-C5A9-46FD-9011-3CB3EA074567}"/>
              </a:ext>
            </a:extLst>
          </p:cNvPr>
          <p:cNvSpPr>
            <a:spLocks noGrp="1"/>
          </p:cNvSpPr>
          <p:nvPr/>
        </p:nvSpPr>
        <p:spPr>
          <a:xfrm>
            <a:off x="4095750" y="2514600"/>
            <a:ext cx="1162050" cy="104775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C96C8CB-09A4-4C7F-A1FB-0F3A375748F3}"/>
              </a:ext>
            </a:extLst>
          </p:cNvPr>
          <p:cNvSpPr>
            <a:spLocks noGrp="1"/>
          </p:cNvSpPr>
          <p:nvPr/>
        </p:nvSpPr>
        <p:spPr>
          <a:xfrm>
            <a:off x="4171950" y="3562350"/>
            <a:ext cx="1085850" cy="116205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D0EEA4-DBAE-4C56-821B-28021481AB30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81000" cy="38100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AEF315-D559-4021-A3AC-E0E2D77F9DF3}"/>
              </a:ext>
            </a:extLst>
          </p:cNvPr>
          <p:cNvSpPr>
            <a:spLocks noGrp="1"/>
          </p:cNvSpPr>
          <p:nvPr/>
        </p:nvSpPr>
        <p:spPr>
          <a:xfrm>
            <a:off x="8248650" y="17335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Network 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7482E4-6FA6-463E-9121-E8AEBFE32CC2}"/>
              </a:ext>
            </a:extLst>
          </p:cNvPr>
          <p:cNvSpPr>
            <a:spLocks noGrp="1"/>
          </p:cNvSpPr>
          <p:nvPr/>
        </p:nvSpPr>
        <p:spPr>
          <a:xfrm>
            <a:off x="8248650" y="20002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Manage rider capacity and multiple order movement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7F9E62-ADD9-412C-9093-41915E80BD50}"/>
              </a:ext>
            </a:extLst>
          </p:cNvPr>
          <p:cNvSpPr>
            <a:spLocks noGrp="1"/>
          </p:cNvSpPr>
          <p:nvPr/>
        </p:nvSpPr>
        <p:spPr>
          <a:xfrm>
            <a:off x="7734300" y="2419350"/>
            <a:ext cx="381000" cy="38100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F16362-11AE-41ED-9CF0-4A35A1FD344E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Bipartite Matching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B2AE05-D1AA-483C-A7BF-A0B18C630448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Match riders on one side with orders on the other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1F76D9-AF30-4540-8AB8-214CAF91A7DB}"/>
              </a:ext>
            </a:extLst>
          </p:cNvPr>
          <p:cNvSpPr>
            <a:spLocks noGrp="1"/>
          </p:cNvSpPr>
          <p:nvPr/>
        </p:nvSpPr>
        <p:spPr>
          <a:xfrm>
            <a:off x="7734300" y="3086100"/>
            <a:ext cx="381000" cy="3810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8739ED-CB9F-42D4-8254-9F78A6FA1714}"/>
              </a:ext>
            </a:extLst>
          </p:cNvPr>
          <p:cNvSpPr>
            <a:spLocks noGrp="1"/>
          </p:cNvSpPr>
          <p:nvPr/>
        </p:nvSpPr>
        <p:spPr>
          <a:xfrm>
            <a:off x="8248650" y="30670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Assignment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FB24E7-C5ED-43B1-9EC8-5F9FD8FC4548}"/>
              </a:ext>
            </a:extLst>
          </p:cNvPr>
          <p:cNvSpPr>
            <a:spLocks noGrp="1"/>
          </p:cNvSpPr>
          <p:nvPr/>
        </p:nvSpPr>
        <p:spPr>
          <a:xfrm>
            <a:off x="8248650" y="33337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Minimize total rider-order delivery cost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6B1F664-2D54-4D9F-9CC4-CDA730EB8C08}"/>
              </a:ext>
            </a:extLst>
          </p:cNvPr>
          <p:cNvSpPr>
            <a:spLocks noGrp="1"/>
          </p:cNvSpPr>
          <p:nvPr/>
        </p:nvSpPr>
        <p:spPr>
          <a:xfrm>
            <a:off x="7734300" y="3752850"/>
            <a:ext cx="381000" cy="381000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DEA3B4-ED12-4F89-BD98-4DADAE013621}"/>
              </a:ext>
            </a:extLst>
          </p:cNvPr>
          <p:cNvSpPr>
            <a:spLocks noGrp="1"/>
          </p:cNvSpPr>
          <p:nvPr/>
        </p:nvSpPr>
        <p:spPr>
          <a:xfrm>
            <a:off x="8248650" y="37338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TSP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260D9D-99D1-4A79-A86E-EA3DC1C9ABCA}"/>
              </a:ext>
            </a:extLst>
          </p:cNvPr>
          <p:cNvSpPr>
            <a:spLocks noGrp="1"/>
          </p:cNvSpPr>
          <p:nvPr/>
        </p:nvSpPr>
        <p:spPr>
          <a:xfrm>
            <a:off x="8248650" y="400050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Find best pickup-drop sequence for multi-order trips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DB7DF4-78A1-4B5C-A729-206FB5812A18}"/>
              </a:ext>
            </a:extLst>
          </p:cNvPr>
          <p:cNvSpPr>
            <a:spLocks noGrp="1"/>
          </p:cNvSpPr>
          <p:nvPr/>
        </p:nvSpPr>
        <p:spPr>
          <a:xfrm>
            <a:off x="7734300" y="4419600"/>
            <a:ext cx="381000" cy="381000"/>
          </a:xfrm>
          <a:prstGeom prst="ellipse">
            <a:avLst/>
          </a:prstGeom>
          <a:solidFill>
            <a:srgbClr val="7C3AED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36C3D8-186A-4ACF-BAFD-DD889DEEBB4A}"/>
              </a:ext>
            </a:extLst>
          </p:cNvPr>
          <p:cNvSpPr>
            <a:spLocks noGrp="1"/>
          </p:cNvSpPr>
          <p:nvPr/>
        </p:nvSpPr>
        <p:spPr>
          <a:xfrm>
            <a:off x="8248650" y="44005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Approximation Algorithms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27304B-5EA4-40CA-80EE-0F3265D434E7}"/>
              </a:ext>
            </a:extLst>
          </p:cNvPr>
          <p:cNvSpPr>
            <a:spLocks noGrp="1"/>
          </p:cNvSpPr>
          <p:nvPr/>
        </p:nvSpPr>
        <p:spPr>
          <a:xfrm>
            <a:off x="8248650" y="46672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Get near-optimal routes faster than exact TSP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4D958C-47BF-4389-AE69-51E608B57FC5}"/>
              </a:ext>
            </a:extLst>
          </p:cNvPr>
          <p:cNvSpPr>
            <a:spLocks noGrp="1"/>
          </p:cNvSpPr>
          <p:nvPr/>
        </p:nvSpPr>
        <p:spPr>
          <a:xfrm>
            <a:off x="7734300" y="5086350"/>
            <a:ext cx="381000" cy="381000"/>
          </a:xfrm>
          <a:prstGeom prst="ellipse">
            <a:avLst/>
          </a:prstGeom>
          <a:solidFill>
            <a:srgbClr val="EF4444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9AF4D6-A485-4142-9083-E3525C16D4FC}"/>
              </a:ext>
            </a:extLst>
          </p:cNvPr>
          <p:cNvSpPr>
            <a:spLocks noGrp="1"/>
          </p:cNvSpPr>
          <p:nvPr/>
        </p:nvSpPr>
        <p:spPr>
          <a:xfrm>
            <a:off x="8248650" y="50673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Randomized Algorithms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502D7B-77CB-4D7E-9C0D-4C5F8538743C}"/>
              </a:ext>
            </a:extLst>
          </p:cNvPr>
          <p:cNvSpPr>
            <a:spLocks noGrp="1"/>
          </p:cNvSpPr>
          <p:nvPr/>
        </p:nvSpPr>
        <p:spPr>
          <a:xfrm>
            <a:off x="8248650" y="533400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Break ties and test alternate rider choices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D1CED0-8D3E-4123-ABEB-019A97FEADE6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B8794"/>
                </a:solidFill>
              </a:defRPr>
            </a:pPr>
            <a:r>
              <a:rPr sz="900">
                <a:solidFill>
                  <a:srgbClr val="7B8794"/>
                </a:solidFill>
              </a:rPr>
              <a:t>Food Delivery Route Optimization | 4</a:t>
            </a:r>
          </a:p>
        </p:txBody>
      </p:sp>
    </p:spTree>
    <p:extLst>
      <p:ext uri="{BB962C8B-B14F-4D97-AF65-F5344CB8AC3E}">
        <p14:creationId xmlns:p14="http://schemas.microsoft.com/office/powerpoint/2010/main" val="8802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ACA391F-7934-4977-8A38-3353DE9042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4320E3-B5EC-48DF-8184-3F187549B5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FEATURES AND EXPECTED OUTCOME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BD2038-2E55-43EA-9381-51861EECB34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The final project will show all six algorithms working together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31E00F-9C2E-4A1F-B6FF-03DAF15460A7}"/>
              </a:ext>
            </a:extLst>
          </p:cNvPr>
          <p:cNvSpPr>
            <a:spLocks noGrp="1"/>
          </p:cNvSpPr>
          <p:nvPr/>
        </p:nvSpPr>
        <p:spPr>
          <a:xfrm>
            <a:off x="704850" y="13144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The demo can compare normal assignment with optimized assignment.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05605D-D847-4ED5-A486-B92877FB7D4C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26695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8619C8-C605-4373-80BC-B40D421AF156}"/>
              </a:ext>
            </a:extLst>
          </p:cNvPr>
          <p:cNvSpPr>
            <a:spLocks noGrp="1"/>
          </p:cNvSpPr>
          <p:nvPr/>
        </p:nvSpPr>
        <p:spPr>
          <a:xfrm>
            <a:off x="1562100" y="2209800"/>
            <a:ext cx="723900" cy="72390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1FA54-EC00-42E8-8EC9-1BDFDD6C8A44}"/>
              </a:ext>
            </a:extLst>
          </p:cNvPr>
          <p:cNvSpPr>
            <a:spLocks noGrp="1"/>
          </p:cNvSpPr>
          <p:nvPr/>
        </p:nvSpPr>
        <p:spPr>
          <a:xfrm>
            <a:off x="1085850" y="30670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Delivery Assignment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960577-6F68-4BE5-B5FA-3E3C9D3EEAC3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Best rider for each order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232AE6-A51A-49A0-A02E-7FD136C7CD07}"/>
              </a:ext>
            </a:extLst>
          </p:cNvPr>
          <p:cNvSpPr>
            <a:spLocks noGrp="1"/>
          </p:cNvSpPr>
          <p:nvPr/>
        </p:nvSpPr>
        <p:spPr>
          <a:xfrm>
            <a:off x="3581400" y="1962150"/>
            <a:ext cx="226695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F582F6-E092-4085-939A-14E79DED39B4}"/>
              </a:ext>
            </a:extLst>
          </p:cNvPr>
          <p:cNvSpPr>
            <a:spLocks noGrp="1"/>
          </p:cNvSpPr>
          <p:nvPr/>
        </p:nvSpPr>
        <p:spPr>
          <a:xfrm>
            <a:off x="4305300" y="2209800"/>
            <a:ext cx="723900" cy="72390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EFC037-1E7A-4E75-B9DE-75C04692D64E}"/>
              </a:ext>
            </a:extLst>
          </p:cNvPr>
          <p:cNvSpPr>
            <a:spLocks noGrp="1"/>
          </p:cNvSpPr>
          <p:nvPr/>
        </p:nvSpPr>
        <p:spPr>
          <a:xfrm>
            <a:off x="3829050" y="30670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Route Optimization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4D0CF-077A-4B79-AFF6-EEAA04BDEB66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Shortest practical path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141508-DDE8-44A7-B485-2F506A0EA4CE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226695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EE91FC-F6F0-4404-9106-B42E1775C223}"/>
              </a:ext>
            </a:extLst>
          </p:cNvPr>
          <p:cNvSpPr>
            <a:spLocks noGrp="1"/>
          </p:cNvSpPr>
          <p:nvPr/>
        </p:nvSpPr>
        <p:spPr>
          <a:xfrm>
            <a:off x="7048500" y="2209800"/>
            <a:ext cx="723900" cy="7239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D995CC-36D2-43E1-8813-BE8443CDFEDC}"/>
              </a:ext>
            </a:extLst>
          </p:cNvPr>
          <p:cNvSpPr>
            <a:spLocks noGrp="1"/>
          </p:cNvSpPr>
          <p:nvPr/>
        </p:nvSpPr>
        <p:spPr>
          <a:xfrm>
            <a:off x="6572250" y="30670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ETA Prediction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DCA5F7-CB3F-474F-8652-2B967AE28142}"/>
              </a:ext>
            </a:extLst>
          </p:cNvPr>
          <p:cNvSpPr>
            <a:spLocks noGrp="1"/>
          </p:cNvSpPr>
          <p:nvPr/>
        </p:nvSpPr>
        <p:spPr>
          <a:xfrm>
            <a:off x="6553200" y="3371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Expected delivery time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652C35-C7AE-4E5A-8CE8-26149EEAAF1D}"/>
              </a:ext>
            </a:extLst>
          </p:cNvPr>
          <p:cNvSpPr>
            <a:spLocks noGrp="1"/>
          </p:cNvSpPr>
          <p:nvPr/>
        </p:nvSpPr>
        <p:spPr>
          <a:xfrm>
            <a:off x="9067800" y="1962150"/>
            <a:ext cx="226695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4F473F-38AC-4B85-B5A0-7403A368AB23}"/>
              </a:ext>
            </a:extLst>
          </p:cNvPr>
          <p:cNvSpPr>
            <a:spLocks noGrp="1"/>
          </p:cNvSpPr>
          <p:nvPr/>
        </p:nvSpPr>
        <p:spPr>
          <a:xfrm>
            <a:off x="9791700" y="2209800"/>
            <a:ext cx="723900" cy="723900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FD1F49-3BB5-400A-8686-BF77803AF9E7}"/>
              </a:ext>
            </a:extLst>
          </p:cNvPr>
          <p:cNvSpPr>
            <a:spLocks noGrp="1"/>
          </p:cNvSpPr>
          <p:nvPr/>
        </p:nvSpPr>
        <p:spPr>
          <a:xfrm>
            <a:off x="9315450" y="30670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Rider Allocation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23C9FE-76B7-459E-8680-E16CEC20CCFC}"/>
              </a:ext>
            </a:extLst>
          </p:cNvPr>
          <p:cNvSpPr>
            <a:spLocks noGrp="1"/>
          </p:cNvSpPr>
          <p:nvPr/>
        </p:nvSpPr>
        <p:spPr>
          <a:xfrm>
            <a:off x="9296400" y="3371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Balanced workload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43A0091-6BF8-4CC2-A807-725E424E2CE0}"/>
              </a:ext>
            </a:extLst>
          </p:cNvPr>
          <p:cNvSpPr>
            <a:spLocks noGrp="1"/>
          </p:cNvSpPr>
          <p:nvPr/>
        </p:nvSpPr>
        <p:spPr>
          <a:xfrm>
            <a:off x="1104900" y="4191000"/>
            <a:ext cx="2990850" cy="742950"/>
          </a:xfrm>
          <a:prstGeom prst="roundRect">
            <a:avLst>
              <a:gd name="adj" fmla="val 15385"/>
            </a:avLst>
          </a:prstGeom>
          <a:solidFill>
            <a:srgbClr val="FFF3E8"/>
          </a:solidFill>
          <a:ln w="9525">
            <a:solidFill>
              <a:srgbClr val="FDBA7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42AD67-11E4-43C0-BE62-4D469DFFCDF6}"/>
              </a:ext>
            </a:extLst>
          </p:cNvPr>
          <p:cNvSpPr>
            <a:spLocks noGrp="1"/>
          </p:cNvSpPr>
          <p:nvPr/>
        </p:nvSpPr>
        <p:spPr>
          <a:xfrm>
            <a:off x="1390650" y="4400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Reduced delivery time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B75121-00FD-4E57-BA2D-40F19D2AC82D}"/>
              </a:ext>
            </a:extLst>
          </p:cNvPr>
          <p:cNvSpPr>
            <a:spLocks noGrp="1"/>
          </p:cNvSpPr>
          <p:nvPr/>
        </p:nvSpPr>
        <p:spPr>
          <a:xfrm>
            <a:off x="4591050" y="4191000"/>
            <a:ext cx="2990850" cy="742950"/>
          </a:xfrm>
          <a:prstGeom prst="roundRect">
            <a:avLst>
              <a:gd name="adj" fmla="val 15385"/>
            </a:avLst>
          </a:prstGeom>
          <a:solidFill>
            <a:srgbClr val="EAFBF4"/>
          </a:solidFill>
          <a:ln w="9525">
            <a:solidFill>
              <a:srgbClr val="86EF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B80FE6-AE9D-4AB2-BE81-5A57821508F4}"/>
              </a:ext>
            </a:extLst>
          </p:cNvPr>
          <p:cNvSpPr>
            <a:spLocks noGrp="1"/>
          </p:cNvSpPr>
          <p:nvPr/>
        </p:nvSpPr>
        <p:spPr>
          <a:xfrm>
            <a:off x="4876800" y="4400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Lower total distance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4181E6-A013-4341-B709-4DB768EB8BE8}"/>
              </a:ext>
            </a:extLst>
          </p:cNvPr>
          <p:cNvSpPr>
            <a:spLocks noGrp="1"/>
          </p:cNvSpPr>
          <p:nvPr/>
        </p:nvSpPr>
        <p:spPr>
          <a:xfrm>
            <a:off x="8077200" y="4191000"/>
            <a:ext cx="2990850" cy="742950"/>
          </a:xfrm>
          <a:prstGeom prst="roundRect">
            <a:avLst>
              <a:gd name="adj" fmla="val 15385"/>
            </a:avLst>
          </a:prstGeom>
          <a:solidFill>
            <a:srgbClr val="EEF5FF"/>
          </a:solidFill>
          <a:ln w="9525">
            <a:solidFill>
              <a:srgbClr val="93C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315150-5CAE-40B1-8C26-1DD58E247BE6}"/>
              </a:ext>
            </a:extLst>
          </p:cNvPr>
          <p:cNvSpPr>
            <a:spLocks noGrp="1"/>
          </p:cNvSpPr>
          <p:nvPr/>
        </p:nvSpPr>
        <p:spPr>
          <a:xfrm>
            <a:off x="8362950" y="4400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Fair rider workload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7D03C1-9B1C-4703-A717-0278EE54925C}"/>
              </a:ext>
            </a:extLst>
          </p:cNvPr>
          <p:cNvSpPr>
            <a:spLocks noGrp="1"/>
          </p:cNvSpPr>
          <p:nvPr/>
        </p:nvSpPr>
        <p:spPr>
          <a:xfrm>
            <a:off x="1466850" y="5334000"/>
            <a:ext cx="9258300" cy="552450"/>
          </a:xfrm>
          <a:prstGeom prst="roundRect">
            <a:avLst>
              <a:gd name="adj" fmla="val 20690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3EBAAD-E083-4959-986F-4586D074C2FC}"/>
              </a:ext>
            </a:extLst>
          </p:cNvPr>
          <p:cNvSpPr>
            <a:spLocks noGrp="1"/>
          </p:cNvSpPr>
          <p:nvPr/>
        </p:nvSpPr>
        <p:spPr>
          <a:xfrm>
            <a:off x="1809750" y="54673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Recommended title: Food Delivery Route Optimization Using Network Flow, Matching and TSP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B383FE-3295-4B51-8EFD-AC4D1E7BD67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B8794"/>
                </a:solidFill>
              </a:defRPr>
            </a:pPr>
            <a:r>
              <a:rPr sz="900">
                <a:solidFill>
                  <a:srgbClr val="7B8794"/>
                </a:solidFill>
              </a:rPr>
              <a:t>Food Delivery Route Optimization | 5</a:t>
            </a:r>
          </a:p>
        </p:txBody>
      </p:sp>
    </p:spTree>
    <p:extLst>
      <p:ext uri="{BB962C8B-B14F-4D97-AF65-F5344CB8AC3E}">
        <p14:creationId xmlns:p14="http://schemas.microsoft.com/office/powerpoint/2010/main" val="14448295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DocSecurity>0</DocSecurity>
  <PresentationFormat>Widescreen</PresentationFormat>
  <Paragraphs>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Harshith Thummala</cp:lastModifiedBy>
  <cp:revision>1</cp:revision>
  <dcterms:created xsi:type="dcterms:W3CDTF">2026-08-05T07:42:34Z</dcterms:created>
  <dcterms:modified xsi:type="dcterms:W3CDTF">2026-08-05T15:05:00Z</dcterms:modified>
</cp:coreProperties>
</file>